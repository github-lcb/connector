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embeddedFontLst>
    <p:embeddedFont>
      <p:font typeface="Liter" panose="02000503030000020004" pitchFamily="34" charset="0"/>
      <p:regular r:id="rId23"/>
    </p:embeddedFont>
    <p:embeddedFont>
      <p:font typeface="Liter" panose="02000503030000020004" pitchFamily="34" charset="-122"/>
      <p:regular r:id="rId24"/>
    </p:embeddedFont>
    <p:embeddedFont>
      <p:font typeface="Liter" panose="02000503030000020004" pitchFamily="34" charset="-120"/>
      <p:regular r:id="rId25"/>
    </p:embeddedFont>
    <p:embeddedFont>
      <p:font typeface="Noto Sans SC" panose="020B0200000000000000" pitchFamily="34" charset="-122"/>
      <p:regular r:id="rId26"/>
    </p:embeddedFont>
    <p:embeddedFont>
      <p:font typeface="Noto Sans SC" panose="020B0200000000000000" pitchFamily="34" charset="-120"/>
      <p:regular r:id="rId27"/>
    </p:embeddedFont>
    <p:embeddedFont>
      <p:font typeface="MiSans" pitchFamily="34" charset="-122"/>
      <p:regular r:id="rId28"/>
    </p:embeddedFont>
    <p:embeddedFont>
      <p:font typeface="MiSans" pitchFamily="34" charset="-120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25c27ab0f37ac50c352607b234a0ea425b129345.jpg"/>
          <p:cNvPicPr>
            <a:picLocks noChangeAspect="1"/>
          </p:cNvPicPr>
          <p:nvPr/>
        </p:nvPicPr>
        <p:blipFill>
          <a:blip r:embed="rId1">
            <a:alphaModFix amt="4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C8082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C8082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27447" y="542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34125" y="53578"/>
                </a:moveTo>
                <a:cubicBezTo>
                  <a:pt x="224861" y="53578"/>
                  <a:pt x="215875" y="56090"/>
                  <a:pt x="208006" y="60666"/>
                </a:cubicBezTo>
                <a:cubicBezTo>
                  <a:pt x="199188" y="51736"/>
                  <a:pt x="188919" y="44258"/>
                  <a:pt x="177589" y="38621"/>
                </a:cubicBezTo>
                <a:cubicBezTo>
                  <a:pt x="193328" y="25226"/>
                  <a:pt x="213364" y="17859"/>
                  <a:pt x="234125" y="17859"/>
                </a:cubicBezTo>
                <a:cubicBezTo>
                  <a:pt x="282346" y="17859"/>
                  <a:pt x="321469" y="56927"/>
                  <a:pt x="321469" y="105203"/>
                </a:cubicBezTo>
                <a:cubicBezTo>
                  <a:pt x="321469" y="128364"/>
                  <a:pt x="312260" y="150577"/>
                  <a:pt x="295908" y="166929"/>
                </a:cubicBezTo>
                <a:lnTo>
                  <a:pt x="256226" y="206611"/>
                </a:lnTo>
                <a:cubicBezTo>
                  <a:pt x="239874" y="222963"/>
                  <a:pt x="217661" y="232172"/>
                  <a:pt x="194500" y="232172"/>
                </a:cubicBezTo>
                <a:cubicBezTo>
                  <a:pt x="146279" y="232172"/>
                  <a:pt x="107156" y="193104"/>
                  <a:pt x="107156" y="144828"/>
                </a:cubicBezTo>
                <a:cubicBezTo>
                  <a:pt x="107156" y="143991"/>
                  <a:pt x="107156" y="143154"/>
                  <a:pt x="107212" y="142317"/>
                </a:cubicBezTo>
                <a:cubicBezTo>
                  <a:pt x="107491" y="132438"/>
                  <a:pt x="115695" y="124681"/>
                  <a:pt x="125574" y="124960"/>
                </a:cubicBezTo>
                <a:cubicBezTo>
                  <a:pt x="135452" y="125239"/>
                  <a:pt x="143210" y="133443"/>
                  <a:pt x="142931" y="143321"/>
                </a:cubicBezTo>
                <a:cubicBezTo>
                  <a:pt x="142931" y="143824"/>
                  <a:pt x="142931" y="144326"/>
                  <a:pt x="142931" y="144773"/>
                </a:cubicBezTo>
                <a:cubicBezTo>
                  <a:pt x="142931" y="173292"/>
                  <a:pt x="166036" y="196397"/>
                  <a:pt x="194556" y="196397"/>
                </a:cubicBezTo>
                <a:cubicBezTo>
                  <a:pt x="208229" y="196397"/>
                  <a:pt x="221345" y="190984"/>
                  <a:pt x="231056" y="181273"/>
                </a:cubicBezTo>
                <a:lnTo>
                  <a:pt x="270737" y="141591"/>
                </a:lnTo>
                <a:cubicBezTo>
                  <a:pt x="280392" y="131936"/>
                  <a:pt x="285862" y="118765"/>
                  <a:pt x="285862" y="105091"/>
                </a:cubicBezTo>
                <a:cubicBezTo>
                  <a:pt x="285862" y="76572"/>
                  <a:pt x="262756" y="53467"/>
                  <a:pt x="234237" y="53467"/>
                </a:cubicBezTo>
                <a:close/>
                <a:moveTo>
                  <a:pt x="153591" y="96720"/>
                </a:moveTo>
                <a:cubicBezTo>
                  <a:pt x="152530" y="96273"/>
                  <a:pt x="151470" y="95659"/>
                  <a:pt x="150521" y="94990"/>
                </a:cubicBezTo>
                <a:cubicBezTo>
                  <a:pt x="143489" y="91362"/>
                  <a:pt x="135452" y="89297"/>
                  <a:pt x="127025" y="89297"/>
                </a:cubicBezTo>
                <a:cubicBezTo>
                  <a:pt x="113351" y="89297"/>
                  <a:pt x="100236" y="94710"/>
                  <a:pt x="90525" y="104422"/>
                </a:cubicBezTo>
                <a:lnTo>
                  <a:pt x="50843" y="144103"/>
                </a:lnTo>
                <a:cubicBezTo>
                  <a:pt x="41188" y="153758"/>
                  <a:pt x="35719" y="166929"/>
                  <a:pt x="35719" y="180603"/>
                </a:cubicBezTo>
                <a:cubicBezTo>
                  <a:pt x="35719" y="209122"/>
                  <a:pt x="58824" y="232228"/>
                  <a:pt x="87344" y="232228"/>
                </a:cubicBezTo>
                <a:cubicBezTo>
                  <a:pt x="96552" y="232228"/>
                  <a:pt x="105538" y="229772"/>
                  <a:pt x="113407" y="225196"/>
                </a:cubicBezTo>
                <a:cubicBezTo>
                  <a:pt x="122225" y="234125"/>
                  <a:pt x="132494" y="241604"/>
                  <a:pt x="143880" y="247241"/>
                </a:cubicBezTo>
                <a:cubicBezTo>
                  <a:pt x="128141" y="260579"/>
                  <a:pt x="108161" y="268002"/>
                  <a:pt x="87344" y="268002"/>
                </a:cubicBezTo>
                <a:cubicBezTo>
                  <a:pt x="39123" y="268002"/>
                  <a:pt x="0" y="228935"/>
                  <a:pt x="0" y="180659"/>
                </a:cubicBezTo>
                <a:cubicBezTo>
                  <a:pt x="0" y="157497"/>
                  <a:pt x="9209" y="135285"/>
                  <a:pt x="25561" y="118932"/>
                </a:cubicBezTo>
                <a:lnTo>
                  <a:pt x="65243" y="79251"/>
                </a:lnTo>
                <a:cubicBezTo>
                  <a:pt x="81595" y="62898"/>
                  <a:pt x="103808" y="53690"/>
                  <a:pt x="126969" y="53690"/>
                </a:cubicBezTo>
                <a:cubicBezTo>
                  <a:pt x="175301" y="53690"/>
                  <a:pt x="214313" y="93092"/>
                  <a:pt x="214313" y="141256"/>
                </a:cubicBezTo>
                <a:cubicBezTo>
                  <a:pt x="214313" y="141982"/>
                  <a:pt x="214313" y="142708"/>
                  <a:pt x="214313" y="143433"/>
                </a:cubicBezTo>
                <a:cubicBezTo>
                  <a:pt x="214089" y="153312"/>
                  <a:pt x="205885" y="161069"/>
                  <a:pt x="196007" y="160846"/>
                </a:cubicBezTo>
                <a:cubicBezTo>
                  <a:pt x="186128" y="160623"/>
                  <a:pt x="178371" y="152419"/>
                  <a:pt x="178594" y="142540"/>
                </a:cubicBezTo>
                <a:cubicBezTo>
                  <a:pt x="178594" y="142094"/>
                  <a:pt x="178594" y="141703"/>
                  <a:pt x="178594" y="141256"/>
                </a:cubicBezTo>
                <a:cubicBezTo>
                  <a:pt x="178594" y="122448"/>
                  <a:pt x="168548" y="105928"/>
                  <a:pt x="153591" y="96831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6" name="Text 3"/>
          <p:cNvSpPr/>
          <p:nvPr/>
        </p:nvSpPr>
        <p:spPr>
          <a:xfrm>
            <a:off x="1104900" y="533400"/>
            <a:ext cx="1514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808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CONNECTOR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76425"/>
            <a:ext cx="11772900" cy="2571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下一代企业级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A04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路由转发</a:t>
            </a:r>
            <a:r>
              <a:rPr lang="en-US" sz="54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en-US" sz="5400" b="1" dirty="0">
                <a:solidFill>
                  <a:srgbClr val="3C80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数据映射</a:t>
            </a:r>
            <a:r>
              <a:rPr lang="en-US" sz="54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平台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767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9" name="Text 6"/>
          <p:cNvSpPr/>
          <p:nvPr/>
        </p:nvSpPr>
        <p:spPr>
          <a:xfrm>
            <a:off x="381000" y="4943475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kern="0" spc="68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连接万物，智通未来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62293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/>
            </a:pathLst>
          </a:custGeom>
          <a:solidFill>
            <a:srgbClr val="E5A04C"/>
          </a:solidFill>
        </p:spPr>
      </p:sp>
      <p:sp>
        <p:nvSpPr>
          <p:cNvPr id="11" name="Text 8"/>
          <p:cNvSpPr/>
          <p:nvPr/>
        </p:nvSpPr>
        <p:spPr>
          <a:xfrm>
            <a:off x="742950" y="6210300"/>
            <a:ext cx="1019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022475" y="6229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9350" y="28709"/>
                </a:moveTo>
                <a:lnTo>
                  <a:pt x="125016" y="28709"/>
                </a:lnTo>
                <a:lnTo>
                  <a:pt x="100013" y="68267"/>
                </a:lnTo>
                <a:lnTo>
                  <a:pt x="78581" y="28709"/>
                </a:lnTo>
                <a:lnTo>
                  <a:pt x="0" y="28709"/>
                </a:lnTo>
                <a:lnTo>
                  <a:pt x="100013" y="200025"/>
                </a:lnTo>
                <a:lnTo>
                  <a:pt x="200025" y="28709"/>
                </a:lnTo>
                <a:lnTo>
                  <a:pt x="159350" y="28709"/>
                </a:lnTo>
                <a:close/>
                <a:moveTo>
                  <a:pt x="24869" y="42996"/>
                </a:moveTo>
                <a:lnTo>
                  <a:pt x="48890" y="42996"/>
                </a:lnTo>
                <a:lnTo>
                  <a:pt x="100013" y="131490"/>
                </a:lnTo>
                <a:lnTo>
                  <a:pt x="151090" y="42996"/>
                </a:lnTo>
                <a:lnTo>
                  <a:pt x="175111" y="42996"/>
                </a:lnTo>
                <a:lnTo>
                  <a:pt x="100013" y="171673"/>
                </a:lnTo>
                <a:lnTo>
                  <a:pt x="24869" y="42996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13" name="Text 10"/>
          <p:cNvSpPr/>
          <p:nvPr/>
        </p:nvSpPr>
        <p:spPr>
          <a:xfrm>
            <a:off x="2341563" y="6210300"/>
            <a:ext cx="1152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 3 / React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45012" y="6229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4A5462"/>
          </a:solidFill>
        </p:spPr>
      </p:sp>
      <p:sp>
        <p:nvSpPr>
          <p:cNvPr id="15" name="Text 12"/>
          <p:cNvSpPr/>
          <p:nvPr/>
        </p:nvSpPr>
        <p:spPr>
          <a:xfrm>
            <a:off x="4078387" y="6210300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全栈中间件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438150"/>
                </a:lnTo>
                <a:cubicBezTo>
                  <a:pt x="38100" y="448664"/>
                  <a:pt x="29564" y="457200"/>
                  <a:pt x="19050" y="457200"/>
                </a:cubicBezTo>
                <a:lnTo>
                  <a:pt x="19050" y="457200"/>
                </a:lnTo>
                <a:cubicBezTo>
                  <a:pt x="8536" y="457200"/>
                  <a:pt x="0" y="448664"/>
                  <a:pt x="0" y="4381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9620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952500"/>
            <a:ext cx="11296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5581650" cy="2362200"/>
          </a:xfrm>
          <a:custGeom>
            <a:avLst/>
            <a:gdLst/>
            <a:ahLst/>
            <a:cxnLst/>
            <a:rect l="l" t="t" r="r" b="b"/>
            <a:pathLst>
              <a:path w="5581650" h="2362200">
                <a:moveTo>
                  <a:pt x="38100" y="0"/>
                </a:moveTo>
                <a:lnTo>
                  <a:pt x="5467343" y="0"/>
                </a:lnTo>
                <a:cubicBezTo>
                  <a:pt x="5530431" y="0"/>
                  <a:pt x="5581650" y="51219"/>
                  <a:pt x="5581650" y="114307"/>
                </a:cubicBezTo>
                <a:lnTo>
                  <a:pt x="5581650" y="2247893"/>
                </a:lnTo>
                <a:cubicBezTo>
                  <a:pt x="5581650" y="2310981"/>
                  <a:pt x="5530431" y="2362200"/>
                  <a:pt x="5467343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7" name="Text 5"/>
          <p:cNvSpPr/>
          <p:nvPr/>
        </p:nvSpPr>
        <p:spPr>
          <a:xfrm>
            <a:off x="-190500" y="1524000"/>
            <a:ext cx="14097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3C8082">
                    <a:alpha val="1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77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828675" y="1905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0" name="Text 8"/>
          <p:cNvSpPr/>
          <p:nvPr/>
        </p:nvSpPr>
        <p:spPr>
          <a:xfrm>
            <a:off x="1333500" y="1752600"/>
            <a:ext cx="4533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项目简介与核心价值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2133600"/>
            <a:ext cx="4495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理解Connector在微服务架构中的战略定位，探索四大核心价值主张如何解耦系统、适配数据、保障安全、实现监控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9350" y="1524000"/>
            <a:ext cx="5581650" cy="2362200"/>
          </a:xfrm>
          <a:custGeom>
            <a:avLst/>
            <a:gdLst/>
            <a:ahLst/>
            <a:cxnLst/>
            <a:rect l="l" t="t" r="r" b="b"/>
            <a:pathLst>
              <a:path w="5581650" h="2362200">
                <a:moveTo>
                  <a:pt x="38100" y="0"/>
                </a:moveTo>
                <a:lnTo>
                  <a:pt x="5467343" y="0"/>
                </a:lnTo>
                <a:cubicBezTo>
                  <a:pt x="5530431" y="0"/>
                  <a:pt x="5581650" y="51219"/>
                  <a:pt x="5581650" y="114307"/>
                </a:cubicBezTo>
                <a:lnTo>
                  <a:pt x="5581650" y="2247893"/>
                </a:lnTo>
                <a:cubicBezTo>
                  <a:pt x="5581650" y="2310981"/>
                  <a:pt x="5530431" y="2362200"/>
                  <a:pt x="5467343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229350" y="15240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4" name="Text 12"/>
          <p:cNvSpPr/>
          <p:nvPr/>
        </p:nvSpPr>
        <p:spPr>
          <a:xfrm>
            <a:off x="5638800" y="1524000"/>
            <a:ext cx="157162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5A04C">
                    <a:alpha val="1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70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629400" y="190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17" name="Text 15"/>
          <p:cNvSpPr/>
          <p:nvPr/>
        </p:nvSpPr>
        <p:spPr>
          <a:xfrm>
            <a:off x="7162800" y="1752600"/>
            <a:ext cx="4533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62800" y="2133600"/>
            <a:ext cx="4495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深入解析前后端分离的高性能技术栈，从前端Vue 3到后端Spring Boot，完整呈现全栈技术选型与组件关系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114800"/>
            <a:ext cx="5581650" cy="2362200"/>
          </a:xfrm>
          <a:custGeom>
            <a:avLst/>
            <a:gdLst/>
            <a:ahLst/>
            <a:cxnLst/>
            <a:rect l="l" t="t" r="r" b="b"/>
            <a:pathLst>
              <a:path w="5581650" h="2362200">
                <a:moveTo>
                  <a:pt x="38100" y="0"/>
                </a:moveTo>
                <a:lnTo>
                  <a:pt x="5467343" y="0"/>
                </a:lnTo>
                <a:cubicBezTo>
                  <a:pt x="5530431" y="0"/>
                  <a:pt x="5581650" y="51219"/>
                  <a:pt x="5581650" y="114307"/>
                </a:cubicBezTo>
                <a:lnTo>
                  <a:pt x="5581650" y="2247893"/>
                </a:lnTo>
                <a:cubicBezTo>
                  <a:pt x="5581650" y="2310981"/>
                  <a:pt x="5530431" y="2362200"/>
                  <a:pt x="5467343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400050" y="41148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21" name="Text 19"/>
          <p:cNvSpPr/>
          <p:nvPr/>
        </p:nvSpPr>
        <p:spPr>
          <a:xfrm>
            <a:off x="-190500" y="4114800"/>
            <a:ext cx="158115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3C8082">
                    <a:alpha val="1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700" y="4343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771525" y="44958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4" name="Text 22"/>
          <p:cNvSpPr/>
          <p:nvPr/>
        </p:nvSpPr>
        <p:spPr>
          <a:xfrm>
            <a:off x="1333500" y="4343400"/>
            <a:ext cx="4533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33500" y="4724400"/>
            <a:ext cx="4495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全面解析四大核心能力引擎：智能路由、数据转换、全链路观测、开发者套件，展示平台的核心技术能力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29350" y="4114800"/>
            <a:ext cx="5581650" cy="2362200"/>
          </a:xfrm>
          <a:custGeom>
            <a:avLst/>
            <a:gdLst/>
            <a:ahLst/>
            <a:cxnLst/>
            <a:rect l="l" t="t" r="r" b="b"/>
            <a:pathLst>
              <a:path w="5581650" h="2362200">
                <a:moveTo>
                  <a:pt x="38100" y="0"/>
                </a:moveTo>
                <a:lnTo>
                  <a:pt x="5467343" y="0"/>
                </a:lnTo>
                <a:cubicBezTo>
                  <a:pt x="5530431" y="0"/>
                  <a:pt x="5581650" y="51219"/>
                  <a:pt x="5581650" y="114307"/>
                </a:cubicBezTo>
                <a:lnTo>
                  <a:pt x="5581650" y="2247893"/>
                </a:lnTo>
                <a:cubicBezTo>
                  <a:pt x="5581650" y="2310981"/>
                  <a:pt x="5530431" y="2362200"/>
                  <a:pt x="5467343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229350" y="41148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8" name="Text 26"/>
          <p:cNvSpPr/>
          <p:nvPr/>
        </p:nvSpPr>
        <p:spPr>
          <a:xfrm>
            <a:off x="5638800" y="4114800"/>
            <a:ext cx="158115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5A04C">
                    <a:alpha val="1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77000" y="4343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629400" y="4495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1" name="Text 29"/>
          <p:cNvSpPr/>
          <p:nvPr/>
        </p:nvSpPr>
        <p:spPr>
          <a:xfrm>
            <a:off x="7162800" y="4343400"/>
            <a:ext cx="4533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快速开始与部署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62800" y="4724400"/>
            <a:ext cx="4495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从零到一运行Connector的完整指南，涵盖环境准备、数据库初始化、前后端启动流程及常见问题解答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7dabb0b38a2c692eb25a0bc31e8852c792924b63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3C8082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09497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8082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0869" y="1323579"/>
            <a:ext cx="7048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85900" y="1533129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7" name="Text 4"/>
          <p:cNvSpPr/>
          <p:nvPr/>
        </p:nvSpPr>
        <p:spPr>
          <a:xfrm>
            <a:off x="381000" y="2314179"/>
            <a:ext cx="796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项目简介与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A04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33479"/>
            <a:ext cx="77628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理解Connector在微服务架构中的战略定位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175" y="5258198"/>
            <a:ext cx="1149350" cy="501650"/>
          </a:xfrm>
          <a:custGeom>
            <a:avLst/>
            <a:gdLst/>
            <a:ahLst/>
            <a:cxnLst/>
            <a:rect l="l" t="t" r="r" b="b"/>
            <a:pathLst>
              <a:path w="1149350" h="501650">
                <a:moveTo>
                  <a:pt x="76201" y="0"/>
                </a:moveTo>
                <a:lnTo>
                  <a:pt x="1073149" y="0"/>
                </a:lnTo>
                <a:cubicBezTo>
                  <a:pt x="1115206" y="0"/>
                  <a:pt x="1149350" y="34144"/>
                  <a:pt x="1149350" y="76201"/>
                </a:cubicBezTo>
                <a:lnTo>
                  <a:pt x="1149350" y="425449"/>
                </a:lnTo>
                <a:cubicBezTo>
                  <a:pt x="1149350" y="467506"/>
                  <a:pt x="1115206" y="501650"/>
                  <a:pt x="1073149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C8082">
              <a:alpha val="40000"/>
            </a:srgbClr>
          </a:solidFill>
          <a:ln w="8467">
            <a:solidFill>
              <a:srgbClr val="3C8082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950" y="5394722"/>
            <a:ext cx="771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智能网关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692275" y="5258198"/>
            <a:ext cx="1320800" cy="501650"/>
          </a:xfrm>
          <a:custGeom>
            <a:avLst/>
            <a:gdLst/>
            <a:ahLst/>
            <a:cxnLst/>
            <a:rect l="l" t="t" r="r" b="b"/>
            <a:pathLst>
              <a:path w="1320800" h="501650">
                <a:moveTo>
                  <a:pt x="76201" y="0"/>
                </a:moveTo>
                <a:lnTo>
                  <a:pt x="1244599" y="0"/>
                </a:lnTo>
                <a:cubicBezTo>
                  <a:pt x="1286656" y="0"/>
                  <a:pt x="1320800" y="34144"/>
                  <a:pt x="1320800" y="76201"/>
                </a:cubicBezTo>
                <a:lnTo>
                  <a:pt x="1320800" y="425449"/>
                </a:lnTo>
                <a:cubicBezTo>
                  <a:pt x="1320800" y="467506"/>
                  <a:pt x="1286656" y="501650"/>
                  <a:pt x="1244599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E5A04C">
              <a:alpha val="40000"/>
            </a:srgbClr>
          </a:solidFill>
          <a:ln w="8467">
            <a:solidFill>
              <a:srgbClr val="E5A04C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24050" y="5394722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数据适配器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171825" y="5258198"/>
            <a:ext cx="1320800" cy="501650"/>
          </a:xfrm>
          <a:custGeom>
            <a:avLst/>
            <a:gdLst/>
            <a:ahLst/>
            <a:cxnLst/>
            <a:rect l="l" t="t" r="r" b="b"/>
            <a:pathLst>
              <a:path w="1320800" h="501650">
                <a:moveTo>
                  <a:pt x="76201" y="0"/>
                </a:moveTo>
                <a:lnTo>
                  <a:pt x="1244599" y="0"/>
                </a:lnTo>
                <a:cubicBezTo>
                  <a:pt x="1286656" y="0"/>
                  <a:pt x="1320800" y="34144"/>
                  <a:pt x="1320800" y="76201"/>
                </a:cubicBezTo>
                <a:lnTo>
                  <a:pt x="1320800" y="425449"/>
                </a:lnTo>
                <a:cubicBezTo>
                  <a:pt x="1320800" y="467506"/>
                  <a:pt x="1286656" y="501650"/>
                  <a:pt x="1244599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8467">
            <a:solidFill>
              <a:srgbClr val="4A5462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03600" y="5394722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可视化配置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512" y="361512"/>
            <a:ext cx="36151" cy="361512"/>
          </a:xfrm>
          <a:custGeom>
            <a:avLst/>
            <a:gdLst/>
            <a:ahLst/>
            <a:cxnLst/>
            <a:rect l="l" t="t" r="r" b="b"/>
            <a:pathLst>
              <a:path w="36151" h="361512">
                <a:moveTo>
                  <a:pt x="18076" y="0"/>
                </a:moveTo>
                <a:lnTo>
                  <a:pt x="18076" y="0"/>
                </a:lnTo>
                <a:cubicBezTo>
                  <a:pt x="28058" y="0"/>
                  <a:pt x="36151" y="8093"/>
                  <a:pt x="36151" y="18076"/>
                </a:cubicBezTo>
                <a:lnTo>
                  <a:pt x="36151" y="343437"/>
                </a:lnTo>
                <a:cubicBezTo>
                  <a:pt x="36151" y="353420"/>
                  <a:pt x="28058" y="361512"/>
                  <a:pt x="18076" y="361512"/>
                </a:cubicBezTo>
                <a:lnTo>
                  <a:pt x="18076" y="361512"/>
                </a:lnTo>
                <a:cubicBezTo>
                  <a:pt x="8093" y="361512"/>
                  <a:pt x="0" y="353420"/>
                  <a:pt x="0" y="343437"/>
                </a:cubicBezTo>
                <a:lnTo>
                  <a:pt x="0" y="18076"/>
                </a:lnTo>
                <a:cubicBezTo>
                  <a:pt x="0" y="8093"/>
                  <a:pt x="8093" y="0"/>
                  <a:pt x="18076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" name="Text 1"/>
          <p:cNvSpPr/>
          <p:nvPr/>
        </p:nvSpPr>
        <p:spPr>
          <a:xfrm>
            <a:off x="506117" y="361512"/>
            <a:ext cx="5044946" cy="361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项目定位：智能网关与数据适配器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2268" y="795327"/>
            <a:ext cx="11369560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Project Positioning: Intelligent Gateway &amp; Data Adapter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588" y="1265293"/>
            <a:ext cx="7483303" cy="2024468"/>
          </a:xfrm>
          <a:custGeom>
            <a:avLst/>
            <a:gdLst/>
            <a:ahLst/>
            <a:cxnLst/>
            <a:rect l="l" t="t" r="r" b="b"/>
            <a:pathLst>
              <a:path w="7483303" h="2024468">
                <a:moveTo>
                  <a:pt x="36151" y="0"/>
                </a:moveTo>
                <a:lnTo>
                  <a:pt x="7374852" y="0"/>
                </a:lnTo>
                <a:cubicBezTo>
                  <a:pt x="7434748" y="0"/>
                  <a:pt x="7483303" y="48555"/>
                  <a:pt x="7483303" y="108451"/>
                </a:cubicBezTo>
                <a:lnTo>
                  <a:pt x="7483303" y="1916018"/>
                </a:lnTo>
                <a:cubicBezTo>
                  <a:pt x="7483303" y="1975913"/>
                  <a:pt x="7434748" y="2024468"/>
                  <a:pt x="7374852" y="2024468"/>
                </a:cubicBezTo>
                <a:lnTo>
                  <a:pt x="36151" y="2024468"/>
                </a:lnTo>
                <a:cubicBezTo>
                  <a:pt x="16185" y="2024468"/>
                  <a:pt x="0" y="2008283"/>
                  <a:pt x="0" y="1988317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379588" y="1265293"/>
            <a:ext cx="36151" cy="2024468"/>
          </a:xfrm>
          <a:custGeom>
            <a:avLst/>
            <a:gdLst/>
            <a:ahLst/>
            <a:cxnLst/>
            <a:rect l="l" t="t" r="r" b="b"/>
            <a:pathLst>
              <a:path w="36151" h="2024468">
                <a:moveTo>
                  <a:pt x="36151" y="0"/>
                </a:moveTo>
                <a:lnTo>
                  <a:pt x="36151" y="0"/>
                </a:lnTo>
                <a:lnTo>
                  <a:pt x="36151" y="2024468"/>
                </a:lnTo>
                <a:lnTo>
                  <a:pt x="36151" y="2024468"/>
                </a:lnTo>
                <a:cubicBezTo>
                  <a:pt x="16185" y="2024468"/>
                  <a:pt x="0" y="2008283"/>
                  <a:pt x="0" y="1988317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7" name="Shape 5"/>
          <p:cNvSpPr/>
          <p:nvPr/>
        </p:nvSpPr>
        <p:spPr>
          <a:xfrm>
            <a:off x="614571" y="1482200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108456" y="0"/>
                </a:moveTo>
                <a:lnTo>
                  <a:pt x="397661" y="0"/>
                </a:lnTo>
                <a:cubicBezTo>
                  <a:pt x="457520" y="0"/>
                  <a:pt x="506117" y="48597"/>
                  <a:pt x="506117" y="108456"/>
                </a:cubicBezTo>
                <a:lnTo>
                  <a:pt x="506117" y="397661"/>
                </a:lnTo>
                <a:cubicBezTo>
                  <a:pt x="506117" y="457520"/>
                  <a:pt x="457520" y="506117"/>
                  <a:pt x="397661" y="506117"/>
                </a:cubicBezTo>
                <a:lnTo>
                  <a:pt x="108456" y="506117"/>
                </a:lnTo>
                <a:cubicBezTo>
                  <a:pt x="48597" y="506117"/>
                  <a:pt x="0" y="457520"/>
                  <a:pt x="0" y="397661"/>
                </a:cubicBezTo>
                <a:lnTo>
                  <a:pt x="0" y="108456"/>
                </a:lnTo>
                <a:cubicBezTo>
                  <a:pt x="0" y="48597"/>
                  <a:pt x="48597" y="0"/>
                  <a:pt x="108456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45619" y="1626805"/>
            <a:ext cx="244021" cy="216907"/>
          </a:xfrm>
          <a:custGeom>
            <a:avLst/>
            <a:gdLst/>
            <a:ahLst/>
            <a:cxnLst/>
            <a:rect l="l" t="t" r="r" b="b"/>
            <a:pathLst>
              <a:path w="244021" h="216907">
                <a:moveTo>
                  <a:pt x="105064" y="37281"/>
                </a:moveTo>
                <a:lnTo>
                  <a:pt x="138956" y="37281"/>
                </a:lnTo>
                <a:lnTo>
                  <a:pt x="138956" y="57616"/>
                </a:lnTo>
                <a:lnTo>
                  <a:pt x="105064" y="57616"/>
                </a:lnTo>
                <a:lnTo>
                  <a:pt x="105064" y="37281"/>
                </a:lnTo>
                <a:close/>
                <a:moveTo>
                  <a:pt x="101675" y="13557"/>
                </a:moveTo>
                <a:cubicBezTo>
                  <a:pt x="90449" y="13557"/>
                  <a:pt x="81340" y="22665"/>
                  <a:pt x="81340" y="33892"/>
                </a:cubicBezTo>
                <a:lnTo>
                  <a:pt x="81340" y="61005"/>
                </a:lnTo>
                <a:cubicBezTo>
                  <a:pt x="81340" y="72232"/>
                  <a:pt x="90449" y="81340"/>
                  <a:pt x="101675" y="81340"/>
                </a:cubicBezTo>
                <a:lnTo>
                  <a:pt x="108454" y="81340"/>
                </a:lnTo>
                <a:lnTo>
                  <a:pt x="108454" y="94897"/>
                </a:lnTo>
                <a:lnTo>
                  <a:pt x="13557" y="94897"/>
                </a:lnTo>
                <a:cubicBezTo>
                  <a:pt x="6058" y="94897"/>
                  <a:pt x="0" y="100955"/>
                  <a:pt x="0" y="108454"/>
                </a:cubicBezTo>
                <a:cubicBezTo>
                  <a:pt x="0" y="115952"/>
                  <a:pt x="6058" y="122010"/>
                  <a:pt x="13557" y="122010"/>
                </a:cubicBezTo>
                <a:lnTo>
                  <a:pt x="54227" y="122010"/>
                </a:lnTo>
                <a:lnTo>
                  <a:pt x="54227" y="135567"/>
                </a:lnTo>
                <a:lnTo>
                  <a:pt x="47448" y="135567"/>
                </a:lnTo>
                <a:cubicBezTo>
                  <a:pt x="36222" y="135567"/>
                  <a:pt x="27113" y="144676"/>
                  <a:pt x="27113" y="155902"/>
                </a:cubicBezTo>
                <a:lnTo>
                  <a:pt x="27113" y="183016"/>
                </a:lnTo>
                <a:cubicBezTo>
                  <a:pt x="27113" y="194242"/>
                  <a:pt x="36222" y="203351"/>
                  <a:pt x="47448" y="203351"/>
                </a:cubicBezTo>
                <a:lnTo>
                  <a:pt x="88119" y="203351"/>
                </a:lnTo>
                <a:cubicBezTo>
                  <a:pt x="99345" y="203351"/>
                  <a:pt x="108454" y="194242"/>
                  <a:pt x="108454" y="183016"/>
                </a:cubicBezTo>
                <a:lnTo>
                  <a:pt x="108454" y="155902"/>
                </a:lnTo>
                <a:cubicBezTo>
                  <a:pt x="108454" y="144676"/>
                  <a:pt x="99345" y="135567"/>
                  <a:pt x="88119" y="135567"/>
                </a:cubicBezTo>
                <a:lnTo>
                  <a:pt x="81340" y="135567"/>
                </a:lnTo>
                <a:lnTo>
                  <a:pt x="81340" y="122010"/>
                </a:lnTo>
                <a:lnTo>
                  <a:pt x="162681" y="122010"/>
                </a:lnTo>
                <a:lnTo>
                  <a:pt x="162681" y="135567"/>
                </a:lnTo>
                <a:lnTo>
                  <a:pt x="155902" y="135567"/>
                </a:lnTo>
                <a:cubicBezTo>
                  <a:pt x="144676" y="135567"/>
                  <a:pt x="135567" y="144676"/>
                  <a:pt x="135567" y="155902"/>
                </a:cubicBezTo>
                <a:lnTo>
                  <a:pt x="135567" y="183016"/>
                </a:lnTo>
                <a:cubicBezTo>
                  <a:pt x="135567" y="194242"/>
                  <a:pt x="144676" y="203351"/>
                  <a:pt x="155902" y="203351"/>
                </a:cubicBezTo>
                <a:lnTo>
                  <a:pt x="196572" y="203351"/>
                </a:lnTo>
                <a:cubicBezTo>
                  <a:pt x="207799" y="203351"/>
                  <a:pt x="216907" y="194242"/>
                  <a:pt x="216907" y="183016"/>
                </a:cubicBezTo>
                <a:lnTo>
                  <a:pt x="216907" y="155902"/>
                </a:lnTo>
                <a:cubicBezTo>
                  <a:pt x="216907" y="144676"/>
                  <a:pt x="207799" y="135567"/>
                  <a:pt x="196572" y="135567"/>
                </a:cubicBezTo>
                <a:lnTo>
                  <a:pt x="189794" y="135567"/>
                </a:lnTo>
                <a:lnTo>
                  <a:pt x="189794" y="122010"/>
                </a:lnTo>
                <a:lnTo>
                  <a:pt x="230464" y="122010"/>
                </a:lnTo>
                <a:cubicBezTo>
                  <a:pt x="237963" y="122010"/>
                  <a:pt x="244021" y="115952"/>
                  <a:pt x="244021" y="108454"/>
                </a:cubicBezTo>
                <a:cubicBezTo>
                  <a:pt x="244021" y="100955"/>
                  <a:pt x="237963" y="94897"/>
                  <a:pt x="230464" y="94897"/>
                </a:cubicBezTo>
                <a:lnTo>
                  <a:pt x="135567" y="94897"/>
                </a:lnTo>
                <a:lnTo>
                  <a:pt x="135567" y="81340"/>
                </a:lnTo>
                <a:lnTo>
                  <a:pt x="142345" y="81340"/>
                </a:lnTo>
                <a:cubicBezTo>
                  <a:pt x="153572" y="81340"/>
                  <a:pt x="162681" y="72232"/>
                  <a:pt x="162681" y="61005"/>
                </a:cubicBezTo>
                <a:lnTo>
                  <a:pt x="162681" y="33892"/>
                </a:lnTo>
                <a:cubicBezTo>
                  <a:pt x="162681" y="22665"/>
                  <a:pt x="153572" y="13557"/>
                  <a:pt x="142345" y="13557"/>
                </a:cubicBezTo>
                <a:lnTo>
                  <a:pt x="101675" y="13557"/>
                </a:lnTo>
                <a:close/>
                <a:moveTo>
                  <a:pt x="189794" y="159291"/>
                </a:moveTo>
                <a:lnTo>
                  <a:pt x="193183" y="159291"/>
                </a:lnTo>
                <a:lnTo>
                  <a:pt x="193183" y="179626"/>
                </a:lnTo>
                <a:lnTo>
                  <a:pt x="159291" y="179626"/>
                </a:lnTo>
                <a:lnTo>
                  <a:pt x="159291" y="159291"/>
                </a:lnTo>
                <a:lnTo>
                  <a:pt x="189794" y="159291"/>
                </a:lnTo>
                <a:close/>
                <a:moveTo>
                  <a:pt x="81340" y="159291"/>
                </a:moveTo>
                <a:lnTo>
                  <a:pt x="84729" y="159291"/>
                </a:lnTo>
                <a:lnTo>
                  <a:pt x="84729" y="179626"/>
                </a:lnTo>
                <a:lnTo>
                  <a:pt x="50838" y="179626"/>
                </a:lnTo>
                <a:lnTo>
                  <a:pt x="50838" y="159291"/>
                </a:lnTo>
                <a:lnTo>
                  <a:pt x="81340" y="159291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9" name="Text 7"/>
          <p:cNvSpPr/>
          <p:nvPr/>
        </p:nvSpPr>
        <p:spPr>
          <a:xfrm>
            <a:off x="1265293" y="1482200"/>
            <a:ext cx="648914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在微服务架构中的角色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5293" y="1879864"/>
            <a:ext cx="6462031" cy="7953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在微服务架构和</a:t>
            </a:r>
            <a:r>
              <a:rPr lang="en-US" sz="128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遗留系统集成</a:t>
            </a:r>
            <a:r>
              <a:rPr lang="en-US" sz="128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的复杂场景下，Connector充当了</a:t>
            </a:r>
            <a:r>
              <a:rPr lang="en-US" sz="128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智能网关</a:t>
            </a:r>
            <a:r>
              <a:rPr lang="en-US" sz="128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的角色。它不仅是一个简单的请求转发器，更是一个强大的数据适配器，能够理解、转换和优化服务间的数据流动。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65293" y="2781385"/>
            <a:ext cx="795327" cy="289210"/>
          </a:xfrm>
          <a:custGeom>
            <a:avLst/>
            <a:gdLst/>
            <a:ahLst/>
            <a:cxnLst/>
            <a:rect l="l" t="t" r="r" b="b"/>
            <a:pathLst>
              <a:path w="795327" h="289210">
                <a:moveTo>
                  <a:pt x="144605" y="0"/>
                </a:moveTo>
                <a:lnTo>
                  <a:pt x="650722" y="0"/>
                </a:lnTo>
                <a:cubicBezTo>
                  <a:pt x="730532" y="0"/>
                  <a:pt x="795327" y="64795"/>
                  <a:pt x="795327" y="144605"/>
                </a:cubicBezTo>
                <a:lnTo>
                  <a:pt x="795327" y="144605"/>
                </a:lnTo>
                <a:cubicBezTo>
                  <a:pt x="795327" y="224415"/>
                  <a:pt x="730532" y="289210"/>
                  <a:pt x="650722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265293" y="2781385"/>
            <a:ext cx="867629" cy="289210"/>
          </a:xfrm>
          <a:prstGeom prst="rect">
            <a:avLst/>
          </a:prstGeom>
          <a:noFill/>
        </p:spPr>
        <p:txBody>
          <a:bodyPr wrap="square" lIns="108454" tIns="36151" rIns="108454" bIns="36151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服务解耦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32922" y="2781385"/>
            <a:ext cx="795327" cy="289210"/>
          </a:xfrm>
          <a:custGeom>
            <a:avLst/>
            <a:gdLst/>
            <a:ahLst/>
            <a:cxnLst/>
            <a:rect l="l" t="t" r="r" b="b"/>
            <a:pathLst>
              <a:path w="795327" h="289210">
                <a:moveTo>
                  <a:pt x="144605" y="0"/>
                </a:moveTo>
                <a:lnTo>
                  <a:pt x="650722" y="0"/>
                </a:lnTo>
                <a:cubicBezTo>
                  <a:pt x="730532" y="0"/>
                  <a:pt x="795327" y="64795"/>
                  <a:pt x="795327" y="144605"/>
                </a:cubicBezTo>
                <a:lnTo>
                  <a:pt x="795327" y="144605"/>
                </a:lnTo>
                <a:cubicBezTo>
                  <a:pt x="795327" y="224415"/>
                  <a:pt x="730532" y="289210"/>
                  <a:pt x="650722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2132922" y="2781385"/>
            <a:ext cx="867629" cy="289210"/>
          </a:xfrm>
          <a:prstGeom prst="rect">
            <a:avLst/>
          </a:prstGeom>
          <a:noFill/>
        </p:spPr>
        <p:txBody>
          <a:bodyPr wrap="square" lIns="108454" tIns="36151" rIns="108454" bIns="36151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协议转换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00552" y="2781385"/>
            <a:ext cx="795327" cy="289210"/>
          </a:xfrm>
          <a:custGeom>
            <a:avLst/>
            <a:gdLst/>
            <a:ahLst/>
            <a:cxnLst/>
            <a:rect l="l" t="t" r="r" b="b"/>
            <a:pathLst>
              <a:path w="795327" h="289210">
                <a:moveTo>
                  <a:pt x="144605" y="0"/>
                </a:moveTo>
                <a:lnTo>
                  <a:pt x="650722" y="0"/>
                </a:lnTo>
                <a:cubicBezTo>
                  <a:pt x="730532" y="0"/>
                  <a:pt x="795327" y="64795"/>
                  <a:pt x="795327" y="144605"/>
                </a:cubicBezTo>
                <a:lnTo>
                  <a:pt x="795327" y="144605"/>
                </a:lnTo>
                <a:cubicBezTo>
                  <a:pt x="795327" y="224415"/>
                  <a:pt x="730532" y="289210"/>
                  <a:pt x="650722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4A5462">
              <a:alpha val="5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3000552" y="2781385"/>
            <a:ext cx="867629" cy="289210"/>
          </a:xfrm>
          <a:prstGeom prst="rect">
            <a:avLst/>
          </a:prstGeom>
          <a:noFill/>
        </p:spPr>
        <p:txBody>
          <a:bodyPr wrap="square" lIns="108454" tIns="36151" rIns="108454" bIns="36151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流量管理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9588" y="3432107"/>
            <a:ext cx="7483303" cy="2024468"/>
          </a:xfrm>
          <a:custGeom>
            <a:avLst/>
            <a:gdLst/>
            <a:ahLst/>
            <a:cxnLst/>
            <a:rect l="l" t="t" r="r" b="b"/>
            <a:pathLst>
              <a:path w="7483303" h="2024468">
                <a:moveTo>
                  <a:pt x="36151" y="0"/>
                </a:moveTo>
                <a:lnTo>
                  <a:pt x="7374852" y="0"/>
                </a:lnTo>
                <a:cubicBezTo>
                  <a:pt x="7434748" y="0"/>
                  <a:pt x="7483303" y="48555"/>
                  <a:pt x="7483303" y="108451"/>
                </a:cubicBezTo>
                <a:lnTo>
                  <a:pt x="7483303" y="1916018"/>
                </a:lnTo>
                <a:cubicBezTo>
                  <a:pt x="7483303" y="1975913"/>
                  <a:pt x="7434748" y="2024468"/>
                  <a:pt x="7374852" y="2024468"/>
                </a:cubicBezTo>
                <a:lnTo>
                  <a:pt x="36151" y="2024468"/>
                </a:lnTo>
                <a:cubicBezTo>
                  <a:pt x="16185" y="2024468"/>
                  <a:pt x="0" y="2008283"/>
                  <a:pt x="0" y="1988317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379588" y="3432107"/>
            <a:ext cx="36151" cy="2024468"/>
          </a:xfrm>
          <a:custGeom>
            <a:avLst/>
            <a:gdLst/>
            <a:ahLst/>
            <a:cxnLst/>
            <a:rect l="l" t="t" r="r" b="b"/>
            <a:pathLst>
              <a:path w="36151" h="2024468">
                <a:moveTo>
                  <a:pt x="36151" y="0"/>
                </a:moveTo>
                <a:lnTo>
                  <a:pt x="36151" y="0"/>
                </a:lnTo>
                <a:lnTo>
                  <a:pt x="36151" y="2024468"/>
                </a:lnTo>
                <a:lnTo>
                  <a:pt x="36151" y="2024468"/>
                </a:lnTo>
                <a:cubicBezTo>
                  <a:pt x="16185" y="2024468"/>
                  <a:pt x="0" y="2008283"/>
                  <a:pt x="0" y="1988317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9" name="Shape 17"/>
          <p:cNvSpPr/>
          <p:nvPr/>
        </p:nvSpPr>
        <p:spPr>
          <a:xfrm>
            <a:off x="614571" y="3649014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108456" y="0"/>
                </a:moveTo>
                <a:lnTo>
                  <a:pt x="397661" y="0"/>
                </a:lnTo>
                <a:cubicBezTo>
                  <a:pt x="457520" y="0"/>
                  <a:pt x="506117" y="48597"/>
                  <a:pt x="506117" y="108456"/>
                </a:cubicBezTo>
                <a:lnTo>
                  <a:pt x="506117" y="397661"/>
                </a:lnTo>
                <a:cubicBezTo>
                  <a:pt x="506117" y="457520"/>
                  <a:pt x="457520" y="506117"/>
                  <a:pt x="397661" y="506117"/>
                </a:cubicBezTo>
                <a:lnTo>
                  <a:pt x="108456" y="506117"/>
                </a:lnTo>
                <a:cubicBezTo>
                  <a:pt x="48597" y="506117"/>
                  <a:pt x="0" y="457520"/>
                  <a:pt x="0" y="397661"/>
                </a:cubicBezTo>
                <a:lnTo>
                  <a:pt x="0" y="108456"/>
                </a:lnTo>
                <a:cubicBezTo>
                  <a:pt x="0" y="48597"/>
                  <a:pt x="48597" y="0"/>
                  <a:pt x="108456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59176" y="3793619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>
                <a:moveTo>
                  <a:pt x="171069" y="14573"/>
                </a:moveTo>
                <a:cubicBezTo>
                  <a:pt x="176152" y="12455"/>
                  <a:pt x="181956" y="13641"/>
                  <a:pt x="185854" y="17497"/>
                </a:cubicBezTo>
                <a:lnTo>
                  <a:pt x="212967" y="44610"/>
                </a:lnTo>
                <a:cubicBezTo>
                  <a:pt x="215509" y="47152"/>
                  <a:pt x="216950" y="50583"/>
                  <a:pt x="216950" y="54184"/>
                </a:cubicBezTo>
                <a:cubicBezTo>
                  <a:pt x="216950" y="57785"/>
                  <a:pt x="215509" y="61217"/>
                  <a:pt x="212967" y="63759"/>
                </a:cubicBezTo>
                <a:lnTo>
                  <a:pt x="185854" y="90872"/>
                </a:lnTo>
                <a:cubicBezTo>
                  <a:pt x="181956" y="94770"/>
                  <a:pt x="176152" y="95914"/>
                  <a:pt x="171069" y="93795"/>
                </a:cubicBezTo>
                <a:cubicBezTo>
                  <a:pt x="165985" y="91677"/>
                  <a:pt x="162681" y="86805"/>
                  <a:pt x="162681" y="81340"/>
                </a:cubicBezTo>
                <a:lnTo>
                  <a:pt x="162681" y="67784"/>
                </a:lnTo>
                <a:lnTo>
                  <a:pt x="149124" y="67784"/>
                </a:lnTo>
                <a:cubicBezTo>
                  <a:pt x="144845" y="67784"/>
                  <a:pt x="140820" y="69775"/>
                  <a:pt x="138278" y="73206"/>
                </a:cubicBezTo>
                <a:lnTo>
                  <a:pt x="124552" y="91508"/>
                </a:lnTo>
                <a:lnTo>
                  <a:pt x="107606" y="68927"/>
                </a:lnTo>
                <a:lnTo>
                  <a:pt x="116588" y="56938"/>
                </a:lnTo>
                <a:cubicBezTo>
                  <a:pt x="124256" y="46686"/>
                  <a:pt x="136330" y="40670"/>
                  <a:pt x="149124" y="40670"/>
                </a:cubicBezTo>
                <a:lnTo>
                  <a:pt x="162681" y="40670"/>
                </a:lnTo>
                <a:lnTo>
                  <a:pt x="162681" y="27113"/>
                </a:lnTo>
                <a:cubicBezTo>
                  <a:pt x="162681" y="21648"/>
                  <a:pt x="165985" y="16692"/>
                  <a:pt x="171069" y="14573"/>
                </a:cubicBezTo>
                <a:close/>
                <a:moveTo>
                  <a:pt x="65242" y="125400"/>
                </a:moveTo>
                <a:lnTo>
                  <a:pt x="82188" y="147980"/>
                </a:lnTo>
                <a:lnTo>
                  <a:pt x="73206" y="159969"/>
                </a:lnTo>
                <a:cubicBezTo>
                  <a:pt x="65538" y="170221"/>
                  <a:pt x="53464" y="176237"/>
                  <a:pt x="40670" y="176237"/>
                </a:cubicBezTo>
                <a:lnTo>
                  <a:pt x="13557" y="176237"/>
                </a:lnTo>
                <a:cubicBezTo>
                  <a:pt x="6058" y="176237"/>
                  <a:pt x="0" y="170179"/>
                  <a:pt x="0" y="162681"/>
                </a:cubicBezTo>
                <a:cubicBezTo>
                  <a:pt x="0" y="155182"/>
                  <a:pt x="6058" y="149124"/>
                  <a:pt x="13557" y="149124"/>
                </a:cubicBezTo>
                <a:lnTo>
                  <a:pt x="40670" y="149124"/>
                </a:lnTo>
                <a:cubicBezTo>
                  <a:pt x="44949" y="149124"/>
                  <a:pt x="48974" y="147133"/>
                  <a:pt x="51515" y="143701"/>
                </a:cubicBezTo>
                <a:lnTo>
                  <a:pt x="65242" y="125400"/>
                </a:lnTo>
                <a:close/>
                <a:moveTo>
                  <a:pt x="185812" y="199368"/>
                </a:moveTo>
                <a:cubicBezTo>
                  <a:pt x="181914" y="203266"/>
                  <a:pt x="176110" y="204410"/>
                  <a:pt x="171026" y="202292"/>
                </a:cubicBezTo>
                <a:cubicBezTo>
                  <a:pt x="165943" y="200173"/>
                  <a:pt x="162681" y="195259"/>
                  <a:pt x="162681" y="189794"/>
                </a:cubicBezTo>
                <a:lnTo>
                  <a:pt x="162681" y="176237"/>
                </a:lnTo>
                <a:lnTo>
                  <a:pt x="149124" y="176237"/>
                </a:lnTo>
                <a:cubicBezTo>
                  <a:pt x="136330" y="176237"/>
                  <a:pt x="124256" y="170221"/>
                  <a:pt x="116588" y="159969"/>
                </a:cubicBezTo>
                <a:lnTo>
                  <a:pt x="51515" y="73206"/>
                </a:lnTo>
                <a:cubicBezTo>
                  <a:pt x="48974" y="69775"/>
                  <a:pt x="44949" y="67784"/>
                  <a:pt x="40670" y="67784"/>
                </a:cubicBezTo>
                <a:lnTo>
                  <a:pt x="13557" y="67784"/>
                </a:lnTo>
                <a:cubicBezTo>
                  <a:pt x="6058" y="67784"/>
                  <a:pt x="0" y="61725"/>
                  <a:pt x="0" y="54227"/>
                </a:cubicBezTo>
                <a:cubicBezTo>
                  <a:pt x="0" y="46728"/>
                  <a:pt x="6058" y="40670"/>
                  <a:pt x="13557" y="40670"/>
                </a:cubicBezTo>
                <a:lnTo>
                  <a:pt x="40670" y="40670"/>
                </a:lnTo>
                <a:cubicBezTo>
                  <a:pt x="53464" y="40670"/>
                  <a:pt x="65538" y="46686"/>
                  <a:pt x="73206" y="56938"/>
                </a:cubicBezTo>
                <a:lnTo>
                  <a:pt x="138278" y="143701"/>
                </a:lnTo>
                <a:cubicBezTo>
                  <a:pt x="140820" y="147133"/>
                  <a:pt x="144845" y="149124"/>
                  <a:pt x="149124" y="149124"/>
                </a:cubicBezTo>
                <a:lnTo>
                  <a:pt x="162681" y="149124"/>
                </a:lnTo>
                <a:lnTo>
                  <a:pt x="162681" y="135567"/>
                </a:lnTo>
                <a:cubicBezTo>
                  <a:pt x="162681" y="130102"/>
                  <a:pt x="165985" y="125145"/>
                  <a:pt x="171069" y="123027"/>
                </a:cubicBezTo>
                <a:cubicBezTo>
                  <a:pt x="176152" y="120909"/>
                  <a:pt x="181956" y="122095"/>
                  <a:pt x="185854" y="125950"/>
                </a:cubicBezTo>
                <a:lnTo>
                  <a:pt x="212967" y="153064"/>
                </a:lnTo>
                <a:cubicBezTo>
                  <a:pt x="215509" y="155606"/>
                  <a:pt x="216950" y="159037"/>
                  <a:pt x="216950" y="162638"/>
                </a:cubicBezTo>
                <a:cubicBezTo>
                  <a:pt x="216950" y="166239"/>
                  <a:pt x="215509" y="169671"/>
                  <a:pt x="212967" y="172213"/>
                </a:cubicBezTo>
                <a:lnTo>
                  <a:pt x="185854" y="199326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21" name="Text 19"/>
          <p:cNvSpPr/>
          <p:nvPr/>
        </p:nvSpPr>
        <p:spPr>
          <a:xfrm>
            <a:off x="1265293" y="3649014"/>
            <a:ext cx="648914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数据适配与转换引擎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5293" y="4046678"/>
            <a:ext cx="6462031" cy="7953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28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可视化配置</a:t>
            </a:r>
            <a:r>
              <a:rPr lang="en-US" sz="128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，用户可以轻松定义请求如何从源端流向目标端，并在途中完成数据的"华丽转身"。无论是字段映射、格式转换，还是数据聚合与脱敏，Connector都提供了强大而灵活的处理能力。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65293" y="4948199"/>
            <a:ext cx="795327" cy="289210"/>
          </a:xfrm>
          <a:custGeom>
            <a:avLst/>
            <a:gdLst/>
            <a:ahLst/>
            <a:cxnLst/>
            <a:rect l="l" t="t" r="r" b="b"/>
            <a:pathLst>
              <a:path w="795327" h="289210">
                <a:moveTo>
                  <a:pt x="144605" y="0"/>
                </a:moveTo>
                <a:lnTo>
                  <a:pt x="650722" y="0"/>
                </a:lnTo>
                <a:cubicBezTo>
                  <a:pt x="730532" y="0"/>
                  <a:pt x="795327" y="64795"/>
                  <a:pt x="795327" y="144605"/>
                </a:cubicBezTo>
                <a:lnTo>
                  <a:pt x="795327" y="144605"/>
                </a:lnTo>
                <a:cubicBezTo>
                  <a:pt x="795327" y="224415"/>
                  <a:pt x="730532" y="289210"/>
                  <a:pt x="650722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1265293" y="4948199"/>
            <a:ext cx="867629" cy="289210"/>
          </a:xfrm>
          <a:prstGeom prst="rect">
            <a:avLst/>
          </a:prstGeom>
          <a:noFill/>
        </p:spPr>
        <p:txBody>
          <a:bodyPr wrap="square" lIns="108454" tIns="36151" rIns="108454" bIns="36151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字段映射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132922" y="4948199"/>
            <a:ext cx="795327" cy="289210"/>
          </a:xfrm>
          <a:custGeom>
            <a:avLst/>
            <a:gdLst/>
            <a:ahLst/>
            <a:cxnLst/>
            <a:rect l="l" t="t" r="r" b="b"/>
            <a:pathLst>
              <a:path w="795327" h="289210">
                <a:moveTo>
                  <a:pt x="144605" y="0"/>
                </a:moveTo>
                <a:lnTo>
                  <a:pt x="650722" y="0"/>
                </a:lnTo>
                <a:cubicBezTo>
                  <a:pt x="730532" y="0"/>
                  <a:pt x="795327" y="64795"/>
                  <a:pt x="795327" y="144605"/>
                </a:cubicBezTo>
                <a:lnTo>
                  <a:pt x="795327" y="144605"/>
                </a:lnTo>
                <a:cubicBezTo>
                  <a:pt x="795327" y="224415"/>
                  <a:pt x="730532" y="289210"/>
                  <a:pt x="650722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2132922" y="4948199"/>
            <a:ext cx="867629" cy="289210"/>
          </a:xfrm>
          <a:prstGeom prst="rect">
            <a:avLst/>
          </a:prstGeom>
          <a:noFill/>
        </p:spPr>
        <p:txBody>
          <a:bodyPr wrap="square" lIns="108454" tIns="36151" rIns="108454" bIns="36151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数据聚合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00552" y="4948199"/>
            <a:ext cx="795327" cy="289210"/>
          </a:xfrm>
          <a:custGeom>
            <a:avLst/>
            <a:gdLst/>
            <a:ahLst/>
            <a:cxnLst/>
            <a:rect l="l" t="t" r="r" b="b"/>
            <a:pathLst>
              <a:path w="795327" h="289210">
                <a:moveTo>
                  <a:pt x="144605" y="0"/>
                </a:moveTo>
                <a:lnTo>
                  <a:pt x="650722" y="0"/>
                </a:lnTo>
                <a:cubicBezTo>
                  <a:pt x="730532" y="0"/>
                  <a:pt x="795327" y="64795"/>
                  <a:pt x="795327" y="144605"/>
                </a:cubicBezTo>
                <a:lnTo>
                  <a:pt x="795327" y="144605"/>
                </a:lnTo>
                <a:cubicBezTo>
                  <a:pt x="795327" y="224415"/>
                  <a:pt x="730532" y="289210"/>
                  <a:pt x="650722" y="289210"/>
                </a:cubicBezTo>
                <a:lnTo>
                  <a:pt x="144605" y="289210"/>
                </a:lnTo>
                <a:cubicBezTo>
                  <a:pt x="64742" y="289210"/>
                  <a:pt x="0" y="224468"/>
                  <a:pt x="0" y="144605"/>
                </a:cubicBezTo>
                <a:lnTo>
                  <a:pt x="0" y="144605"/>
                </a:lnTo>
                <a:cubicBezTo>
                  <a:pt x="0" y="64742"/>
                  <a:pt x="64742" y="0"/>
                  <a:pt x="144605" y="0"/>
                </a:cubicBezTo>
                <a:close/>
              </a:path>
            </a:pathLst>
          </a:custGeom>
          <a:solidFill>
            <a:srgbClr val="4A5462">
              <a:alpha val="5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3000552" y="4948199"/>
            <a:ext cx="867629" cy="289210"/>
          </a:xfrm>
          <a:prstGeom prst="rect">
            <a:avLst/>
          </a:prstGeom>
          <a:noFill/>
        </p:spPr>
        <p:txBody>
          <a:bodyPr wrap="square" lIns="108454" tIns="36151" rIns="108454" bIns="36151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格式转换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4525" y="5601933"/>
            <a:ext cx="7498366" cy="1262280"/>
          </a:xfrm>
          <a:custGeom>
            <a:avLst/>
            <a:gdLst/>
            <a:ahLst/>
            <a:cxnLst/>
            <a:rect l="l" t="t" r="r" b="b"/>
            <a:pathLst>
              <a:path w="7498366" h="1262280">
                <a:moveTo>
                  <a:pt x="108455" y="0"/>
                </a:moveTo>
                <a:lnTo>
                  <a:pt x="7389911" y="0"/>
                </a:lnTo>
                <a:cubicBezTo>
                  <a:pt x="7449809" y="0"/>
                  <a:pt x="7498366" y="48557"/>
                  <a:pt x="7498366" y="108455"/>
                </a:cubicBezTo>
                <a:lnTo>
                  <a:pt x="7498366" y="1153825"/>
                </a:lnTo>
                <a:cubicBezTo>
                  <a:pt x="7498366" y="1213723"/>
                  <a:pt x="7449809" y="1262280"/>
                  <a:pt x="7389911" y="1262280"/>
                </a:cubicBezTo>
                <a:lnTo>
                  <a:pt x="108455" y="1262280"/>
                </a:lnTo>
                <a:cubicBezTo>
                  <a:pt x="48557" y="1262280"/>
                  <a:pt x="0" y="1213723"/>
                  <a:pt x="0" y="1153825"/>
                </a:cubicBezTo>
                <a:lnTo>
                  <a:pt x="0" y="108455"/>
                </a:lnTo>
                <a:cubicBezTo>
                  <a:pt x="0" y="48557"/>
                  <a:pt x="48557" y="0"/>
                  <a:pt x="10845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2185" y="5821854"/>
            <a:ext cx="158162" cy="180756"/>
          </a:xfrm>
          <a:custGeom>
            <a:avLst/>
            <a:gdLst/>
            <a:ahLst/>
            <a:cxnLst/>
            <a:rect l="l" t="t" r="r" b="b"/>
            <a:pathLst>
              <a:path w="158162" h="180756">
                <a:moveTo>
                  <a:pt x="0" y="76256"/>
                </a:moveTo>
                <a:cubicBezTo>
                  <a:pt x="0" y="52850"/>
                  <a:pt x="18958" y="33892"/>
                  <a:pt x="42365" y="33892"/>
                </a:cubicBezTo>
                <a:lnTo>
                  <a:pt x="45189" y="33892"/>
                </a:lnTo>
                <a:cubicBezTo>
                  <a:pt x="51438" y="33892"/>
                  <a:pt x="56486" y="38940"/>
                  <a:pt x="56486" y="45189"/>
                </a:cubicBezTo>
                <a:cubicBezTo>
                  <a:pt x="56486" y="51438"/>
                  <a:pt x="51438" y="56486"/>
                  <a:pt x="45189" y="56486"/>
                </a:cubicBezTo>
                <a:lnTo>
                  <a:pt x="42365" y="56486"/>
                </a:lnTo>
                <a:cubicBezTo>
                  <a:pt x="31456" y="56486"/>
                  <a:pt x="22595" y="65348"/>
                  <a:pt x="22595" y="76256"/>
                </a:cubicBezTo>
                <a:lnTo>
                  <a:pt x="22595" y="79081"/>
                </a:lnTo>
                <a:lnTo>
                  <a:pt x="45189" y="79081"/>
                </a:lnTo>
                <a:cubicBezTo>
                  <a:pt x="57651" y="79081"/>
                  <a:pt x="67784" y="89213"/>
                  <a:pt x="67784" y="101675"/>
                </a:cubicBezTo>
                <a:lnTo>
                  <a:pt x="67784" y="124270"/>
                </a:lnTo>
                <a:cubicBezTo>
                  <a:pt x="67784" y="136732"/>
                  <a:pt x="57651" y="146864"/>
                  <a:pt x="45189" y="146864"/>
                </a:cubicBezTo>
                <a:lnTo>
                  <a:pt x="22595" y="146864"/>
                </a:lnTo>
                <a:cubicBezTo>
                  <a:pt x="10132" y="146864"/>
                  <a:pt x="0" y="136732"/>
                  <a:pt x="0" y="124270"/>
                </a:cubicBezTo>
                <a:lnTo>
                  <a:pt x="0" y="76256"/>
                </a:lnTo>
                <a:close/>
                <a:moveTo>
                  <a:pt x="90378" y="76256"/>
                </a:moveTo>
                <a:cubicBezTo>
                  <a:pt x="90378" y="52850"/>
                  <a:pt x="109336" y="33892"/>
                  <a:pt x="132743" y="33892"/>
                </a:cubicBezTo>
                <a:lnTo>
                  <a:pt x="135567" y="33892"/>
                </a:lnTo>
                <a:cubicBezTo>
                  <a:pt x="141816" y="33892"/>
                  <a:pt x="146864" y="38940"/>
                  <a:pt x="146864" y="45189"/>
                </a:cubicBezTo>
                <a:cubicBezTo>
                  <a:pt x="146864" y="51438"/>
                  <a:pt x="141816" y="56486"/>
                  <a:pt x="135567" y="56486"/>
                </a:cubicBezTo>
                <a:lnTo>
                  <a:pt x="132743" y="56486"/>
                </a:lnTo>
                <a:cubicBezTo>
                  <a:pt x="121834" y="56486"/>
                  <a:pt x="112973" y="65348"/>
                  <a:pt x="112973" y="76256"/>
                </a:cubicBezTo>
                <a:lnTo>
                  <a:pt x="112973" y="79081"/>
                </a:lnTo>
                <a:lnTo>
                  <a:pt x="135567" y="79081"/>
                </a:lnTo>
                <a:cubicBezTo>
                  <a:pt x="148029" y="79081"/>
                  <a:pt x="158162" y="89213"/>
                  <a:pt x="158162" y="101675"/>
                </a:cubicBezTo>
                <a:lnTo>
                  <a:pt x="158162" y="124270"/>
                </a:lnTo>
                <a:cubicBezTo>
                  <a:pt x="158162" y="136732"/>
                  <a:pt x="148029" y="146864"/>
                  <a:pt x="135567" y="146864"/>
                </a:cubicBezTo>
                <a:lnTo>
                  <a:pt x="112973" y="146864"/>
                </a:lnTo>
                <a:cubicBezTo>
                  <a:pt x="100510" y="146864"/>
                  <a:pt x="90378" y="136732"/>
                  <a:pt x="90378" y="124270"/>
                </a:cubicBezTo>
                <a:lnTo>
                  <a:pt x="90378" y="76256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31" name="Text 29"/>
          <p:cNvSpPr/>
          <p:nvPr/>
        </p:nvSpPr>
        <p:spPr>
          <a:xfrm>
            <a:off x="882692" y="5785703"/>
            <a:ext cx="1011710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294" y="6147215"/>
            <a:ext cx="7212169" cy="533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"连接万物，智通未来。Connector致力于消除系统间的壁垒，让数据在不同架构、不同时代的技术栈之间自由流动，为企业数字化转型提供坚实的基础设施支撑。"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84882" y="1268305"/>
            <a:ext cx="3747677" cy="2030494"/>
          </a:xfrm>
          <a:custGeom>
            <a:avLst/>
            <a:gdLst/>
            <a:ahLst/>
            <a:cxnLst/>
            <a:rect l="l" t="t" r="r" b="b"/>
            <a:pathLst>
              <a:path w="3747677" h="2030494">
                <a:moveTo>
                  <a:pt x="108449" y="0"/>
                </a:moveTo>
                <a:lnTo>
                  <a:pt x="3639228" y="0"/>
                </a:lnTo>
                <a:cubicBezTo>
                  <a:pt x="3699123" y="0"/>
                  <a:pt x="3747677" y="48554"/>
                  <a:pt x="3747677" y="108449"/>
                </a:cubicBezTo>
                <a:lnTo>
                  <a:pt x="3747677" y="1922045"/>
                </a:lnTo>
                <a:cubicBezTo>
                  <a:pt x="3747677" y="1981940"/>
                  <a:pt x="3699123" y="2030494"/>
                  <a:pt x="3639228" y="2030494"/>
                </a:cubicBezTo>
                <a:lnTo>
                  <a:pt x="108449" y="2030494"/>
                </a:lnTo>
                <a:cubicBezTo>
                  <a:pt x="48554" y="2030494"/>
                  <a:pt x="0" y="1981940"/>
                  <a:pt x="0" y="1922045"/>
                </a:cubicBezTo>
                <a:lnTo>
                  <a:pt x="0" y="108449"/>
                </a:lnTo>
                <a:cubicBezTo>
                  <a:pt x="0" y="48554"/>
                  <a:pt x="48554" y="0"/>
                  <a:pt x="108449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8467">
            <a:solidFill>
              <a:srgbClr val="4A5462">
                <a:alpha val="5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1246" y="1488226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158162" y="90378"/>
                </a:moveTo>
                <a:cubicBezTo>
                  <a:pt x="158162" y="52967"/>
                  <a:pt x="127789" y="22595"/>
                  <a:pt x="90378" y="22595"/>
                </a:cubicBezTo>
                <a:cubicBezTo>
                  <a:pt x="52967" y="22595"/>
                  <a:pt x="22595" y="52967"/>
                  <a:pt x="22595" y="90378"/>
                </a:cubicBezTo>
                <a:cubicBezTo>
                  <a:pt x="22595" y="127789"/>
                  <a:pt x="52967" y="158162"/>
                  <a:pt x="90378" y="158162"/>
                </a:cubicBezTo>
                <a:cubicBezTo>
                  <a:pt x="127789" y="158162"/>
                  <a:pt x="158162" y="127789"/>
                  <a:pt x="158162" y="90378"/>
                </a:cubicBezTo>
                <a:close/>
                <a:moveTo>
                  <a:pt x="0" y="90378"/>
                </a:moveTo>
                <a:cubicBezTo>
                  <a:pt x="0" y="40497"/>
                  <a:pt x="40497" y="0"/>
                  <a:pt x="90378" y="0"/>
                </a:cubicBezTo>
                <a:cubicBezTo>
                  <a:pt x="140259" y="0"/>
                  <a:pt x="180756" y="40497"/>
                  <a:pt x="180756" y="90378"/>
                </a:cubicBezTo>
                <a:cubicBezTo>
                  <a:pt x="180756" y="140259"/>
                  <a:pt x="140259" y="180756"/>
                  <a:pt x="90378" y="180756"/>
                </a:cubicBezTo>
                <a:cubicBezTo>
                  <a:pt x="40497" y="180756"/>
                  <a:pt x="0" y="140259"/>
                  <a:pt x="0" y="90378"/>
                </a:cubicBezTo>
                <a:close/>
                <a:moveTo>
                  <a:pt x="90378" y="118621"/>
                </a:moveTo>
                <a:cubicBezTo>
                  <a:pt x="105966" y="118621"/>
                  <a:pt x="118621" y="105966"/>
                  <a:pt x="118621" y="90378"/>
                </a:cubicBezTo>
                <a:cubicBezTo>
                  <a:pt x="118621" y="74790"/>
                  <a:pt x="105966" y="62135"/>
                  <a:pt x="90378" y="62135"/>
                </a:cubicBezTo>
                <a:cubicBezTo>
                  <a:pt x="74790" y="62135"/>
                  <a:pt x="62135" y="74790"/>
                  <a:pt x="62135" y="90378"/>
                </a:cubicBezTo>
                <a:cubicBezTo>
                  <a:pt x="62135" y="105966"/>
                  <a:pt x="74790" y="118621"/>
                  <a:pt x="90378" y="118621"/>
                </a:cubicBezTo>
                <a:close/>
                <a:moveTo>
                  <a:pt x="90378" y="39540"/>
                </a:moveTo>
                <a:cubicBezTo>
                  <a:pt x="118436" y="39540"/>
                  <a:pt x="141216" y="62320"/>
                  <a:pt x="141216" y="90378"/>
                </a:cubicBezTo>
                <a:cubicBezTo>
                  <a:pt x="141216" y="118436"/>
                  <a:pt x="118436" y="141216"/>
                  <a:pt x="90378" y="141216"/>
                </a:cubicBezTo>
                <a:cubicBezTo>
                  <a:pt x="62320" y="141216"/>
                  <a:pt x="39540" y="118436"/>
                  <a:pt x="39540" y="90378"/>
                </a:cubicBezTo>
                <a:cubicBezTo>
                  <a:pt x="39540" y="62320"/>
                  <a:pt x="62320" y="39540"/>
                  <a:pt x="90378" y="39540"/>
                </a:cubicBezTo>
                <a:close/>
                <a:moveTo>
                  <a:pt x="79081" y="90378"/>
                </a:moveTo>
                <a:cubicBezTo>
                  <a:pt x="79081" y="84143"/>
                  <a:pt x="84143" y="79081"/>
                  <a:pt x="90378" y="79081"/>
                </a:cubicBezTo>
                <a:cubicBezTo>
                  <a:pt x="96613" y="79081"/>
                  <a:pt x="101675" y="84143"/>
                  <a:pt x="101675" y="90378"/>
                </a:cubicBezTo>
                <a:cubicBezTo>
                  <a:pt x="101675" y="96613"/>
                  <a:pt x="96613" y="101675"/>
                  <a:pt x="90378" y="101675"/>
                </a:cubicBezTo>
                <a:cubicBezTo>
                  <a:pt x="84143" y="101675"/>
                  <a:pt x="79081" y="96613"/>
                  <a:pt x="79081" y="90378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5" name="Text 33"/>
          <p:cNvSpPr/>
          <p:nvPr/>
        </p:nvSpPr>
        <p:spPr>
          <a:xfrm>
            <a:off x="8494596" y="1452075"/>
            <a:ext cx="3244572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68651" y="1922041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7" name="Text 35"/>
          <p:cNvSpPr/>
          <p:nvPr/>
        </p:nvSpPr>
        <p:spPr>
          <a:xfrm>
            <a:off x="8413256" y="1849738"/>
            <a:ext cx="2313678" cy="2349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微服务架构中的API网关与路由管理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68651" y="2265477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39" name="Text 37"/>
          <p:cNvSpPr/>
          <p:nvPr/>
        </p:nvSpPr>
        <p:spPr>
          <a:xfrm>
            <a:off x="8413256" y="2193175"/>
            <a:ext cx="2096771" cy="2349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遗留系统与现代应用的集成对接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8651" y="2608914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41" name="Text 39"/>
          <p:cNvSpPr/>
          <p:nvPr/>
        </p:nvSpPr>
        <p:spPr>
          <a:xfrm>
            <a:off x="8413256" y="2536612"/>
            <a:ext cx="1952166" cy="2349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多数据源聚合与实时数据处理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68651" y="2952351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43" name="Text 41"/>
          <p:cNvSpPr/>
          <p:nvPr/>
        </p:nvSpPr>
        <p:spPr>
          <a:xfrm>
            <a:off x="8413256" y="2880048"/>
            <a:ext cx="1952166" cy="2349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敏感数据脱敏与安全传输通道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84882" y="3449431"/>
            <a:ext cx="3747677" cy="3413278"/>
          </a:xfrm>
          <a:custGeom>
            <a:avLst/>
            <a:gdLst/>
            <a:ahLst/>
            <a:cxnLst/>
            <a:rect l="l" t="t" r="r" b="b"/>
            <a:pathLst>
              <a:path w="3747677" h="3413278">
                <a:moveTo>
                  <a:pt x="108440" y="0"/>
                </a:moveTo>
                <a:lnTo>
                  <a:pt x="3639237" y="0"/>
                </a:lnTo>
                <a:cubicBezTo>
                  <a:pt x="3699127" y="0"/>
                  <a:pt x="3747677" y="48550"/>
                  <a:pt x="3747677" y="108440"/>
                </a:cubicBezTo>
                <a:lnTo>
                  <a:pt x="3747677" y="3304838"/>
                </a:lnTo>
                <a:cubicBezTo>
                  <a:pt x="3747677" y="3364728"/>
                  <a:pt x="3699127" y="3413278"/>
                  <a:pt x="3639237" y="3413278"/>
                </a:cubicBezTo>
                <a:lnTo>
                  <a:pt x="108440" y="3413278"/>
                </a:lnTo>
                <a:cubicBezTo>
                  <a:pt x="48550" y="3413278"/>
                  <a:pt x="0" y="3364728"/>
                  <a:pt x="0" y="3304838"/>
                </a:cubicBezTo>
                <a:lnTo>
                  <a:pt x="0" y="108440"/>
                </a:lnTo>
                <a:cubicBezTo>
                  <a:pt x="0" y="48590"/>
                  <a:pt x="48590" y="0"/>
                  <a:pt x="10844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91246" y="3669349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22595" y="22595"/>
                </a:moveTo>
                <a:cubicBezTo>
                  <a:pt x="22595" y="16346"/>
                  <a:pt x="17546" y="11297"/>
                  <a:pt x="11297" y="11297"/>
                </a:cubicBezTo>
                <a:cubicBezTo>
                  <a:pt x="5048" y="11297"/>
                  <a:pt x="0" y="16346"/>
                  <a:pt x="0" y="22595"/>
                </a:cubicBezTo>
                <a:lnTo>
                  <a:pt x="0" y="141216"/>
                </a:lnTo>
                <a:cubicBezTo>
                  <a:pt x="0" y="156820"/>
                  <a:pt x="12639" y="169459"/>
                  <a:pt x="28243" y="169459"/>
                </a:cubicBezTo>
                <a:lnTo>
                  <a:pt x="169459" y="169459"/>
                </a:lnTo>
                <a:cubicBezTo>
                  <a:pt x="175708" y="169459"/>
                  <a:pt x="180756" y="164410"/>
                  <a:pt x="180756" y="158162"/>
                </a:cubicBezTo>
                <a:cubicBezTo>
                  <a:pt x="180756" y="151913"/>
                  <a:pt x="175708" y="146864"/>
                  <a:pt x="169459" y="146864"/>
                </a:cubicBezTo>
                <a:lnTo>
                  <a:pt x="28243" y="146864"/>
                </a:lnTo>
                <a:cubicBezTo>
                  <a:pt x="25136" y="146864"/>
                  <a:pt x="22595" y="144322"/>
                  <a:pt x="22595" y="141216"/>
                </a:cubicBezTo>
                <a:lnTo>
                  <a:pt x="22595" y="22595"/>
                </a:lnTo>
                <a:close/>
                <a:moveTo>
                  <a:pt x="166140" y="53168"/>
                </a:moveTo>
                <a:cubicBezTo>
                  <a:pt x="170553" y="48755"/>
                  <a:pt x="170553" y="41588"/>
                  <a:pt x="166140" y="37175"/>
                </a:cubicBezTo>
                <a:cubicBezTo>
                  <a:pt x="161727" y="32762"/>
                  <a:pt x="154561" y="32762"/>
                  <a:pt x="150148" y="37175"/>
                </a:cubicBezTo>
                <a:lnTo>
                  <a:pt x="112973" y="74385"/>
                </a:lnTo>
                <a:lnTo>
                  <a:pt x="92708" y="54156"/>
                </a:lnTo>
                <a:cubicBezTo>
                  <a:pt x="88295" y="49743"/>
                  <a:pt x="81128" y="49743"/>
                  <a:pt x="76715" y="54156"/>
                </a:cubicBezTo>
                <a:lnTo>
                  <a:pt x="42824" y="88048"/>
                </a:lnTo>
                <a:cubicBezTo>
                  <a:pt x="38411" y="92461"/>
                  <a:pt x="38411" y="99628"/>
                  <a:pt x="42824" y="104041"/>
                </a:cubicBezTo>
                <a:cubicBezTo>
                  <a:pt x="47237" y="108454"/>
                  <a:pt x="54403" y="108454"/>
                  <a:pt x="58816" y="104041"/>
                </a:cubicBezTo>
                <a:lnTo>
                  <a:pt x="84729" y="78128"/>
                </a:lnTo>
                <a:lnTo>
                  <a:pt x="104994" y="98392"/>
                </a:lnTo>
                <a:cubicBezTo>
                  <a:pt x="109407" y="102805"/>
                  <a:pt x="116574" y="102805"/>
                  <a:pt x="120987" y="98392"/>
                </a:cubicBezTo>
                <a:lnTo>
                  <a:pt x="166176" y="53203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46" name="Text 44"/>
          <p:cNvSpPr/>
          <p:nvPr/>
        </p:nvSpPr>
        <p:spPr>
          <a:xfrm>
            <a:off x="8494596" y="3633198"/>
            <a:ext cx="3244572" cy="253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业务价值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68651" y="4030861"/>
            <a:ext cx="3380139" cy="614571"/>
          </a:xfrm>
          <a:custGeom>
            <a:avLst/>
            <a:gdLst/>
            <a:ahLst/>
            <a:cxnLst/>
            <a:rect l="l" t="t" r="r" b="b"/>
            <a:pathLst>
              <a:path w="3380139" h="614571">
                <a:moveTo>
                  <a:pt x="72304" y="0"/>
                </a:moveTo>
                <a:lnTo>
                  <a:pt x="3307835" y="0"/>
                </a:lnTo>
                <a:cubicBezTo>
                  <a:pt x="3347768" y="0"/>
                  <a:pt x="3380139" y="32372"/>
                  <a:pt x="3380139" y="72304"/>
                </a:cubicBezTo>
                <a:lnTo>
                  <a:pt x="3380139" y="542267"/>
                </a:lnTo>
                <a:cubicBezTo>
                  <a:pt x="3380139" y="582199"/>
                  <a:pt x="3347768" y="614571"/>
                  <a:pt x="3307835" y="614571"/>
                </a:cubicBezTo>
                <a:lnTo>
                  <a:pt x="72304" y="614571"/>
                </a:lnTo>
                <a:cubicBezTo>
                  <a:pt x="32372" y="614571"/>
                  <a:pt x="0" y="582199"/>
                  <a:pt x="0" y="542267"/>
                </a:cubicBezTo>
                <a:lnTo>
                  <a:pt x="0" y="72304"/>
                </a:lnTo>
                <a:cubicBezTo>
                  <a:pt x="0" y="32398"/>
                  <a:pt x="32398" y="0"/>
                  <a:pt x="72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8377105" y="4175466"/>
            <a:ext cx="939932" cy="216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开发效率提升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98143" y="4139315"/>
            <a:ext cx="55130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0" b="1" dirty="0">
                <a:solidFill>
                  <a:srgbClr val="E5A04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60%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77105" y="4464676"/>
            <a:ext cx="3163232" cy="72302"/>
          </a:xfrm>
          <a:custGeom>
            <a:avLst/>
            <a:gdLst/>
            <a:ahLst/>
            <a:cxnLst/>
            <a:rect l="l" t="t" r="r" b="b"/>
            <a:pathLst>
              <a:path w="3163232" h="72302">
                <a:moveTo>
                  <a:pt x="36151" y="0"/>
                </a:moveTo>
                <a:lnTo>
                  <a:pt x="3127081" y="0"/>
                </a:lnTo>
                <a:cubicBezTo>
                  <a:pt x="3147047" y="0"/>
                  <a:pt x="3163232" y="16185"/>
                  <a:pt x="3163232" y="36151"/>
                </a:cubicBezTo>
                <a:lnTo>
                  <a:pt x="3163232" y="36151"/>
                </a:lnTo>
                <a:cubicBezTo>
                  <a:pt x="3163232" y="56117"/>
                  <a:pt x="3147047" y="72302"/>
                  <a:pt x="312708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4A5462">
              <a:alpha val="5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8377105" y="4464676"/>
            <a:ext cx="1897939" cy="72302"/>
          </a:xfrm>
          <a:custGeom>
            <a:avLst/>
            <a:gdLst/>
            <a:ahLst/>
            <a:cxnLst/>
            <a:rect l="l" t="t" r="r" b="b"/>
            <a:pathLst>
              <a:path w="1897939" h="72302">
                <a:moveTo>
                  <a:pt x="36151" y="0"/>
                </a:moveTo>
                <a:lnTo>
                  <a:pt x="1861788" y="0"/>
                </a:lnTo>
                <a:cubicBezTo>
                  <a:pt x="1881754" y="0"/>
                  <a:pt x="1897939" y="16185"/>
                  <a:pt x="1897939" y="36151"/>
                </a:cubicBezTo>
                <a:lnTo>
                  <a:pt x="1897939" y="36151"/>
                </a:lnTo>
                <a:cubicBezTo>
                  <a:pt x="1897939" y="56117"/>
                  <a:pt x="1881754" y="72302"/>
                  <a:pt x="1861788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2" name="Shape 50"/>
          <p:cNvSpPr/>
          <p:nvPr/>
        </p:nvSpPr>
        <p:spPr>
          <a:xfrm>
            <a:off x="8268651" y="4753886"/>
            <a:ext cx="3380139" cy="614571"/>
          </a:xfrm>
          <a:custGeom>
            <a:avLst/>
            <a:gdLst/>
            <a:ahLst/>
            <a:cxnLst/>
            <a:rect l="l" t="t" r="r" b="b"/>
            <a:pathLst>
              <a:path w="3380139" h="614571">
                <a:moveTo>
                  <a:pt x="72304" y="0"/>
                </a:moveTo>
                <a:lnTo>
                  <a:pt x="3307835" y="0"/>
                </a:lnTo>
                <a:cubicBezTo>
                  <a:pt x="3347768" y="0"/>
                  <a:pt x="3380139" y="32372"/>
                  <a:pt x="3380139" y="72304"/>
                </a:cubicBezTo>
                <a:lnTo>
                  <a:pt x="3380139" y="542267"/>
                </a:lnTo>
                <a:cubicBezTo>
                  <a:pt x="3380139" y="582199"/>
                  <a:pt x="3347768" y="614571"/>
                  <a:pt x="3307835" y="614571"/>
                </a:cubicBezTo>
                <a:lnTo>
                  <a:pt x="72304" y="614571"/>
                </a:lnTo>
                <a:cubicBezTo>
                  <a:pt x="32372" y="614571"/>
                  <a:pt x="0" y="582199"/>
                  <a:pt x="0" y="542267"/>
                </a:cubicBezTo>
                <a:lnTo>
                  <a:pt x="0" y="72304"/>
                </a:lnTo>
                <a:cubicBezTo>
                  <a:pt x="0" y="32398"/>
                  <a:pt x="32398" y="0"/>
                  <a:pt x="72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8377105" y="4898491"/>
            <a:ext cx="1229142" cy="216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系统集成周期缩短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00026" y="4862340"/>
            <a:ext cx="542268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0" b="1" dirty="0">
                <a:solidFill>
                  <a:srgbClr val="3C808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40%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77105" y="5187701"/>
            <a:ext cx="3163232" cy="72302"/>
          </a:xfrm>
          <a:custGeom>
            <a:avLst/>
            <a:gdLst/>
            <a:ahLst/>
            <a:cxnLst/>
            <a:rect l="l" t="t" r="r" b="b"/>
            <a:pathLst>
              <a:path w="3163232" h="72302">
                <a:moveTo>
                  <a:pt x="36151" y="0"/>
                </a:moveTo>
                <a:lnTo>
                  <a:pt x="3127081" y="0"/>
                </a:lnTo>
                <a:cubicBezTo>
                  <a:pt x="3147047" y="0"/>
                  <a:pt x="3163232" y="16185"/>
                  <a:pt x="3163232" y="36151"/>
                </a:cubicBezTo>
                <a:lnTo>
                  <a:pt x="3163232" y="36151"/>
                </a:lnTo>
                <a:cubicBezTo>
                  <a:pt x="3163232" y="56117"/>
                  <a:pt x="3147047" y="72302"/>
                  <a:pt x="312708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4A5462">
              <a:alpha val="5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8377105" y="5187701"/>
            <a:ext cx="1265293" cy="72302"/>
          </a:xfrm>
          <a:custGeom>
            <a:avLst/>
            <a:gdLst/>
            <a:ahLst/>
            <a:cxnLst/>
            <a:rect l="l" t="t" r="r" b="b"/>
            <a:pathLst>
              <a:path w="1265293" h="72302">
                <a:moveTo>
                  <a:pt x="36151" y="0"/>
                </a:moveTo>
                <a:lnTo>
                  <a:pt x="1229142" y="0"/>
                </a:lnTo>
                <a:cubicBezTo>
                  <a:pt x="1249107" y="0"/>
                  <a:pt x="1265293" y="16185"/>
                  <a:pt x="1265293" y="36151"/>
                </a:cubicBezTo>
                <a:lnTo>
                  <a:pt x="1265293" y="36151"/>
                </a:lnTo>
                <a:cubicBezTo>
                  <a:pt x="1265293" y="56117"/>
                  <a:pt x="1249107" y="72302"/>
                  <a:pt x="1229142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57" name="Shape 55"/>
          <p:cNvSpPr/>
          <p:nvPr/>
        </p:nvSpPr>
        <p:spPr>
          <a:xfrm>
            <a:off x="8268651" y="5476910"/>
            <a:ext cx="3380139" cy="614571"/>
          </a:xfrm>
          <a:custGeom>
            <a:avLst/>
            <a:gdLst/>
            <a:ahLst/>
            <a:cxnLst/>
            <a:rect l="l" t="t" r="r" b="b"/>
            <a:pathLst>
              <a:path w="3380139" h="614571">
                <a:moveTo>
                  <a:pt x="72304" y="0"/>
                </a:moveTo>
                <a:lnTo>
                  <a:pt x="3307835" y="0"/>
                </a:lnTo>
                <a:cubicBezTo>
                  <a:pt x="3347768" y="0"/>
                  <a:pt x="3380139" y="32372"/>
                  <a:pt x="3380139" y="72304"/>
                </a:cubicBezTo>
                <a:lnTo>
                  <a:pt x="3380139" y="542267"/>
                </a:lnTo>
                <a:cubicBezTo>
                  <a:pt x="3380139" y="582199"/>
                  <a:pt x="3347768" y="614571"/>
                  <a:pt x="3307835" y="614571"/>
                </a:cubicBezTo>
                <a:lnTo>
                  <a:pt x="72304" y="614571"/>
                </a:lnTo>
                <a:cubicBezTo>
                  <a:pt x="32372" y="614571"/>
                  <a:pt x="0" y="582199"/>
                  <a:pt x="0" y="542267"/>
                </a:cubicBezTo>
                <a:lnTo>
                  <a:pt x="0" y="72304"/>
                </a:lnTo>
                <a:cubicBezTo>
                  <a:pt x="0" y="32398"/>
                  <a:pt x="32398" y="0"/>
                  <a:pt x="72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8" name="Text 56"/>
          <p:cNvSpPr/>
          <p:nvPr/>
        </p:nvSpPr>
        <p:spPr>
          <a:xfrm>
            <a:off x="8377105" y="5621515"/>
            <a:ext cx="939932" cy="216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运维成本降低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113301" y="5585364"/>
            <a:ext cx="533231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0" b="1" dirty="0">
                <a:solidFill>
                  <a:srgbClr val="E5A04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35%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77105" y="5910725"/>
            <a:ext cx="3163232" cy="72302"/>
          </a:xfrm>
          <a:custGeom>
            <a:avLst/>
            <a:gdLst/>
            <a:ahLst/>
            <a:cxnLst/>
            <a:rect l="l" t="t" r="r" b="b"/>
            <a:pathLst>
              <a:path w="3163232" h="72302">
                <a:moveTo>
                  <a:pt x="36151" y="0"/>
                </a:moveTo>
                <a:lnTo>
                  <a:pt x="3127081" y="0"/>
                </a:lnTo>
                <a:cubicBezTo>
                  <a:pt x="3147047" y="0"/>
                  <a:pt x="3163232" y="16185"/>
                  <a:pt x="3163232" y="36151"/>
                </a:cubicBezTo>
                <a:lnTo>
                  <a:pt x="3163232" y="36151"/>
                </a:lnTo>
                <a:cubicBezTo>
                  <a:pt x="3163232" y="56117"/>
                  <a:pt x="3147047" y="72302"/>
                  <a:pt x="312708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4A5462">
              <a:alpha val="50196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8377105" y="5910725"/>
            <a:ext cx="1102612" cy="72302"/>
          </a:xfrm>
          <a:custGeom>
            <a:avLst/>
            <a:gdLst/>
            <a:ahLst/>
            <a:cxnLst/>
            <a:rect l="l" t="t" r="r" b="b"/>
            <a:pathLst>
              <a:path w="1102612" h="72302">
                <a:moveTo>
                  <a:pt x="36151" y="0"/>
                </a:moveTo>
                <a:lnTo>
                  <a:pt x="1066461" y="0"/>
                </a:lnTo>
                <a:cubicBezTo>
                  <a:pt x="1086427" y="0"/>
                  <a:pt x="1102612" y="16185"/>
                  <a:pt x="1102612" y="36151"/>
                </a:cubicBezTo>
                <a:lnTo>
                  <a:pt x="1102612" y="36151"/>
                </a:lnTo>
                <a:cubicBezTo>
                  <a:pt x="1102612" y="56117"/>
                  <a:pt x="1086427" y="72302"/>
                  <a:pt x="106646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E5A04C"/>
          </a:solidFill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361950"/>
                </a:lnTo>
                <a:cubicBezTo>
                  <a:pt x="38100" y="372464"/>
                  <a:pt x="29564" y="381000"/>
                  <a:pt x="19050" y="381000"/>
                </a:cubicBezTo>
                <a:lnTo>
                  <a:pt x="19050" y="381000"/>
                </a:lnTo>
                <a:cubicBezTo>
                  <a:pt x="8536" y="381000"/>
                  <a:pt x="0" y="372464"/>
                  <a:pt x="0" y="3619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3327433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四大核心价值主张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Four Core Value Propositions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5638800" cy="2552700"/>
          </a:xfrm>
          <a:custGeom>
            <a:avLst/>
            <a:gdLst/>
            <a:ahLst/>
            <a:cxnLst/>
            <a:rect l="l" t="t" r="r" b="b"/>
            <a:pathLst>
              <a:path w="5638800" h="2552700">
                <a:moveTo>
                  <a:pt x="38100" y="0"/>
                </a:moveTo>
                <a:lnTo>
                  <a:pt x="5524490" y="0"/>
                </a:lnTo>
                <a:cubicBezTo>
                  <a:pt x="5587622" y="0"/>
                  <a:pt x="5638800" y="51178"/>
                  <a:pt x="5638800" y="114310"/>
                </a:cubicBezTo>
                <a:lnTo>
                  <a:pt x="5638800" y="2438390"/>
                </a:lnTo>
                <a:cubicBezTo>
                  <a:pt x="5638800" y="2501522"/>
                  <a:pt x="5587622" y="2552700"/>
                  <a:pt x="5524490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400050" y="1257300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7" name="Shape 5"/>
          <p:cNvSpPr/>
          <p:nvPr/>
        </p:nvSpPr>
        <p:spPr>
          <a:xfrm>
            <a:off x="609600" y="1447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56047" y="16097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2882" y="-13897"/>
                </a:moveTo>
                <a:cubicBezTo>
                  <a:pt x="17636" y="-19143"/>
                  <a:pt x="9153" y="-19143"/>
                  <a:pt x="3963" y="-13897"/>
                </a:cubicBezTo>
                <a:cubicBezTo>
                  <a:pt x="-1228" y="-8651"/>
                  <a:pt x="-1284" y="-167"/>
                  <a:pt x="3907" y="5079"/>
                </a:cubicBezTo>
                <a:lnTo>
                  <a:pt x="298586" y="299758"/>
                </a:lnTo>
                <a:cubicBezTo>
                  <a:pt x="303833" y="305005"/>
                  <a:pt x="312316" y="305005"/>
                  <a:pt x="317506" y="299758"/>
                </a:cubicBezTo>
                <a:cubicBezTo>
                  <a:pt x="322697" y="294512"/>
                  <a:pt x="322752" y="286029"/>
                  <a:pt x="317506" y="280839"/>
                </a:cubicBezTo>
                <a:lnTo>
                  <a:pt x="249417" y="212750"/>
                </a:lnTo>
                <a:cubicBezTo>
                  <a:pt x="251761" y="210852"/>
                  <a:pt x="254050" y="208787"/>
                  <a:pt x="256170" y="206666"/>
                </a:cubicBezTo>
                <a:lnTo>
                  <a:pt x="295852" y="166985"/>
                </a:lnTo>
                <a:cubicBezTo>
                  <a:pt x="312204" y="150633"/>
                  <a:pt x="321413" y="128420"/>
                  <a:pt x="321413" y="105259"/>
                </a:cubicBezTo>
                <a:cubicBezTo>
                  <a:pt x="321413" y="57038"/>
                  <a:pt x="282346" y="17915"/>
                  <a:pt x="234069" y="17915"/>
                </a:cubicBezTo>
                <a:cubicBezTo>
                  <a:pt x="213252" y="17915"/>
                  <a:pt x="193272" y="25338"/>
                  <a:pt x="177533" y="38677"/>
                </a:cubicBezTo>
                <a:cubicBezTo>
                  <a:pt x="188863" y="44314"/>
                  <a:pt x="199132" y="51792"/>
                  <a:pt x="207950" y="60722"/>
                </a:cubicBezTo>
                <a:cubicBezTo>
                  <a:pt x="215819" y="56090"/>
                  <a:pt x="224805" y="53634"/>
                  <a:pt x="234069" y="53634"/>
                </a:cubicBezTo>
                <a:cubicBezTo>
                  <a:pt x="262589" y="53634"/>
                  <a:pt x="285694" y="76740"/>
                  <a:pt x="285694" y="105259"/>
                </a:cubicBezTo>
                <a:cubicBezTo>
                  <a:pt x="285694" y="118932"/>
                  <a:pt x="280281" y="132048"/>
                  <a:pt x="270570" y="141759"/>
                </a:cubicBezTo>
                <a:lnTo>
                  <a:pt x="230888" y="181440"/>
                </a:lnTo>
                <a:cubicBezTo>
                  <a:pt x="228712" y="183617"/>
                  <a:pt x="226368" y="185570"/>
                  <a:pt x="223856" y="187300"/>
                </a:cubicBezTo>
                <a:lnTo>
                  <a:pt x="197346" y="160790"/>
                </a:lnTo>
                <a:cubicBezTo>
                  <a:pt x="206555" y="160288"/>
                  <a:pt x="213922" y="152753"/>
                  <a:pt x="214201" y="143433"/>
                </a:cubicBezTo>
                <a:cubicBezTo>
                  <a:pt x="214201" y="142708"/>
                  <a:pt x="214201" y="141982"/>
                  <a:pt x="214201" y="141256"/>
                </a:cubicBezTo>
                <a:cubicBezTo>
                  <a:pt x="214201" y="93092"/>
                  <a:pt x="175189" y="53690"/>
                  <a:pt x="126857" y="53690"/>
                </a:cubicBezTo>
                <a:cubicBezTo>
                  <a:pt x="116142" y="53690"/>
                  <a:pt x="105705" y="55643"/>
                  <a:pt x="95883" y="59382"/>
                </a:cubicBezTo>
                <a:lnTo>
                  <a:pt x="22882" y="-13897"/>
                </a:lnTo>
                <a:close/>
                <a:moveTo>
                  <a:pt x="126076" y="89297"/>
                </a:moveTo>
                <a:cubicBezTo>
                  <a:pt x="126411" y="89297"/>
                  <a:pt x="126690" y="89297"/>
                  <a:pt x="127025" y="89297"/>
                </a:cubicBezTo>
                <a:cubicBezTo>
                  <a:pt x="135452" y="89297"/>
                  <a:pt x="143489" y="91362"/>
                  <a:pt x="150521" y="94990"/>
                </a:cubicBezTo>
                <a:cubicBezTo>
                  <a:pt x="151526" y="95659"/>
                  <a:pt x="152530" y="96273"/>
                  <a:pt x="153591" y="96720"/>
                </a:cubicBezTo>
                <a:cubicBezTo>
                  <a:pt x="168548" y="105817"/>
                  <a:pt x="178594" y="122337"/>
                  <a:pt x="178594" y="141145"/>
                </a:cubicBezTo>
                <a:cubicBezTo>
                  <a:pt x="178594" y="141368"/>
                  <a:pt x="178594" y="141591"/>
                  <a:pt x="178594" y="141815"/>
                </a:cubicBezTo>
                <a:lnTo>
                  <a:pt x="126076" y="89297"/>
                </a:lnTo>
                <a:close/>
                <a:moveTo>
                  <a:pt x="193216" y="232172"/>
                </a:moveTo>
                <a:lnTo>
                  <a:pt x="107156" y="146112"/>
                </a:lnTo>
                <a:cubicBezTo>
                  <a:pt x="107826" y="193328"/>
                  <a:pt x="146000" y="231446"/>
                  <a:pt x="193160" y="232116"/>
                </a:cubicBezTo>
                <a:close/>
                <a:moveTo>
                  <a:pt x="77967" y="116923"/>
                </a:moveTo>
                <a:lnTo>
                  <a:pt x="52685" y="91641"/>
                </a:lnTo>
                <a:lnTo>
                  <a:pt x="25561" y="118765"/>
                </a:lnTo>
                <a:cubicBezTo>
                  <a:pt x="9209" y="135117"/>
                  <a:pt x="0" y="157330"/>
                  <a:pt x="0" y="180491"/>
                </a:cubicBezTo>
                <a:cubicBezTo>
                  <a:pt x="0" y="228712"/>
                  <a:pt x="39067" y="267835"/>
                  <a:pt x="87344" y="267835"/>
                </a:cubicBezTo>
                <a:cubicBezTo>
                  <a:pt x="108105" y="267835"/>
                  <a:pt x="128141" y="260412"/>
                  <a:pt x="143880" y="247073"/>
                </a:cubicBezTo>
                <a:cubicBezTo>
                  <a:pt x="132550" y="241436"/>
                  <a:pt x="122225" y="233958"/>
                  <a:pt x="113407" y="225028"/>
                </a:cubicBezTo>
                <a:cubicBezTo>
                  <a:pt x="105594" y="229605"/>
                  <a:pt x="96608" y="232060"/>
                  <a:pt x="87344" y="232060"/>
                </a:cubicBezTo>
                <a:cubicBezTo>
                  <a:pt x="58824" y="232060"/>
                  <a:pt x="35719" y="208955"/>
                  <a:pt x="35719" y="180435"/>
                </a:cubicBezTo>
                <a:cubicBezTo>
                  <a:pt x="35719" y="166762"/>
                  <a:pt x="41132" y="153646"/>
                  <a:pt x="50843" y="143935"/>
                </a:cubicBezTo>
                <a:lnTo>
                  <a:pt x="77967" y="116811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9" name="Text 7"/>
          <p:cNvSpPr/>
          <p:nvPr/>
        </p:nvSpPr>
        <p:spPr>
          <a:xfrm>
            <a:off x="1371600" y="1447800"/>
            <a:ext cx="4591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456247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前端与后端</a:t>
            </a: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35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服务与服务</a:t>
            </a: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之间的接口契约解耦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183606"/>
            <a:ext cx="5238750" cy="1438275"/>
          </a:xfrm>
          <a:custGeom>
            <a:avLst/>
            <a:gdLst/>
            <a:ahLst/>
            <a:cxnLst/>
            <a:rect l="l" t="t" r="r" b="b"/>
            <a:pathLst>
              <a:path w="5238750" h="1438275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362075"/>
                </a:lnTo>
                <a:cubicBezTo>
                  <a:pt x="5238750" y="1404159"/>
                  <a:pt x="5204634" y="1438275"/>
                  <a:pt x="5162550" y="1438275"/>
                </a:cubicBezTo>
                <a:lnTo>
                  <a:pt x="76200" y="1438275"/>
                </a:lnTo>
                <a:cubicBezTo>
                  <a:pt x="34116" y="1438275"/>
                  <a:pt x="0" y="1404159"/>
                  <a:pt x="0" y="13620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762000" y="2482453"/>
            <a:ext cx="5010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通过Connector中间层，实现前后端开发的独立演进。前端无需等待后端接口就绪，后端接口变更不影响前端调用。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1050" y="31301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14" name="Text 12"/>
          <p:cNvSpPr/>
          <p:nvPr/>
        </p:nvSpPr>
        <p:spPr>
          <a:xfrm>
            <a:off x="1028700" y="3092053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接口契约版本管理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1257300"/>
            <a:ext cx="5638800" cy="2552700"/>
          </a:xfrm>
          <a:custGeom>
            <a:avLst/>
            <a:gdLst/>
            <a:ahLst/>
            <a:cxnLst/>
            <a:rect l="l" t="t" r="r" b="b"/>
            <a:pathLst>
              <a:path w="5638800" h="2552700">
                <a:moveTo>
                  <a:pt x="38100" y="0"/>
                </a:moveTo>
                <a:lnTo>
                  <a:pt x="5524490" y="0"/>
                </a:lnTo>
                <a:cubicBezTo>
                  <a:pt x="5587622" y="0"/>
                  <a:pt x="5638800" y="51178"/>
                  <a:pt x="5638800" y="114310"/>
                </a:cubicBezTo>
                <a:lnTo>
                  <a:pt x="5638800" y="2438390"/>
                </a:lnTo>
                <a:cubicBezTo>
                  <a:pt x="5638800" y="2501522"/>
                  <a:pt x="5587622" y="2552700"/>
                  <a:pt x="5524490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172200" y="1257300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7" name="Shape 15"/>
          <p:cNvSpPr/>
          <p:nvPr/>
        </p:nvSpPr>
        <p:spPr>
          <a:xfrm>
            <a:off x="6381750" y="1447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546056" y="1609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19" name="Text 17"/>
          <p:cNvSpPr/>
          <p:nvPr/>
        </p:nvSpPr>
        <p:spPr>
          <a:xfrm>
            <a:off x="7143750" y="1447800"/>
            <a:ext cx="4591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43750" y="1828800"/>
            <a:ext cx="456247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敏感数据</a:t>
            </a: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的自动脱敏与加密传输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81750" y="2183606"/>
            <a:ext cx="5238750" cy="1438275"/>
          </a:xfrm>
          <a:custGeom>
            <a:avLst/>
            <a:gdLst/>
            <a:ahLst/>
            <a:cxnLst/>
            <a:rect l="l" t="t" r="r" b="b"/>
            <a:pathLst>
              <a:path w="5238750" h="1438275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362075"/>
                </a:lnTo>
                <a:cubicBezTo>
                  <a:pt x="5238750" y="1404159"/>
                  <a:pt x="5204634" y="1438275"/>
                  <a:pt x="5162550" y="1438275"/>
                </a:cubicBezTo>
                <a:lnTo>
                  <a:pt x="76200" y="1438275"/>
                </a:lnTo>
                <a:cubicBezTo>
                  <a:pt x="34116" y="1438275"/>
                  <a:pt x="0" y="1404159"/>
                  <a:pt x="0" y="13620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534150" y="2482453"/>
            <a:ext cx="5010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内置RSA加密算法，确保敏感信息在传输过程中即使被截获也无法破解。支持字段级脱敏策略配置。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72250" y="313015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4" name="Text 22"/>
          <p:cNvSpPr/>
          <p:nvPr/>
        </p:nvSpPr>
        <p:spPr>
          <a:xfrm>
            <a:off x="6800850" y="3092053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端到端加密传输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3924300"/>
            <a:ext cx="5638800" cy="2552700"/>
          </a:xfrm>
          <a:custGeom>
            <a:avLst/>
            <a:gdLst/>
            <a:ahLst/>
            <a:cxnLst/>
            <a:rect l="l" t="t" r="r" b="b"/>
            <a:pathLst>
              <a:path w="5638800" h="2552700">
                <a:moveTo>
                  <a:pt x="38100" y="0"/>
                </a:moveTo>
                <a:lnTo>
                  <a:pt x="5524490" y="0"/>
                </a:lnTo>
                <a:cubicBezTo>
                  <a:pt x="5587622" y="0"/>
                  <a:pt x="5638800" y="51178"/>
                  <a:pt x="5638800" y="114310"/>
                </a:cubicBezTo>
                <a:lnTo>
                  <a:pt x="5638800" y="2438390"/>
                </a:lnTo>
                <a:cubicBezTo>
                  <a:pt x="5638800" y="2501522"/>
                  <a:pt x="5587622" y="2552700"/>
                  <a:pt x="5524490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400050" y="3924300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7" name="Shape 25"/>
          <p:cNvSpPr/>
          <p:nvPr/>
        </p:nvSpPr>
        <p:spPr>
          <a:xfrm>
            <a:off x="609600" y="411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773906" y="4276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9" name="Text 27"/>
          <p:cNvSpPr/>
          <p:nvPr/>
        </p:nvSpPr>
        <p:spPr>
          <a:xfrm>
            <a:off x="1371600" y="4114800"/>
            <a:ext cx="4591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适配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4495800"/>
            <a:ext cx="456247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新老系统</a:t>
            </a: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对接时的字段映射与格式转换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9600" y="4850606"/>
            <a:ext cx="5238750" cy="1438275"/>
          </a:xfrm>
          <a:custGeom>
            <a:avLst/>
            <a:gdLst/>
            <a:ahLst/>
            <a:cxnLst/>
            <a:rect l="l" t="t" r="r" b="b"/>
            <a:pathLst>
              <a:path w="5238750" h="1438275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362075"/>
                </a:lnTo>
                <a:cubicBezTo>
                  <a:pt x="5238750" y="1404159"/>
                  <a:pt x="5204634" y="1438275"/>
                  <a:pt x="5162550" y="1438275"/>
                </a:cubicBezTo>
                <a:lnTo>
                  <a:pt x="76200" y="1438275"/>
                </a:lnTo>
                <a:cubicBezTo>
                  <a:pt x="34116" y="1438275"/>
                  <a:pt x="0" y="1404159"/>
                  <a:pt x="0" y="13620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762000" y="5149453"/>
            <a:ext cx="5010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通过可视化配置界面，轻松实现遗留系统与现代应用的数据格式转换，无需编写复杂代码。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1050" y="57971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34" name="Text 32"/>
          <p:cNvSpPr/>
          <p:nvPr/>
        </p:nvSpPr>
        <p:spPr>
          <a:xfrm>
            <a:off x="1028700" y="5759053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零代码配置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2200" y="3924300"/>
            <a:ext cx="5638800" cy="2552700"/>
          </a:xfrm>
          <a:custGeom>
            <a:avLst/>
            <a:gdLst/>
            <a:ahLst/>
            <a:cxnLst/>
            <a:rect l="l" t="t" r="r" b="b"/>
            <a:pathLst>
              <a:path w="5638800" h="2552700">
                <a:moveTo>
                  <a:pt x="38100" y="0"/>
                </a:moveTo>
                <a:lnTo>
                  <a:pt x="5524490" y="0"/>
                </a:lnTo>
                <a:cubicBezTo>
                  <a:pt x="5587622" y="0"/>
                  <a:pt x="5638800" y="51178"/>
                  <a:pt x="5638800" y="114310"/>
                </a:cubicBezTo>
                <a:lnTo>
                  <a:pt x="5638800" y="2438390"/>
                </a:lnTo>
                <a:cubicBezTo>
                  <a:pt x="5638800" y="2501522"/>
                  <a:pt x="5587622" y="2552700"/>
                  <a:pt x="5524490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172200" y="3924300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37" name="Shape 35"/>
          <p:cNvSpPr/>
          <p:nvPr/>
        </p:nvSpPr>
        <p:spPr>
          <a:xfrm>
            <a:off x="6381750" y="411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546056" y="4276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39" name="Text 37"/>
          <p:cNvSpPr/>
          <p:nvPr/>
        </p:nvSpPr>
        <p:spPr>
          <a:xfrm>
            <a:off x="7143750" y="4114800"/>
            <a:ext cx="4591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监控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43750" y="4495800"/>
            <a:ext cx="456247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全链路</a:t>
            </a:r>
            <a:r>
              <a:rPr lang="en-US" sz="135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的请求日志追踪与回放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1750" y="4850606"/>
            <a:ext cx="5238750" cy="1438275"/>
          </a:xfrm>
          <a:custGeom>
            <a:avLst/>
            <a:gdLst/>
            <a:ahLst/>
            <a:cxnLst/>
            <a:rect l="l" t="t" r="r" b="b"/>
            <a:pathLst>
              <a:path w="5238750" h="1438275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362075"/>
                </a:lnTo>
                <a:cubicBezTo>
                  <a:pt x="5238750" y="1404159"/>
                  <a:pt x="5204634" y="1438275"/>
                  <a:pt x="5162550" y="1438275"/>
                </a:cubicBezTo>
                <a:lnTo>
                  <a:pt x="76200" y="1438275"/>
                </a:lnTo>
                <a:cubicBezTo>
                  <a:pt x="34116" y="1438275"/>
                  <a:pt x="0" y="1404159"/>
                  <a:pt x="0" y="13620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6534150" y="5149453"/>
            <a:ext cx="5010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详细记录每一次请求的请求头、请求体、响应数据、耗时等关键指标，支持问题快速定位与回溯分析。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43675" y="57971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44" name="Text 42"/>
          <p:cNvSpPr/>
          <p:nvPr/>
        </p:nvSpPr>
        <p:spPr>
          <a:xfrm>
            <a:off x="6800850" y="5759053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配置变更审计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45cc37a01201931f5ea0acca96fa0ad06a3236cb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180" r="18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E5A04C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9182100" y="1533127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" name="Shape 2"/>
          <p:cNvSpPr/>
          <p:nvPr/>
        </p:nvSpPr>
        <p:spPr>
          <a:xfrm>
            <a:off x="10896600" y="109497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5A04C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846495" y="1323577"/>
            <a:ext cx="7905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8199" y="2314177"/>
            <a:ext cx="796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技术架构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E5A04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全栈技术栈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48224" y="4333477"/>
            <a:ext cx="77628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25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前后端分离的高性能架构设计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59303" y="5258196"/>
            <a:ext cx="1435100" cy="501650"/>
          </a:xfrm>
          <a:custGeom>
            <a:avLst/>
            <a:gdLst/>
            <a:ahLst/>
            <a:cxnLst/>
            <a:rect l="l" t="t" r="r" b="b"/>
            <a:pathLst>
              <a:path w="1435100" h="501650">
                <a:moveTo>
                  <a:pt x="76201" y="0"/>
                </a:moveTo>
                <a:lnTo>
                  <a:pt x="1358899" y="0"/>
                </a:lnTo>
                <a:cubicBezTo>
                  <a:pt x="1400956" y="0"/>
                  <a:pt x="1435100" y="34144"/>
                  <a:pt x="1435100" y="76201"/>
                </a:cubicBezTo>
                <a:lnTo>
                  <a:pt x="1435100" y="425449"/>
                </a:lnTo>
                <a:cubicBezTo>
                  <a:pt x="1435100" y="467506"/>
                  <a:pt x="1400956" y="501650"/>
                  <a:pt x="1358899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E5A04C">
              <a:alpha val="40000"/>
            </a:srgbClr>
          </a:solidFill>
          <a:ln w="8467">
            <a:solidFill>
              <a:srgbClr val="E5A04C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05352" y="5394724"/>
            <a:ext cx="10556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 3 + Vite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51565" y="5258196"/>
            <a:ext cx="1673225" cy="501650"/>
          </a:xfrm>
          <a:custGeom>
            <a:avLst/>
            <a:gdLst/>
            <a:ahLst/>
            <a:cxnLst/>
            <a:rect l="l" t="t" r="r" b="b"/>
            <a:pathLst>
              <a:path w="1673225" h="501650">
                <a:moveTo>
                  <a:pt x="76201" y="0"/>
                </a:moveTo>
                <a:lnTo>
                  <a:pt x="1597024" y="0"/>
                </a:lnTo>
                <a:cubicBezTo>
                  <a:pt x="1639081" y="0"/>
                  <a:pt x="1673225" y="34144"/>
                  <a:pt x="1673225" y="76201"/>
                </a:cubicBezTo>
                <a:lnTo>
                  <a:pt x="1673225" y="425449"/>
                </a:lnTo>
                <a:cubicBezTo>
                  <a:pt x="1673225" y="467506"/>
                  <a:pt x="1639081" y="501650"/>
                  <a:pt x="1597024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C8082">
              <a:alpha val="40000"/>
            </a:srgbClr>
          </a:solidFill>
          <a:ln w="8467">
            <a:solidFill>
              <a:srgbClr val="3C8082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97615" y="5394724"/>
            <a:ext cx="129738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 2.7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85525" y="5258196"/>
            <a:ext cx="1425575" cy="501650"/>
          </a:xfrm>
          <a:custGeom>
            <a:avLst/>
            <a:gdLst/>
            <a:ahLst/>
            <a:cxnLst/>
            <a:rect l="l" t="t" r="r" b="b"/>
            <a:pathLst>
              <a:path w="1425575" h="501650">
                <a:moveTo>
                  <a:pt x="76201" y="0"/>
                </a:moveTo>
                <a:lnTo>
                  <a:pt x="1349374" y="0"/>
                </a:lnTo>
                <a:cubicBezTo>
                  <a:pt x="1391431" y="0"/>
                  <a:pt x="1425575" y="34144"/>
                  <a:pt x="1425575" y="76201"/>
                </a:cubicBezTo>
                <a:lnTo>
                  <a:pt x="1425575" y="425449"/>
                </a:lnTo>
                <a:cubicBezTo>
                  <a:pt x="1425575" y="467506"/>
                  <a:pt x="1391431" y="501650"/>
                  <a:pt x="1349374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8467">
            <a:solidFill>
              <a:srgbClr val="4A5462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31575" y="5394724"/>
            <a:ext cx="10444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MySQL 5.7+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361950"/>
                </a:lnTo>
                <a:cubicBezTo>
                  <a:pt x="38100" y="372464"/>
                  <a:pt x="29564" y="381000"/>
                  <a:pt x="19050" y="381000"/>
                </a:cubicBezTo>
                <a:lnTo>
                  <a:pt x="19050" y="381000"/>
                </a:lnTo>
                <a:cubicBezTo>
                  <a:pt x="8536" y="381000"/>
                  <a:pt x="0" y="372464"/>
                  <a:pt x="0" y="3619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" name="Text 1"/>
          <p:cNvSpPr/>
          <p:nvPr/>
        </p:nvSpPr>
        <p:spPr>
          <a:xfrm>
            <a:off x="533400" y="381000"/>
            <a:ext cx="32162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全栈技术架构详解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Full-Stack Technical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95400"/>
            <a:ext cx="5600700" cy="3733800"/>
          </a:xfrm>
          <a:custGeom>
            <a:avLst/>
            <a:gdLst/>
            <a:ahLst/>
            <a:cxnLst/>
            <a:rect l="l" t="t" r="r" b="b"/>
            <a:pathLst>
              <a:path w="5600700" h="3733800">
                <a:moveTo>
                  <a:pt x="38100" y="0"/>
                </a:moveTo>
                <a:lnTo>
                  <a:pt x="5486408" y="0"/>
                </a:lnTo>
                <a:cubicBezTo>
                  <a:pt x="5549530" y="0"/>
                  <a:pt x="5600700" y="51170"/>
                  <a:pt x="5600700" y="114292"/>
                </a:cubicBezTo>
                <a:lnTo>
                  <a:pt x="5600700" y="3619508"/>
                </a:lnTo>
                <a:cubicBezTo>
                  <a:pt x="5600700" y="3682630"/>
                  <a:pt x="5549530" y="3733800"/>
                  <a:pt x="5486408" y="3733800"/>
                </a:cubicBezTo>
                <a:lnTo>
                  <a:pt x="38100" y="3733800"/>
                </a:lnTo>
                <a:cubicBezTo>
                  <a:pt x="17072" y="3733800"/>
                  <a:pt x="0" y="3716728"/>
                  <a:pt x="0" y="3695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400050" y="1295400"/>
            <a:ext cx="38100" cy="3733800"/>
          </a:xfrm>
          <a:custGeom>
            <a:avLst/>
            <a:gdLst/>
            <a:ahLst/>
            <a:cxnLst/>
            <a:rect l="l" t="t" r="r" b="b"/>
            <a:pathLst>
              <a:path w="38100" h="3733800">
                <a:moveTo>
                  <a:pt x="38100" y="0"/>
                </a:moveTo>
                <a:lnTo>
                  <a:pt x="38100" y="0"/>
                </a:lnTo>
                <a:lnTo>
                  <a:pt x="38100" y="3733800"/>
                </a:lnTo>
                <a:lnTo>
                  <a:pt x="38100" y="3733800"/>
                </a:lnTo>
                <a:cubicBezTo>
                  <a:pt x="17072" y="3733800"/>
                  <a:pt x="0" y="3716728"/>
                  <a:pt x="0" y="3695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7" name="Shape 5"/>
          <p:cNvSpPr/>
          <p:nvPr/>
        </p:nvSpPr>
        <p:spPr>
          <a:xfrm>
            <a:off x="6477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76288" y="1638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9350" y="28709"/>
                </a:moveTo>
                <a:lnTo>
                  <a:pt x="125016" y="28709"/>
                </a:lnTo>
                <a:lnTo>
                  <a:pt x="100013" y="68267"/>
                </a:lnTo>
                <a:lnTo>
                  <a:pt x="78581" y="28709"/>
                </a:lnTo>
                <a:lnTo>
                  <a:pt x="0" y="28709"/>
                </a:lnTo>
                <a:lnTo>
                  <a:pt x="100013" y="200025"/>
                </a:lnTo>
                <a:lnTo>
                  <a:pt x="200025" y="28709"/>
                </a:lnTo>
                <a:lnTo>
                  <a:pt x="159350" y="28709"/>
                </a:lnTo>
                <a:close/>
                <a:moveTo>
                  <a:pt x="24869" y="42996"/>
                </a:moveTo>
                <a:lnTo>
                  <a:pt x="48890" y="42996"/>
                </a:lnTo>
                <a:lnTo>
                  <a:pt x="100013" y="131490"/>
                </a:lnTo>
                <a:lnTo>
                  <a:pt x="151090" y="42996"/>
                </a:lnTo>
                <a:lnTo>
                  <a:pt x="175111" y="42996"/>
                </a:lnTo>
                <a:lnTo>
                  <a:pt x="100013" y="171673"/>
                </a:lnTo>
                <a:lnTo>
                  <a:pt x="24869" y="42996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9" name="Text 7"/>
          <p:cNvSpPr/>
          <p:nvPr/>
        </p:nvSpPr>
        <p:spPr>
          <a:xfrm>
            <a:off x="1219200" y="1600200"/>
            <a:ext cx="1346211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前端技术栈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7700" y="2247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1" name="Text 9"/>
          <p:cNvSpPr/>
          <p:nvPr/>
        </p:nvSpPr>
        <p:spPr>
          <a:xfrm>
            <a:off x="838200" y="2171700"/>
            <a:ext cx="990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Vue 3 + Vite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6350" y="2171700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5086350" y="2171700"/>
            <a:ext cx="7524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核心框架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" y="2476500"/>
            <a:ext cx="5010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采用最新的Vue 3 Composition API，配合Vite构建工具，实现极速构建和热更新，大幅提升开发体验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70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16" name="Text 14"/>
          <p:cNvSpPr/>
          <p:nvPr/>
        </p:nvSpPr>
        <p:spPr>
          <a:xfrm>
            <a:off x="838200" y="3086100"/>
            <a:ext cx="124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Ant Design Vue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4883" y="3086100"/>
            <a:ext cx="676275" cy="266700"/>
          </a:xfrm>
          <a:custGeom>
            <a:avLst/>
            <a:gdLst/>
            <a:ahLst/>
            <a:cxnLst/>
            <a:rect l="l" t="t" r="r" b="b"/>
            <a:pathLst>
              <a:path w="676275" h="266700">
                <a:moveTo>
                  <a:pt x="133350" y="0"/>
                </a:moveTo>
                <a:lnTo>
                  <a:pt x="542925" y="0"/>
                </a:lnTo>
                <a:cubicBezTo>
                  <a:pt x="616523" y="0"/>
                  <a:pt x="676275" y="59752"/>
                  <a:pt x="676275" y="133350"/>
                </a:cubicBezTo>
                <a:lnTo>
                  <a:pt x="676275" y="133350"/>
                </a:lnTo>
                <a:cubicBezTo>
                  <a:pt x="676275" y="206948"/>
                  <a:pt x="616523" y="266700"/>
                  <a:pt x="5429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094883" y="3086100"/>
            <a:ext cx="7429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UI组件库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" y="3390900"/>
            <a:ext cx="5010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基于Smart Admin架构，提供丰富的企业级UI组件，支持响应式设计，确保在不同设备上的完美体验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7700" y="4076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1" name="Text 19"/>
          <p:cNvSpPr/>
          <p:nvPr/>
        </p:nvSpPr>
        <p:spPr>
          <a:xfrm>
            <a:off x="838200" y="4000500"/>
            <a:ext cx="145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Pinia + Vue Router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53000" y="4000500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133350" y="0"/>
                </a:moveTo>
                <a:lnTo>
                  <a:pt x="685800" y="0"/>
                </a:lnTo>
                <a:cubicBezTo>
                  <a:pt x="759398" y="0"/>
                  <a:pt x="819150" y="59752"/>
                  <a:pt x="819150" y="133350"/>
                </a:cubicBezTo>
                <a:lnTo>
                  <a:pt x="819150" y="133350"/>
                </a:lnTo>
                <a:cubicBezTo>
                  <a:pt x="819150" y="206948"/>
                  <a:pt x="759398" y="266700"/>
                  <a:pt x="6858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4953000" y="4000500"/>
            <a:ext cx="8858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状态与路由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" y="4305300"/>
            <a:ext cx="5010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使用Pinia进行状态管理，Vue Router 4实现路由控制，构建可维护的大型前端应用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1295400"/>
            <a:ext cx="5600700" cy="3733800"/>
          </a:xfrm>
          <a:custGeom>
            <a:avLst/>
            <a:gdLst/>
            <a:ahLst/>
            <a:cxnLst/>
            <a:rect l="l" t="t" r="r" b="b"/>
            <a:pathLst>
              <a:path w="5600700" h="3733800">
                <a:moveTo>
                  <a:pt x="38100" y="0"/>
                </a:moveTo>
                <a:lnTo>
                  <a:pt x="5486408" y="0"/>
                </a:lnTo>
                <a:cubicBezTo>
                  <a:pt x="5549530" y="0"/>
                  <a:pt x="5600700" y="51170"/>
                  <a:pt x="5600700" y="114292"/>
                </a:cubicBezTo>
                <a:lnTo>
                  <a:pt x="5600700" y="3619508"/>
                </a:lnTo>
                <a:cubicBezTo>
                  <a:pt x="5600700" y="3682630"/>
                  <a:pt x="5549530" y="3733800"/>
                  <a:pt x="5486408" y="3733800"/>
                </a:cubicBezTo>
                <a:lnTo>
                  <a:pt x="38100" y="3733800"/>
                </a:lnTo>
                <a:cubicBezTo>
                  <a:pt x="17072" y="3733800"/>
                  <a:pt x="0" y="3716728"/>
                  <a:pt x="0" y="3695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210300" y="1295400"/>
            <a:ext cx="38100" cy="3733800"/>
          </a:xfrm>
          <a:custGeom>
            <a:avLst/>
            <a:gdLst/>
            <a:ahLst/>
            <a:cxnLst/>
            <a:rect l="l" t="t" r="r" b="b"/>
            <a:pathLst>
              <a:path w="38100" h="3733800">
                <a:moveTo>
                  <a:pt x="38100" y="0"/>
                </a:moveTo>
                <a:lnTo>
                  <a:pt x="38100" y="0"/>
                </a:lnTo>
                <a:lnTo>
                  <a:pt x="38100" y="3733800"/>
                </a:lnTo>
                <a:lnTo>
                  <a:pt x="38100" y="3733800"/>
                </a:lnTo>
                <a:cubicBezTo>
                  <a:pt x="17072" y="3733800"/>
                  <a:pt x="0" y="3716728"/>
                  <a:pt x="0" y="3695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7" name="Shape 25"/>
          <p:cNvSpPr/>
          <p:nvPr/>
        </p:nvSpPr>
        <p:spPr>
          <a:xfrm>
            <a:off x="645795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600825" y="1638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24033" y="139705"/>
                </a:moveTo>
                <a:cubicBezTo>
                  <a:pt x="128409" y="136714"/>
                  <a:pt x="134481" y="134124"/>
                  <a:pt x="134481" y="134124"/>
                </a:cubicBezTo>
                <a:cubicBezTo>
                  <a:pt x="134481" y="134124"/>
                  <a:pt x="117202" y="137249"/>
                  <a:pt x="100013" y="138678"/>
                </a:cubicBezTo>
                <a:cubicBezTo>
                  <a:pt x="78983" y="140419"/>
                  <a:pt x="56391" y="140777"/>
                  <a:pt x="45050" y="139258"/>
                </a:cubicBezTo>
                <a:cubicBezTo>
                  <a:pt x="18217" y="135687"/>
                  <a:pt x="59784" y="125819"/>
                  <a:pt x="59784" y="125819"/>
                </a:cubicBezTo>
                <a:cubicBezTo>
                  <a:pt x="59784" y="125819"/>
                  <a:pt x="43666" y="124748"/>
                  <a:pt x="23798" y="134302"/>
                </a:cubicBezTo>
                <a:cubicBezTo>
                  <a:pt x="357" y="145643"/>
                  <a:pt x="81841" y="150822"/>
                  <a:pt x="124033" y="139705"/>
                </a:cubicBezTo>
                <a:close/>
                <a:moveTo>
                  <a:pt x="85904" y="125373"/>
                </a:moveTo>
                <a:cubicBezTo>
                  <a:pt x="77420" y="106308"/>
                  <a:pt x="48801" y="89565"/>
                  <a:pt x="85904" y="60275"/>
                </a:cubicBezTo>
                <a:cubicBezTo>
                  <a:pt x="132204" y="23753"/>
                  <a:pt x="108451" y="0"/>
                  <a:pt x="108451" y="0"/>
                </a:cubicBezTo>
                <a:cubicBezTo>
                  <a:pt x="118050" y="37728"/>
                  <a:pt x="74697" y="49158"/>
                  <a:pt x="59025" y="72598"/>
                </a:cubicBezTo>
                <a:cubicBezTo>
                  <a:pt x="48354" y="88627"/>
                  <a:pt x="64249" y="105817"/>
                  <a:pt x="85904" y="125373"/>
                </a:cubicBezTo>
                <a:close/>
                <a:moveTo>
                  <a:pt x="137071" y="46702"/>
                </a:moveTo>
                <a:cubicBezTo>
                  <a:pt x="137115" y="46702"/>
                  <a:pt x="58847" y="66258"/>
                  <a:pt x="96217" y="109299"/>
                </a:cubicBezTo>
                <a:cubicBezTo>
                  <a:pt x="107246" y="121980"/>
                  <a:pt x="93315" y="133410"/>
                  <a:pt x="93315" y="133410"/>
                </a:cubicBezTo>
                <a:cubicBezTo>
                  <a:pt x="93315" y="133410"/>
                  <a:pt x="121310" y="118943"/>
                  <a:pt x="108451" y="100861"/>
                </a:cubicBezTo>
                <a:cubicBezTo>
                  <a:pt x="96441" y="83984"/>
                  <a:pt x="87243" y="75590"/>
                  <a:pt x="137071" y="46702"/>
                </a:cubicBezTo>
                <a:close/>
                <a:moveTo>
                  <a:pt x="134347" y="167476"/>
                </a:moveTo>
                <a:cubicBezTo>
                  <a:pt x="134124" y="167923"/>
                  <a:pt x="133811" y="168280"/>
                  <a:pt x="133454" y="168637"/>
                </a:cubicBezTo>
                <a:cubicBezTo>
                  <a:pt x="190738" y="153591"/>
                  <a:pt x="169664" y="115550"/>
                  <a:pt x="142295" y="125194"/>
                </a:cubicBezTo>
                <a:cubicBezTo>
                  <a:pt x="140821" y="125730"/>
                  <a:pt x="139526" y="126712"/>
                  <a:pt x="138633" y="128007"/>
                </a:cubicBezTo>
                <a:cubicBezTo>
                  <a:pt x="140241" y="127427"/>
                  <a:pt x="141893" y="126980"/>
                  <a:pt x="143545" y="126668"/>
                </a:cubicBezTo>
                <a:cubicBezTo>
                  <a:pt x="157386" y="123765"/>
                  <a:pt x="177254" y="145197"/>
                  <a:pt x="134347" y="167476"/>
                </a:cubicBezTo>
                <a:close/>
                <a:moveTo>
                  <a:pt x="155377" y="195292"/>
                </a:moveTo>
                <a:cubicBezTo>
                  <a:pt x="155377" y="195292"/>
                  <a:pt x="161851" y="200605"/>
                  <a:pt x="148277" y="204758"/>
                </a:cubicBezTo>
                <a:cubicBezTo>
                  <a:pt x="122426" y="212571"/>
                  <a:pt x="40764" y="214938"/>
                  <a:pt x="18083" y="205070"/>
                </a:cubicBezTo>
                <a:cubicBezTo>
                  <a:pt x="9912" y="201543"/>
                  <a:pt x="25226" y="196587"/>
                  <a:pt x="30048" y="195560"/>
                </a:cubicBezTo>
                <a:cubicBezTo>
                  <a:pt x="35049" y="194489"/>
                  <a:pt x="37951" y="194667"/>
                  <a:pt x="37951" y="194667"/>
                </a:cubicBezTo>
                <a:cubicBezTo>
                  <a:pt x="28888" y="188282"/>
                  <a:pt x="-20672" y="207213"/>
                  <a:pt x="12769" y="212616"/>
                </a:cubicBezTo>
                <a:cubicBezTo>
                  <a:pt x="103942" y="227439"/>
                  <a:pt x="179040" y="205963"/>
                  <a:pt x="155377" y="195292"/>
                </a:cubicBezTo>
                <a:close/>
                <a:moveTo>
                  <a:pt x="55587" y="176808"/>
                </a:moveTo>
                <a:cubicBezTo>
                  <a:pt x="20449" y="186630"/>
                  <a:pt x="76974" y="206901"/>
                  <a:pt x="121712" y="187747"/>
                </a:cubicBezTo>
                <a:cubicBezTo>
                  <a:pt x="117336" y="186050"/>
                  <a:pt x="113139" y="183996"/>
                  <a:pt x="109121" y="181585"/>
                </a:cubicBezTo>
                <a:cubicBezTo>
                  <a:pt x="89163" y="185380"/>
                  <a:pt x="79921" y="185648"/>
                  <a:pt x="61793" y="183594"/>
                </a:cubicBezTo>
                <a:cubicBezTo>
                  <a:pt x="46836" y="181898"/>
                  <a:pt x="55587" y="176808"/>
                  <a:pt x="55587" y="176808"/>
                </a:cubicBezTo>
                <a:close/>
                <a:moveTo>
                  <a:pt x="135865" y="220206"/>
                </a:moveTo>
                <a:cubicBezTo>
                  <a:pt x="100727" y="226814"/>
                  <a:pt x="57373" y="226055"/>
                  <a:pt x="31700" y="221813"/>
                </a:cubicBezTo>
                <a:cubicBezTo>
                  <a:pt x="31700" y="221769"/>
                  <a:pt x="36969" y="226144"/>
                  <a:pt x="64026" y="227886"/>
                </a:cubicBezTo>
                <a:cubicBezTo>
                  <a:pt x="105192" y="230520"/>
                  <a:pt x="168414" y="226412"/>
                  <a:pt x="169887" y="206946"/>
                </a:cubicBezTo>
                <a:cubicBezTo>
                  <a:pt x="169887" y="206946"/>
                  <a:pt x="167030" y="214313"/>
                  <a:pt x="135865" y="220206"/>
                </a:cubicBezTo>
                <a:close/>
                <a:moveTo>
                  <a:pt x="116398" y="157609"/>
                </a:moveTo>
                <a:cubicBezTo>
                  <a:pt x="89967" y="162699"/>
                  <a:pt x="74652" y="162565"/>
                  <a:pt x="55319" y="160556"/>
                </a:cubicBezTo>
                <a:cubicBezTo>
                  <a:pt x="40362" y="158993"/>
                  <a:pt x="50140" y="151760"/>
                  <a:pt x="50140" y="151760"/>
                </a:cubicBezTo>
                <a:cubicBezTo>
                  <a:pt x="11385" y="164619"/>
                  <a:pt x="71661" y="179174"/>
                  <a:pt x="125819" y="163324"/>
                </a:cubicBezTo>
                <a:cubicBezTo>
                  <a:pt x="122337" y="162074"/>
                  <a:pt x="119122" y="160154"/>
                  <a:pt x="116398" y="157609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9" name="Text 27"/>
          <p:cNvSpPr/>
          <p:nvPr/>
        </p:nvSpPr>
        <p:spPr>
          <a:xfrm>
            <a:off x="7029450" y="1600200"/>
            <a:ext cx="1390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后端技术栈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57950" y="228917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1" name="Text 29"/>
          <p:cNvSpPr/>
          <p:nvPr/>
        </p:nvSpPr>
        <p:spPr>
          <a:xfrm>
            <a:off x="6648450" y="2212972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Spring Boot 2.7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96600" y="2212972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10896600" y="2212972"/>
            <a:ext cx="7524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核心框架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48450" y="2517772"/>
            <a:ext cx="5010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基于Java 8的Spring Boot框架，提供依赖注入、AOP切面、事务管理等企业级特性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7950" y="32861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36" name="Text 34"/>
          <p:cNvSpPr/>
          <p:nvPr/>
        </p:nvSpPr>
        <p:spPr>
          <a:xfrm>
            <a:off x="6648450" y="3209925"/>
            <a:ext cx="1095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MyBatis-Plus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029950" y="3209925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133350" y="0"/>
                </a:moveTo>
                <a:lnTo>
                  <a:pt x="419100" y="0"/>
                </a:lnTo>
                <a:cubicBezTo>
                  <a:pt x="492698" y="0"/>
                  <a:pt x="552450" y="59752"/>
                  <a:pt x="552450" y="133350"/>
                </a:cubicBezTo>
                <a:lnTo>
                  <a:pt x="552450" y="133350"/>
                </a:lnTo>
                <a:cubicBezTo>
                  <a:pt x="552450" y="206948"/>
                  <a:pt x="492698" y="266700"/>
                  <a:pt x="4191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11029950" y="3209925"/>
            <a:ext cx="6191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持久层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48450" y="3514725"/>
            <a:ext cx="5010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强大的ORM框架，简化CRUD操作，支持分页查询、代码生成等高效开发特性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57950" y="428307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41" name="Text 39"/>
          <p:cNvSpPr/>
          <p:nvPr/>
        </p:nvSpPr>
        <p:spPr>
          <a:xfrm>
            <a:off x="6648450" y="4206873"/>
            <a:ext cx="1771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Spring Security + JWT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96600" y="4206873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10896600" y="4206873"/>
            <a:ext cx="7524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安全框架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48450" y="4511673"/>
            <a:ext cx="50101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基于JWT的无状态认证机制，支持分布式部署，提供细粒度的权限控制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4175" y="5222875"/>
            <a:ext cx="2740025" cy="1397000"/>
          </a:xfrm>
          <a:custGeom>
            <a:avLst/>
            <a:gdLst/>
            <a:ahLst/>
            <a:cxnLst/>
            <a:rect l="l" t="t" r="r" b="b"/>
            <a:pathLst>
              <a:path w="2740025" h="1397000">
                <a:moveTo>
                  <a:pt x="114303" y="0"/>
                </a:moveTo>
                <a:lnTo>
                  <a:pt x="2625722" y="0"/>
                </a:lnTo>
                <a:cubicBezTo>
                  <a:pt x="2688850" y="0"/>
                  <a:pt x="2740025" y="51175"/>
                  <a:pt x="2740025" y="114303"/>
                </a:cubicBezTo>
                <a:lnTo>
                  <a:pt x="2740025" y="1282697"/>
                </a:lnTo>
                <a:cubicBezTo>
                  <a:pt x="2740025" y="1345825"/>
                  <a:pt x="2688850" y="1397000"/>
                  <a:pt x="2625722" y="1397000"/>
                </a:cubicBezTo>
                <a:lnTo>
                  <a:pt x="114303" y="1397000"/>
                </a:lnTo>
                <a:cubicBezTo>
                  <a:pt x="51175" y="1397000"/>
                  <a:pt x="0" y="1345825"/>
                  <a:pt x="0" y="12826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3563" y="54165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47" name="Text 45"/>
          <p:cNvSpPr/>
          <p:nvPr/>
        </p:nvSpPr>
        <p:spPr>
          <a:xfrm>
            <a:off x="854075" y="5378448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HttpClient 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9750" y="5721348"/>
            <a:ext cx="25050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高性能HTTP客户端，支持连接池、异步请求、流式处理，确保路由转发的高吞吐和低延迟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79775" y="5222875"/>
            <a:ext cx="2740025" cy="1397000"/>
          </a:xfrm>
          <a:custGeom>
            <a:avLst/>
            <a:gdLst/>
            <a:ahLst/>
            <a:cxnLst/>
            <a:rect l="l" t="t" r="r" b="b"/>
            <a:pathLst>
              <a:path w="2740025" h="1397000">
                <a:moveTo>
                  <a:pt x="114303" y="0"/>
                </a:moveTo>
                <a:lnTo>
                  <a:pt x="2625722" y="0"/>
                </a:lnTo>
                <a:cubicBezTo>
                  <a:pt x="2688850" y="0"/>
                  <a:pt x="2740025" y="51175"/>
                  <a:pt x="2740025" y="114303"/>
                </a:cubicBezTo>
                <a:lnTo>
                  <a:pt x="2740025" y="1282697"/>
                </a:lnTo>
                <a:cubicBezTo>
                  <a:pt x="2740025" y="1345825"/>
                  <a:pt x="2688850" y="1397000"/>
                  <a:pt x="2625722" y="1397000"/>
                </a:cubicBezTo>
                <a:lnTo>
                  <a:pt x="114303" y="1397000"/>
                </a:lnTo>
                <a:cubicBezTo>
                  <a:pt x="51175" y="1397000"/>
                  <a:pt x="0" y="1345825"/>
                  <a:pt x="0" y="12826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E5A04C">
              <a:alpha val="10196"/>
            </a:srgbClr>
          </a:solidFill>
          <a:ln w="8467">
            <a:solidFill>
              <a:srgbClr val="E5A04C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47256" y="541654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1" name="Text 49"/>
          <p:cNvSpPr/>
          <p:nvPr/>
        </p:nvSpPr>
        <p:spPr>
          <a:xfrm>
            <a:off x="3749675" y="5378448"/>
            <a:ext cx="714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Jackson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435350" y="5721348"/>
            <a:ext cx="25050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高性能JSON处理库，支持复杂对象的序列化与反序列化，提供灵活的数据绑定能力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5375" y="5222875"/>
            <a:ext cx="2740025" cy="1397000"/>
          </a:xfrm>
          <a:custGeom>
            <a:avLst/>
            <a:gdLst/>
            <a:ahLst/>
            <a:cxnLst/>
            <a:rect l="l" t="t" r="r" b="b"/>
            <a:pathLst>
              <a:path w="2740025" h="1397000">
                <a:moveTo>
                  <a:pt x="114303" y="0"/>
                </a:moveTo>
                <a:lnTo>
                  <a:pt x="2625722" y="0"/>
                </a:lnTo>
                <a:cubicBezTo>
                  <a:pt x="2688850" y="0"/>
                  <a:pt x="2740025" y="51175"/>
                  <a:pt x="2740025" y="114303"/>
                </a:cubicBezTo>
                <a:lnTo>
                  <a:pt x="2740025" y="1282697"/>
                </a:lnTo>
                <a:cubicBezTo>
                  <a:pt x="2740025" y="1345825"/>
                  <a:pt x="2688850" y="1397000"/>
                  <a:pt x="2625722" y="1397000"/>
                </a:cubicBezTo>
                <a:lnTo>
                  <a:pt x="114303" y="1397000"/>
                </a:lnTo>
                <a:cubicBezTo>
                  <a:pt x="51175" y="1397000"/>
                  <a:pt x="0" y="1345825"/>
                  <a:pt x="0" y="12826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8467">
            <a:solidFill>
              <a:srgbClr val="4A5462">
                <a:alpha val="5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66669" y="541654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5" name="Text 53"/>
          <p:cNvSpPr/>
          <p:nvPr/>
        </p:nvSpPr>
        <p:spPr>
          <a:xfrm>
            <a:off x="6645275" y="5378448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 5.7+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30950" y="5721348"/>
            <a:ext cx="25050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可靠的关系型数据库，存储路由配置、日志记录、用户权限等核心数据，支持高并发读写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70975" y="5222875"/>
            <a:ext cx="2740025" cy="1397000"/>
          </a:xfrm>
          <a:custGeom>
            <a:avLst/>
            <a:gdLst/>
            <a:ahLst/>
            <a:cxnLst/>
            <a:rect l="l" t="t" r="r" b="b"/>
            <a:pathLst>
              <a:path w="2740025" h="1397000">
                <a:moveTo>
                  <a:pt x="114303" y="0"/>
                </a:moveTo>
                <a:lnTo>
                  <a:pt x="2625722" y="0"/>
                </a:lnTo>
                <a:cubicBezTo>
                  <a:pt x="2688850" y="0"/>
                  <a:pt x="2740025" y="51175"/>
                  <a:pt x="2740025" y="114303"/>
                </a:cubicBezTo>
                <a:lnTo>
                  <a:pt x="2740025" y="1282697"/>
                </a:lnTo>
                <a:cubicBezTo>
                  <a:pt x="2740025" y="1345825"/>
                  <a:pt x="2688850" y="1397000"/>
                  <a:pt x="2625722" y="1397000"/>
                </a:cubicBezTo>
                <a:lnTo>
                  <a:pt x="114303" y="1397000"/>
                </a:lnTo>
                <a:cubicBezTo>
                  <a:pt x="51175" y="1397000"/>
                  <a:pt x="0" y="1345825"/>
                  <a:pt x="0" y="12826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74175" y="541654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59" name="Text 57"/>
          <p:cNvSpPr/>
          <p:nvPr/>
        </p:nvSpPr>
        <p:spPr>
          <a:xfrm>
            <a:off x="9540875" y="5378448"/>
            <a:ext cx="762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Swagger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226550" y="5721348"/>
            <a:ext cx="25050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自动生成API文档，提供在线接口测试能力，简化前后端协作和第三方系统集成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2ff82a77f1822f271cd45db1c7d8586ae428bfb3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180" r="18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3C8082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76477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8082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57411" y="993377"/>
            <a:ext cx="7905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85900" y="1202927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7" name="Text 4"/>
          <p:cNvSpPr/>
          <p:nvPr/>
        </p:nvSpPr>
        <p:spPr>
          <a:xfrm>
            <a:off x="381000" y="1983977"/>
            <a:ext cx="796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核心功能模块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A04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四大引擎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003277"/>
            <a:ext cx="77628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构建企业级数据流转的核心能力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175" y="4927995"/>
            <a:ext cx="2454275" cy="501650"/>
          </a:xfrm>
          <a:custGeom>
            <a:avLst/>
            <a:gdLst/>
            <a:ahLst/>
            <a:cxnLst/>
            <a:rect l="l" t="t" r="r" b="b"/>
            <a:pathLst>
              <a:path w="2454275" h="501650">
                <a:moveTo>
                  <a:pt x="76201" y="0"/>
                </a:moveTo>
                <a:lnTo>
                  <a:pt x="2378074" y="0"/>
                </a:lnTo>
                <a:cubicBezTo>
                  <a:pt x="2420131" y="0"/>
                  <a:pt x="2454275" y="34144"/>
                  <a:pt x="2454275" y="76201"/>
                </a:cubicBezTo>
                <a:lnTo>
                  <a:pt x="2454275" y="425449"/>
                </a:lnTo>
                <a:cubicBezTo>
                  <a:pt x="2454275" y="467506"/>
                  <a:pt x="2420131" y="501650"/>
                  <a:pt x="2378074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C8082">
              <a:alpha val="40000"/>
            </a:srgbClr>
          </a:solidFill>
          <a:ln w="8467">
            <a:solidFill>
              <a:srgbClr val="3C8082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7850" y="5064519"/>
            <a:ext cx="1114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智能路由引擎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00276" y="4927995"/>
            <a:ext cx="2454275" cy="501650"/>
          </a:xfrm>
          <a:custGeom>
            <a:avLst/>
            <a:gdLst/>
            <a:ahLst/>
            <a:cxnLst/>
            <a:rect l="l" t="t" r="r" b="b"/>
            <a:pathLst>
              <a:path w="2454275" h="501650">
                <a:moveTo>
                  <a:pt x="76201" y="0"/>
                </a:moveTo>
                <a:lnTo>
                  <a:pt x="2378074" y="0"/>
                </a:lnTo>
                <a:cubicBezTo>
                  <a:pt x="2420131" y="0"/>
                  <a:pt x="2454275" y="34144"/>
                  <a:pt x="2454275" y="76201"/>
                </a:cubicBezTo>
                <a:lnTo>
                  <a:pt x="2454275" y="425449"/>
                </a:lnTo>
                <a:cubicBezTo>
                  <a:pt x="2454275" y="467506"/>
                  <a:pt x="2420131" y="501650"/>
                  <a:pt x="2378074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E5A04C">
              <a:alpha val="40000"/>
            </a:srgbClr>
          </a:solidFill>
          <a:ln w="8467">
            <a:solidFill>
              <a:srgbClr val="E5A04C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93951" y="5064519"/>
            <a:ext cx="1114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数据转换引擎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4175" y="5588397"/>
            <a:ext cx="2454275" cy="501650"/>
          </a:xfrm>
          <a:custGeom>
            <a:avLst/>
            <a:gdLst/>
            <a:ahLst/>
            <a:cxnLst/>
            <a:rect l="l" t="t" r="r" b="b"/>
            <a:pathLst>
              <a:path w="2454275" h="501650">
                <a:moveTo>
                  <a:pt x="76201" y="0"/>
                </a:moveTo>
                <a:lnTo>
                  <a:pt x="2378074" y="0"/>
                </a:lnTo>
                <a:cubicBezTo>
                  <a:pt x="2420131" y="0"/>
                  <a:pt x="2454275" y="34144"/>
                  <a:pt x="2454275" y="76201"/>
                </a:cubicBezTo>
                <a:lnTo>
                  <a:pt x="2454275" y="425449"/>
                </a:lnTo>
                <a:cubicBezTo>
                  <a:pt x="2454275" y="467506"/>
                  <a:pt x="2420131" y="501650"/>
                  <a:pt x="2378074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8467">
            <a:solidFill>
              <a:srgbClr val="4A5462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7850" y="5724920"/>
            <a:ext cx="1114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可观测性引擎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000276" y="5588397"/>
            <a:ext cx="2454275" cy="501650"/>
          </a:xfrm>
          <a:custGeom>
            <a:avLst/>
            <a:gdLst/>
            <a:ahLst/>
            <a:cxnLst/>
            <a:rect l="l" t="t" r="r" b="b"/>
            <a:pathLst>
              <a:path w="2454275" h="501650">
                <a:moveTo>
                  <a:pt x="76201" y="0"/>
                </a:moveTo>
                <a:lnTo>
                  <a:pt x="2378074" y="0"/>
                </a:lnTo>
                <a:cubicBezTo>
                  <a:pt x="2420131" y="0"/>
                  <a:pt x="2454275" y="34144"/>
                  <a:pt x="2454275" y="76201"/>
                </a:cubicBezTo>
                <a:lnTo>
                  <a:pt x="2454275" y="425449"/>
                </a:lnTo>
                <a:cubicBezTo>
                  <a:pt x="2454275" y="467506"/>
                  <a:pt x="2420131" y="501650"/>
                  <a:pt x="2378074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E5A04C">
              <a:alpha val="40000"/>
            </a:srgbClr>
          </a:solidFill>
          <a:ln w="8467">
            <a:solidFill>
              <a:srgbClr val="E5A04C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93951" y="5724920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开发者套件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610" y="339610"/>
            <a:ext cx="33961" cy="339610"/>
          </a:xfrm>
          <a:custGeom>
            <a:avLst/>
            <a:gdLst/>
            <a:ahLst/>
            <a:cxnLst/>
            <a:rect l="l" t="t" r="r" b="b"/>
            <a:pathLst>
              <a:path w="33961" h="339610">
                <a:moveTo>
                  <a:pt x="16981" y="0"/>
                </a:moveTo>
                <a:lnTo>
                  <a:pt x="16981" y="0"/>
                </a:lnTo>
                <a:cubicBezTo>
                  <a:pt x="26359" y="0"/>
                  <a:pt x="33961" y="7602"/>
                  <a:pt x="33961" y="16981"/>
                </a:cubicBezTo>
                <a:lnTo>
                  <a:pt x="33961" y="322630"/>
                </a:lnTo>
                <a:cubicBezTo>
                  <a:pt x="33961" y="332008"/>
                  <a:pt x="26359" y="339610"/>
                  <a:pt x="16981" y="339610"/>
                </a:cubicBezTo>
                <a:lnTo>
                  <a:pt x="16981" y="339610"/>
                </a:lnTo>
                <a:cubicBezTo>
                  <a:pt x="7602" y="339610"/>
                  <a:pt x="0" y="332008"/>
                  <a:pt x="0" y="322630"/>
                </a:cubicBezTo>
                <a:lnTo>
                  <a:pt x="0" y="16981"/>
                </a:lnTo>
                <a:cubicBezTo>
                  <a:pt x="0" y="7602"/>
                  <a:pt x="7602" y="0"/>
                  <a:pt x="16981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" name="Text 1"/>
          <p:cNvSpPr/>
          <p:nvPr/>
        </p:nvSpPr>
        <p:spPr>
          <a:xfrm>
            <a:off x="475454" y="339610"/>
            <a:ext cx="5136779" cy="33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5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智能路由引擎：动态代理与精确分发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9415" y="747142"/>
            <a:ext cx="11419387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Intelligent Routing Engine: Dynamic Proxy &amp; Precision Distribution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591" y="1154674"/>
            <a:ext cx="7547833" cy="1587677"/>
          </a:xfrm>
          <a:custGeom>
            <a:avLst/>
            <a:gdLst/>
            <a:ahLst/>
            <a:cxnLst/>
            <a:rect l="l" t="t" r="r" b="b"/>
            <a:pathLst>
              <a:path w="7547833" h="1587677">
                <a:moveTo>
                  <a:pt x="33961" y="0"/>
                </a:moveTo>
                <a:lnTo>
                  <a:pt x="7445952" y="0"/>
                </a:lnTo>
                <a:cubicBezTo>
                  <a:pt x="7502219" y="0"/>
                  <a:pt x="7547833" y="45614"/>
                  <a:pt x="7547833" y="101881"/>
                </a:cubicBezTo>
                <a:lnTo>
                  <a:pt x="7547833" y="1485796"/>
                </a:lnTo>
                <a:cubicBezTo>
                  <a:pt x="7547833" y="1542063"/>
                  <a:pt x="7502219" y="1587677"/>
                  <a:pt x="7445952" y="1587677"/>
                </a:cubicBezTo>
                <a:lnTo>
                  <a:pt x="33961" y="1587677"/>
                </a:lnTo>
                <a:cubicBezTo>
                  <a:pt x="15205" y="1587677"/>
                  <a:pt x="0" y="1572472"/>
                  <a:pt x="0" y="1553716"/>
                </a:cubicBezTo>
                <a:lnTo>
                  <a:pt x="0" y="33961"/>
                </a:lnTo>
                <a:cubicBezTo>
                  <a:pt x="0" y="15217"/>
                  <a:pt x="15217" y="0"/>
                  <a:pt x="33961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356591" y="1154674"/>
            <a:ext cx="33961" cy="1587677"/>
          </a:xfrm>
          <a:custGeom>
            <a:avLst/>
            <a:gdLst/>
            <a:ahLst/>
            <a:cxnLst/>
            <a:rect l="l" t="t" r="r" b="b"/>
            <a:pathLst>
              <a:path w="33961" h="1587677">
                <a:moveTo>
                  <a:pt x="33961" y="0"/>
                </a:moveTo>
                <a:lnTo>
                  <a:pt x="33961" y="0"/>
                </a:lnTo>
                <a:lnTo>
                  <a:pt x="33961" y="1587677"/>
                </a:lnTo>
                <a:lnTo>
                  <a:pt x="33961" y="1587677"/>
                </a:lnTo>
                <a:cubicBezTo>
                  <a:pt x="15205" y="1587677"/>
                  <a:pt x="0" y="1572472"/>
                  <a:pt x="0" y="1553716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7" name="Shape 5"/>
          <p:cNvSpPr/>
          <p:nvPr/>
        </p:nvSpPr>
        <p:spPr>
          <a:xfrm>
            <a:off x="543376" y="1324479"/>
            <a:ext cx="475454" cy="475454"/>
          </a:xfrm>
          <a:custGeom>
            <a:avLst/>
            <a:gdLst/>
            <a:ahLst/>
            <a:cxnLst/>
            <a:rect l="l" t="t" r="r" b="b"/>
            <a:pathLst>
              <a:path w="475454" h="475454">
                <a:moveTo>
                  <a:pt x="101885" y="0"/>
                </a:moveTo>
                <a:lnTo>
                  <a:pt x="373569" y="0"/>
                </a:lnTo>
                <a:cubicBezTo>
                  <a:pt x="429839" y="0"/>
                  <a:pt x="475454" y="45615"/>
                  <a:pt x="475454" y="101885"/>
                </a:cubicBezTo>
                <a:lnTo>
                  <a:pt x="475454" y="373569"/>
                </a:lnTo>
                <a:cubicBezTo>
                  <a:pt x="475454" y="429839"/>
                  <a:pt x="429839" y="475454"/>
                  <a:pt x="373569" y="475454"/>
                </a:cubicBezTo>
                <a:lnTo>
                  <a:pt x="101885" y="475454"/>
                </a:lnTo>
                <a:cubicBezTo>
                  <a:pt x="45615" y="475454"/>
                  <a:pt x="0" y="429839"/>
                  <a:pt x="0" y="373569"/>
                </a:cubicBezTo>
                <a:lnTo>
                  <a:pt x="0" y="101885"/>
                </a:lnTo>
                <a:cubicBezTo>
                  <a:pt x="0" y="45653"/>
                  <a:pt x="45653" y="0"/>
                  <a:pt x="101885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79220" y="1460323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01883" y="42942"/>
                </a:moveTo>
                <a:lnTo>
                  <a:pt x="95913" y="34664"/>
                </a:lnTo>
                <a:cubicBezTo>
                  <a:pt x="85964" y="20894"/>
                  <a:pt x="70005" y="12735"/>
                  <a:pt x="52971" y="12735"/>
                </a:cubicBezTo>
                <a:cubicBezTo>
                  <a:pt x="23720" y="12735"/>
                  <a:pt x="0" y="36455"/>
                  <a:pt x="0" y="65707"/>
                </a:cubicBezTo>
                <a:lnTo>
                  <a:pt x="0" y="66741"/>
                </a:lnTo>
                <a:cubicBezTo>
                  <a:pt x="0" y="76134"/>
                  <a:pt x="2467" y="85844"/>
                  <a:pt x="6606" y="95515"/>
                </a:cubicBezTo>
                <a:lnTo>
                  <a:pt x="48792" y="95515"/>
                </a:lnTo>
                <a:cubicBezTo>
                  <a:pt x="50066" y="95515"/>
                  <a:pt x="51220" y="94759"/>
                  <a:pt x="51737" y="93565"/>
                </a:cubicBezTo>
                <a:lnTo>
                  <a:pt x="64393" y="63199"/>
                </a:lnTo>
                <a:cubicBezTo>
                  <a:pt x="65866" y="59697"/>
                  <a:pt x="69288" y="57389"/>
                  <a:pt x="73069" y="57309"/>
                </a:cubicBezTo>
                <a:cubicBezTo>
                  <a:pt x="76850" y="57230"/>
                  <a:pt x="80352" y="59458"/>
                  <a:pt x="81904" y="62921"/>
                </a:cubicBezTo>
                <a:lnTo>
                  <a:pt x="102321" y="108251"/>
                </a:lnTo>
                <a:lnTo>
                  <a:pt x="118797" y="75298"/>
                </a:lnTo>
                <a:cubicBezTo>
                  <a:pt x="120429" y="72074"/>
                  <a:pt x="123732" y="70005"/>
                  <a:pt x="127354" y="70005"/>
                </a:cubicBezTo>
                <a:cubicBezTo>
                  <a:pt x="130975" y="70005"/>
                  <a:pt x="134279" y="72034"/>
                  <a:pt x="135910" y="75298"/>
                </a:cubicBezTo>
                <a:lnTo>
                  <a:pt x="145143" y="93724"/>
                </a:lnTo>
                <a:cubicBezTo>
                  <a:pt x="145701" y="94799"/>
                  <a:pt x="146775" y="95476"/>
                  <a:pt x="148009" y="95476"/>
                </a:cubicBezTo>
                <a:lnTo>
                  <a:pt x="197199" y="95476"/>
                </a:lnTo>
                <a:cubicBezTo>
                  <a:pt x="201378" y="85805"/>
                  <a:pt x="203806" y="76094"/>
                  <a:pt x="203806" y="66702"/>
                </a:cubicBezTo>
                <a:lnTo>
                  <a:pt x="203806" y="65667"/>
                </a:lnTo>
                <a:cubicBezTo>
                  <a:pt x="203766" y="36455"/>
                  <a:pt x="180046" y="12735"/>
                  <a:pt x="150795" y="12735"/>
                </a:cubicBezTo>
                <a:cubicBezTo>
                  <a:pt x="133801" y="12735"/>
                  <a:pt x="117802" y="20894"/>
                  <a:pt x="107853" y="34664"/>
                </a:cubicBezTo>
                <a:lnTo>
                  <a:pt x="101883" y="42902"/>
                </a:lnTo>
                <a:close/>
                <a:moveTo>
                  <a:pt x="186892" y="114618"/>
                </a:moveTo>
                <a:lnTo>
                  <a:pt x="147969" y="114618"/>
                </a:lnTo>
                <a:cubicBezTo>
                  <a:pt x="139532" y="114618"/>
                  <a:pt x="131811" y="109843"/>
                  <a:pt x="128030" y="102281"/>
                </a:cubicBezTo>
                <a:lnTo>
                  <a:pt x="127354" y="100928"/>
                </a:lnTo>
                <a:lnTo>
                  <a:pt x="110440" y="134796"/>
                </a:lnTo>
                <a:cubicBezTo>
                  <a:pt x="108808" y="138099"/>
                  <a:pt x="105385" y="140169"/>
                  <a:pt x="101684" y="140089"/>
                </a:cubicBezTo>
                <a:cubicBezTo>
                  <a:pt x="97983" y="140010"/>
                  <a:pt x="94680" y="137821"/>
                  <a:pt x="93167" y="134478"/>
                </a:cubicBezTo>
                <a:lnTo>
                  <a:pt x="73547" y="90899"/>
                </a:lnTo>
                <a:lnTo>
                  <a:pt x="69368" y="100928"/>
                </a:lnTo>
                <a:cubicBezTo>
                  <a:pt x="65906" y="109246"/>
                  <a:pt x="57787" y="114658"/>
                  <a:pt x="48792" y="114658"/>
                </a:cubicBezTo>
                <a:lnTo>
                  <a:pt x="16874" y="114658"/>
                </a:lnTo>
                <a:cubicBezTo>
                  <a:pt x="35659" y="144029"/>
                  <a:pt x="65826" y="171052"/>
                  <a:pt x="84690" y="185459"/>
                </a:cubicBezTo>
                <a:cubicBezTo>
                  <a:pt x="89625" y="189200"/>
                  <a:pt x="95675" y="191070"/>
                  <a:pt x="101843" y="191070"/>
                </a:cubicBezTo>
                <a:cubicBezTo>
                  <a:pt x="108012" y="191070"/>
                  <a:pt x="114101" y="189240"/>
                  <a:pt x="118996" y="185459"/>
                </a:cubicBezTo>
                <a:cubicBezTo>
                  <a:pt x="137940" y="171012"/>
                  <a:pt x="168107" y="143989"/>
                  <a:pt x="186892" y="114618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9" name="Text 7"/>
          <p:cNvSpPr/>
          <p:nvPr/>
        </p:nvSpPr>
        <p:spPr>
          <a:xfrm>
            <a:off x="1154674" y="1324479"/>
            <a:ext cx="6681827" cy="271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5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Connector的心脏：动态代理引擎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4674" y="1698050"/>
            <a:ext cx="6656357" cy="500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Connector的核心是一个</a:t>
            </a:r>
            <a:r>
              <a:rPr lang="en-US" sz="1205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高性能的动态代理引擎</a:t>
            </a:r>
            <a:r>
              <a:rPr lang="en-US" sz="120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。它接管了</a:t>
            </a:r>
            <a:r>
              <a:rPr lang="en-US" sz="120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/connector/proxy/**</a:t>
            </a:r>
            <a:r>
              <a:rPr lang="en-US" sz="120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下的所有流量，并根据配置规则进行精确分发。这个引擎经过深度优化，支持高并发场景下的低延迟转发。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54674" y="2296613"/>
            <a:ext cx="611298" cy="271688"/>
          </a:xfrm>
          <a:custGeom>
            <a:avLst/>
            <a:gdLst/>
            <a:ahLst/>
            <a:cxnLst/>
            <a:rect l="l" t="t" r="r" b="b"/>
            <a:pathLst>
              <a:path w="611298" h="271688">
                <a:moveTo>
                  <a:pt x="135844" y="0"/>
                </a:moveTo>
                <a:lnTo>
                  <a:pt x="475454" y="0"/>
                </a:lnTo>
                <a:cubicBezTo>
                  <a:pt x="550479" y="0"/>
                  <a:pt x="611298" y="60819"/>
                  <a:pt x="611298" y="135844"/>
                </a:cubicBezTo>
                <a:lnTo>
                  <a:pt x="611298" y="135844"/>
                </a:lnTo>
                <a:cubicBezTo>
                  <a:pt x="611298" y="210869"/>
                  <a:pt x="550479" y="271688"/>
                  <a:pt x="475454" y="271688"/>
                </a:cubicBezTo>
                <a:lnTo>
                  <a:pt x="135844" y="271688"/>
                </a:lnTo>
                <a:cubicBezTo>
                  <a:pt x="60819" y="271688"/>
                  <a:pt x="0" y="210869"/>
                  <a:pt x="0" y="135844"/>
                </a:cubicBezTo>
                <a:lnTo>
                  <a:pt x="0" y="135844"/>
                </a:lnTo>
                <a:cubicBezTo>
                  <a:pt x="0" y="60819"/>
                  <a:pt x="60819" y="0"/>
                  <a:pt x="135844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154674" y="2296613"/>
            <a:ext cx="679220" cy="271688"/>
          </a:xfrm>
          <a:prstGeom prst="rect">
            <a:avLst/>
          </a:prstGeom>
          <a:noFill/>
        </p:spPr>
        <p:txBody>
          <a:bodyPr wrap="square" lIns="101883" tIns="33961" rIns="101883" bIns="33961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高并发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67855" y="2296613"/>
            <a:ext cx="611298" cy="271688"/>
          </a:xfrm>
          <a:custGeom>
            <a:avLst/>
            <a:gdLst/>
            <a:ahLst/>
            <a:cxnLst/>
            <a:rect l="l" t="t" r="r" b="b"/>
            <a:pathLst>
              <a:path w="611298" h="271688">
                <a:moveTo>
                  <a:pt x="135844" y="0"/>
                </a:moveTo>
                <a:lnTo>
                  <a:pt x="475454" y="0"/>
                </a:lnTo>
                <a:cubicBezTo>
                  <a:pt x="550479" y="0"/>
                  <a:pt x="611298" y="60819"/>
                  <a:pt x="611298" y="135844"/>
                </a:cubicBezTo>
                <a:lnTo>
                  <a:pt x="611298" y="135844"/>
                </a:lnTo>
                <a:cubicBezTo>
                  <a:pt x="611298" y="210869"/>
                  <a:pt x="550479" y="271688"/>
                  <a:pt x="475454" y="271688"/>
                </a:cubicBezTo>
                <a:lnTo>
                  <a:pt x="135844" y="271688"/>
                </a:lnTo>
                <a:cubicBezTo>
                  <a:pt x="60819" y="271688"/>
                  <a:pt x="0" y="210869"/>
                  <a:pt x="0" y="135844"/>
                </a:cubicBezTo>
                <a:lnTo>
                  <a:pt x="0" y="135844"/>
                </a:lnTo>
                <a:cubicBezTo>
                  <a:pt x="0" y="60819"/>
                  <a:pt x="60819" y="0"/>
                  <a:pt x="135844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867855" y="2296613"/>
            <a:ext cx="679220" cy="271688"/>
          </a:xfrm>
          <a:prstGeom prst="rect">
            <a:avLst/>
          </a:prstGeom>
          <a:noFill/>
        </p:spPr>
        <p:txBody>
          <a:bodyPr wrap="square" lIns="101883" tIns="33961" rIns="101883" bIns="33961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低延迟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81036" y="2296613"/>
            <a:ext cx="611298" cy="271688"/>
          </a:xfrm>
          <a:custGeom>
            <a:avLst/>
            <a:gdLst/>
            <a:ahLst/>
            <a:cxnLst/>
            <a:rect l="l" t="t" r="r" b="b"/>
            <a:pathLst>
              <a:path w="611298" h="271688">
                <a:moveTo>
                  <a:pt x="135844" y="0"/>
                </a:moveTo>
                <a:lnTo>
                  <a:pt x="475454" y="0"/>
                </a:lnTo>
                <a:cubicBezTo>
                  <a:pt x="550479" y="0"/>
                  <a:pt x="611298" y="60819"/>
                  <a:pt x="611298" y="135844"/>
                </a:cubicBezTo>
                <a:lnTo>
                  <a:pt x="611298" y="135844"/>
                </a:lnTo>
                <a:cubicBezTo>
                  <a:pt x="611298" y="210869"/>
                  <a:pt x="550479" y="271688"/>
                  <a:pt x="475454" y="271688"/>
                </a:cubicBezTo>
                <a:lnTo>
                  <a:pt x="135844" y="271688"/>
                </a:lnTo>
                <a:cubicBezTo>
                  <a:pt x="60819" y="271688"/>
                  <a:pt x="0" y="210869"/>
                  <a:pt x="0" y="135844"/>
                </a:cubicBezTo>
                <a:lnTo>
                  <a:pt x="0" y="135844"/>
                </a:lnTo>
                <a:cubicBezTo>
                  <a:pt x="0" y="60819"/>
                  <a:pt x="60819" y="0"/>
                  <a:pt x="135844" y="0"/>
                </a:cubicBezTo>
                <a:close/>
              </a:path>
            </a:pathLst>
          </a:custGeom>
          <a:solidFill>
            <a:srgbClr val="4A5462">
              <a:alpha val="5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2581036" y="2296613"/>
            <a:ext cx="679220" cy="271688"/>
          </a:xfrm>
          <a:prstGeom prst="rect">
            <a:avLst/>
          </a:prstGeom>
          <a:noFill/>
        </p:spPr>
        <p:txBody>
          <a:bodyPr wrap="square" lIns="101883" tIns="33961" rIns="101883" bIns="33961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高可用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2440" y="2876780"/>
            <a:ext cx="2425382" cy="1805593"/>
          </a:xfrm>
          <a:custGeom>
            <a:avLst/>
            <a:gdLst/>
            <a:ahLst/>
            <a:cxnLst/>
            <a:rect l="l" t="t" r="r" b="b"/>
            <a:pathLst>
              <a:path w="2425382" h="1805593">
                <a:moveTo>
                  <a:pt x="101890" y="0"/>
                </a:moveTo>
                <a:lnTo>
                  <a:pt x="2323492" y="0"/>
                </a:lnTo>
                <a:cubicBezTo>
                  <a:pt x="2379764" y="0"/>
                  <a:pt x="2425382" y="45618"/>
                  <a:pt x="2425382" y="101890"/>
                </a:cubicBezTo>
                <a:lnTo>
                  <a:pt x="2425382" y="1703704"/>
                </a:lnTo>
                <a:cubicBezTo>
                  <a:pt x="2425382" y="1759976"/>
                  <a:pt x="2379764" y="1805593"/>
                  <a:pt x="2323492" y="1805593"/>
                </a:cubicBezTo>
                <a:lnTo>
                  <a:pt x="101890" y="1805593"/>
                </a:lnTo>
                <a:cubicBezTo>
                  <a:pt x="45618" y="1805593"/>
                  <a:pt x="0" y="1759976"/>
                  <a:pt x="0" y="1703704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  <a:ln w="8467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114" y="3015453"/>
            <a:ext cx="339610" cy="339610"/>
          </a:xfrm>
          <a:custGeom>
            <a:avLst/>
            <a:gdLst/>
            <a:ahLst/>
            <a:cxnLst/>
            <a:rect l="l" t="t" r="r" b="b"/>
            <a:pathLst>
              <a:path w="339610" h="339610">
                <a:moveTo>
                  <a:pt x="67922" y="0"/>
                </a:moveTo>
                <a:lnTo>
                  <a:pt x="271688" y="0"/>
                </a:lnTo>
                <a:cubicBezTo>
                  <a:pt x="309200" y="0"/>
                  <a:pt x="339610" y="30410"/>
                  <a:pt x="339610" y="67922"/>
                </a:cubicBezTo>
                <a:lnTo>
                  <a:pt x="339610" y="271688"/>
                </a:lnTo>
                <a:cubicBezTo>
                  <a:pt x="339610" y="309200"/>
                  <a:pt x="309200" y="339610"/>
                  <a:pt x="271688" y="339610"/>
                </a:cubicBezTo>
                <a:lnTo>
                  <a:pt x="67922" y="339610"/>
                </a:lnTo>
                <a:cubicBezTo>
                  <a:pt x="30410" y="339610"/>
                  <a:pt x="0" y="309200"/>
                  <a:pt x="0" y="271688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76630" y="3100355"/>
            <a:ext cx="148579" cy="169805"/>
          </a:xfrm>
          <a:custGeom>
            <a:avLst/>
            <a:gdLst/>
            <a:ahLst/>
            <a:cxnLst/>
            <a:rect l="l" t="t" r="r" b="b"/>
            <a:pathLst>
              <a:path w="148579" h="169805">
                <a:moveTo>
                  <a:pt x="112363" y="-3283"/>
                </a:moveTo>
                <a:cubicBezTo>
                  <a:pt x="116310" y="-431"/>
                  <a:pt x="117769" y="4743"/>
                  <a:pt x="115978" y="9253"/>
                </a:cubicBezTo>
                <a:lnTo>
                  <a:pt x="89977" y="74290"/>
                </a:lnTo>
                <a:lnTo>
                  <a:pt x="137967" y="74290"/>
                </a:lnTo>
                <a:cubicBezTo>
                  <a:pt x="142444" y="74290"/>
                  <a:pt x="146424" y="77076"/>
                  <a:pt x="147949" y="81288"/>
                </a:cubicBezTo>
                <a:cubicBezTo>
                  <a:pt x="149475" y="85499"/>
                  <a:pt x="148181" y="90209"/>
                  <a:pt x="144765" y="93061"/>
                </a:cubicBezTo>
                <a:lnTo>
                  <a:pt x="49250" y="172657"/>
                </a:lnTo>
                <a:cubicBezTo>
                  <a:pt x="45502" y="175775"/>
                  <a:pt x="40163" y="175941"/>
                  <a:pt x="36216" y="173088"/>
                </a:cubicBezTo>
                <a:cubicBezTo>
                  <a:pt x="32270" y="170236"/>
                  <a:pt x="30810" y="165062"/>
                  <a:pt x="32601" y="160552"/>
                </a:cubicBezTo>
                <a:lnTo>
                  <a:pt x="58603" y="95515"/>
                </a:lnTo>
                <a:lnTo>
                  <a:pt x="10613" y="95515"/>
                </a:lnTo>
                <a:cubicBezTo>
                  <a:pt x="6136" y="95515"/>
                  <a:pt x="2156" y="92729"/>
                  <a:pt x="630" y="88517"/>
                </a:cubicBezTo>
                <a:cubicBezTo>
                  <a:pt x="-895" y="84306"/>
                  <a:pt x="398" y="79596"/>
                  <a:pt x="3814" y="76744"/>
                </a:cubicBezTo>
                <a:lnTo>
                  <a:pt x="99329" y="-2852"/>
                </a:lnTo>
                <a:cubicBezTo>
                  <a:pt x="103077" y="-5970"/>
                  <a:pt x="108417" y="-6136"/>
                  <a:pt x="112363" y="-328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0" name="Text 18"/>
          <p:cNvSpPr/>
          <p:nvPr/>
        </p:nvSpPr>
        <p:spPr>
          <a:xfrm>
            <a:off x="888365" y="3066415"/>
            <a:ext cx="877570" cy="237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动态代理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1114" y="3456946"/>
            <a:ext cx="2215955" cy="2207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无需重启服务</a:t>
            </a:r>
            <a:r>
              <a:rPr lang="en-US" sz="107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，路由规则即时生效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1114" y="3745614"/>
            <a:ext cx="2207465" cy="390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通过热加载机制，配置变更实时应用，确保业务零中断，大幅提升运维效率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07999" y="2876780"/>
            <a:ext cx="2425382" cy="1805593"/>
          </a:xfrm>
          <a:custGeom>
            <a:avLst/>
            <a:gdLst/>
            <a:ahLst/>
            <a:cxnLst/>
            <a:rect l="l" t="t" r="r" b="b"/>
            <a:pathLst>
              <a:path w="2425382" h="1805593">
                <a:moveTo>
                  <a:pt x="101890" y="0"/>
                </a:moveTo>
                <a:lnTo>
                  <a:pt x="2323492" y="0"/>
                </a:lnTo>
                <a:cubicBezTo>
                  <a:pt x="2379764" y="0"/>
                  <a:pt x="2425382" y="45618"/>
                  <a:pt x="2425382" y="101890"/>
                </a:cubicBezTo>
                <a:lnTo>
                  <a:pt x="2425382" y="1703704"/>
                </a:lnTo>
                <a:cubicBezTo>
                  <a:pt x="2425382" y="1759976"/>
                  <a:pt x="2379764" y="1805593"/>
                  <a:pt x="2323492" y="1805593"/>
                </a:cubicBezTo>
                <a:lnTo>
                  <a:pt x="101890" y="1805593"/>
                </a:lnTo>
                <a:cubicBezTo>
                  <a:pt x="45618" y="1805593"/>
                  <a:pt x="0" y="1759976"/>
                  <a:pt x="0" y="1703704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  <a:ln w="8467">
            <a:solidFill>
              <a:srgbClr val="E5A04C">
                <a:alpha val="5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46673" y="3015453"/>
            <a:ext cx="339610" cy="339610"/>
          </a:xfrm>
          <a:custGeom>
            <a:avLst/>
            <a:gdLst/>
            <a:ahLst/>
            <a:cxnLst/>
            <a:rect l="l" t="t" r="r" b="b"/>
            <a:pathLst>
              <a:path w="339610" h="339610">
                <a:moveTo>
                  <a:pt x="67922" y="0"/>
                </a:moveTo>
                <a:lnTo>
                  <a:pt x="271688" y="0"/>
                </a:lnTo>
                <a:cubicBezTo>
                  <a:pt x="309200" y="0"/>
                  <a:pt x="339610" y="30410"/>
                  <a:pt x="339610" y="67922"/>
                </a:cubicBezTo>
                <a:lnTo>
                  <a:pt x="339610" y="271688"/>
                </a:lnTo>
                <a:cubicBezTo>
                  <a:pt x="339610" y="309200"/>
                  <a:pt x="309200" y="339610"/>
                  <a:pt x="271688" y="339610"/>
                </a:cubicBezTo>
                <a:lnTo>
                  <a:pt x="67922" y="339610"/>
                </a:lnTo>
                <a:cubicBezTo>
                  <a:pt x="30410" y="339610"/>
                  <a:pt x="0" y="309200"/>
                  <a:pt x="0" y="271688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3131576" y="3100355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63677" y="21226"/>
                </a:moveTo>
                <a:cubicBezTo>
                  <a:pt x="63677" y="15355"/>
                  <a:pt x="68419" y="10613"/>
                  <a:pt x="74290" y="10613"/>
                </a:cubicBezTo>
                <a:lnTo>
                  <a:pt x="95515" y="10613"/>
                </a:lnTo>
                <a:cubicBezTo>
                  <a:pt x="101386" y="10613"/>
                  <a:pt x="106128" y="15355"/>
                  <a:pt x="106128" y="21226"/>
                </a:cubicBezTo>
                <a:lnTo>
                  <a:pt x="106128" y="42451"/>
                </a:lnTo>
                <a:cubicBezTo>
                  <a:pt x="106128" y="48321"/>
                  <a:pt x="101386" y="53064"/>
                  <a:pt x="95515" y="53064"/>
                </a:cubicBezTo>
                <a:lnTo>
                  <a:pt x="92862" y="53064"/>
                </a:lnTo>
                <a:lnTo>
                  <a:pt x="92862" y="74290"/>
                </a:lnTo>
                <a:lnTo>
                  <a:pt x="132660" y="74290"/>
                </a:lnTo>
                <a:cubicBezTo>
                  <a:pt x="145860" y="74290"/>
                  <a:pt x="156539" y="84969"/>
                  <a:pt x="156539" y="98169"/>
                </a:cubicBezTo>
                <a:lnTo>
                  <a:pt x="156539" y="116741"/>
                </a:lnTo>
                <a:lnTo>
                  <a:pt x="159192" y="116741"/>
                </a:lnTo>
                <a:cubicBezTo>
                  <a:pt x="165062" y="116741"/>
                  <a:pt x="169805" y="121484"/>
                  <a:pt x="169805" y="127354"/>
                </a:cubicBezTo>
                <a:lnTo>
                  <a:pt x="169805" y="148579"/>
                </a:lnTo>
                <a:cubicBezTo>
                  <a:pt x="169805" y="154450"/>
                  <a:pt x="165062" y="159192"/>
                  <a:pt x="159192" y="159192"/>
                </a:cubicBezTo>
                <a:lnTo>
                  <a:pt x="137967" y="159192"/>
                </a:lnTo>
                <a:cubicBezTo>
                  <a:pt x="132096" y="159192"/>
                  <a:pt x="127354" y="154450"/>
                  <a:pt x="127354" y="148579"/>
                </a:cubicBezTo>
                <a:lnTo>
                  <a:pt x="127354" y="127354"/>
                </a:lnTo>
                <a:cubicBezTo>
                  <a:pt x="127354" y="121484"/>
                  <a:pt x="132096" y="116741"/>
                  <a:pt x="137967" y="116741"/>
                </a:cubicBezTo>
                <a:lnTo>
                  <a:pt x="140620" y="116741"/>
                </a:lnTo>
                <a:lnTo>
                  <a:pt x="140620" y="98169"/>
                </a:lnTo>
                <a:cubicBezTo>
                  <a:pt x="140620" y="93758"/>
                  <a:pt x="137071" y="90209"/>
                  <a:pt x="132660" y="90209"/>
                </a:cubicBezTo>
                <a:lnTo>
                  <a:pt x="92862" y="90209"/>
                </a:lnTo>
                <a:lnTo>
                  <a:pt x="92862" y="116741"/>
                </a:lnTo>
                <a:lnTo>
                  <a:pt x="95515" y="116741"/>
                </a:lnTo>
                <a:cubicBezTo>
                  <a:pt x="101386" y="116741"/>
                  <a:pt x="106128" y="121484"/>
                  <a:pt x="106128" y="127354"/>
                </a:cubicBezTo>
                <a:lnTo>
                  <a:pt x="106128" y="148579"/>
                </a:lnTo>
                <a:cubicBezTo>
                  <a:pt x="106128" y="154450"/>
                  <a:pt x="101386" y="159192"/>
                  <a:pt x="95515" y="159192"/>
                </a:cubicBezTo>
                <a:lnTo>
                  <a:pt x="74290" y="159192"/>
                </a:lnTo>
                <a:cubicBezTo>
                  <a:pt x="68419" y="159192"/>
                  <a:pt x="63677" y="154450"/>
                  <a:pt x="63677" y="148579"/>
                </a:cubicBezTo>
                <a:lnTo>
                  <a:pt x="63677" y="127354"/>
                </a:lnTo>
                <a:cubicBezTo>
                  <a:pt x="63677" y="121484"/>
                  <a:pt x="68419" y="116741"/>
                  <a:pt x="74290" y="116741"/>
                </a:cubicBezTo>
                <a:lnTo>
                  <a:pt x="76943" y="116741"/>
                </a:lnTo>
                <a:lnTo>
                  <a:pt x="76943" y="90209"/>
                </a:lnTo>
                <a:lnTo>
                  <a:pt x="37145" y="90209"/>
                </a:lnTo>
                <a:cubicBezTo>
                  <a:pt x="32734" y="90209"/>
                  <a:pt x="29185" y="93758"/>
                  <a:pt x="29185" y="98169"/>
                </a:cubicBezTo>
                <a:lnTo>
                  <a:pt x="29185" y="116741"/>
                </a:lnTo>
                <a:lnTo>
                  <a:pt x="31838" y="116741"/>
                </a:lnTo>
                <a:cubicBezTo>
                  <a:pt x="37709" y="116741"/>
                  <a:pt x="42451" y="121484"/>
                  <a:pt x="42451" y="127354"/>
                </a:cubicBezTo>
                <a:lnTo>
                  <a:pt x="42451" y="148579"/>
                </a:lnTo>
                <a:cubicBezTo>
                  <a:pt x="42451" y="154450"/>
                  <a:pt x="37709" y="159192"/>
                  <a:pt x="31838" y="159192"/>
                </a:cubicBezTo>
                <a:lnTo>
                  <a:pt x="10613" y="159192"/>
                </a:lnTo>
                <a:cubicBezTo>
                  <a:pt x="4743" y="159192"/>
                  <a:pt x="0" y="154450"/>
                  <a:pt x="0" y="148579"/>
                </a:cubicBezTo>
                <a:lnTo>
                  <a:pt x="0" y="127354"/>
                </a:lnTo>
                <a:cubicBezTo>
                  <a:pt x="0" y="121484"/>
                  <a:pt x="4743" y="116741"/>
                  <a:pt x="10613" y="116741"/>
                </a:cubicBezTo>
                <a:lnTo>
                  <a:pt x="13266" y="116741"/>
                </a:lnTo>
                <a:lnTo>
                  <a:pt x="13266" y="98169"/>
                </a:lnTo>
                <a:cubicBezTo>
                  <a:pt x="13266" y="84969"/>
                  <a:pt x="23945" y="74290"/>
                  <a:pt x="37145" y="74290"/>
                </a:cubicBezTo>
                <a:lnTo>
                  <a:pt x="76943" y="74290"/>
                </a:lnTo>
                <a:lnTo>
                  <a:pt x="76943" y="53064"/>
                </a:lnTo>
                <a:lnTo>
                  <a:pt x="74290" y="53064"/>
                </a:lnTo>
                <a:cubicBezTo>
                  <a:pt x="68419" y="53064"/>
                  <a:pt x="63677" y="48321"/>
                  <a:pt x="63677" y="42451"/>
                </a:cubicBezTo>
                <a:lnTo>
                  <a:pt x="63677" y="21226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26" name="Text 24"/>
          <p:cNvSpPr/>
          <p:nvPr/>
        </p:nvSpPr>
        <p:spPr>
          <a:xfrm>
            <a:off x="3454400" y="3066415"/>
            <a:ext cx="1228090" cy="237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多模式匹配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046673" y="3456946"/>
            <a:ext cx="2215955" cy="4414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</a:t>
            </a:r>
            <a:r>
              <a:rPr lang="en-US" sz="107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GET, POST, PUT, DELETE</a:t>
            </a:r>
            <a:r>
              <a:rPr lang="en-US" sz="107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等全系HTTP方法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46673" y="3966361"/>
            <a:ext cx="2207465" cy="577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灵活的路由匹配规则，支持PathVariable、RequestParam、Header等多种参数传递方式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73559" y="2876780"/>
            <a:ext cx="2425382" cy="1805593"/>
          </a:xfrm>
          <a:custGeom>
            <a:avLst/>
            <a:gdLst/>
            <a:ahLst/>
            <a:cxnLst/>
            <a:rect l="l" t="t" r="r" b="b"/>
            <a:pathLst>
              <a:path w="2425382" h="1805593">
                <a:moveTo>
                  <a:pt x="101890" y="0"/>
                </a:moveTo>
                <a:lnTo>
                  <a:pt x="2323492" y="0"/>
                </a:lnTo>
                <a:cubicBezTo>
                  <a:pt x="2379764" y="0"/>
                  <a:pt x="2425382" y="45618"/>
                  <a:pt x="2425382" y="101890"/>
                </a:cubicBezTo>
                <a:lnTo>
                  <a:pt x="2425382" y="1703704"/>
                </a:lnTo>
                <a:cubicBezTo>
                  <a:pt x="2425382" y="1759976"/>
                  <a:pt x="2379764" y="1805593"/>
                  <a:pt x="2323492" y="1805593"/>
                </a:cubicBezTo>
                <a:lnTo>
                  <a:pt x="101890" y="1805593"/>
                </a:lnTo>
                <a:cubicBezTo>
                  <a:pt x="45618" y="1805593"/>
                  <a:pt x="0" y="1759976"/>
                  <a:pt x="0" y="1703704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  <a:ln w="8467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12233" y="3015453"/>
            <a:ext cx="339610" cy="339610"/>
          </a:xfrm>
          <a:custGeom>
            <a:avLst/>
            <a:gdLst/>
            <a:ahLst/>
            <a:cxnLst/>
            <a:rect l="l" t="t" r="r" b="b"/>
            <a:pathLst>
              <a:path w="339610" h="339610">
                <a:moveTo>
                  <a:pt x="67922" y="0"/>
                </a:moveTo>
                <a:lnTo>
                  <a:pt x="271688" y="0"/>
                </a:lnTo>
                <a:cubicBezTo>
                  <a:pt x="309200" y="0"/>
                  <a:pt x="339610" y="30410"/>
                  <a:pt x="339610" y="67922"/>
                </a:cubicBezTo>
                <a:lnTo>
                  <a:pt x="339610" y="271688"/>
                </a:lnTo>
                <a:cubicBezTo>
                  <a:pt x="339610" y="309200"/>
                  <a:pt x="309200" y="339610"/>
                  <a:pt x="271688" y="339610"/>
                </a:cubicBezTo>
                <a:lnTo>
                  <a:pt x="67922" y="339610"/>
                </a:lnTo>
                <a:cubicBezTo>
                  <a:pt x="30410" y="339610"/>
                  <a:pt x="0" y="309200"/>
                  <a:pt x="0" y="271688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5707748" y="3100355"/>
            <a:ext cx="148579" cy="169805"/>
          </a:xfrm>
          <a:custGeom>
            <a:avLst/>
            <a:gdLst/>
            <a:ahLst/>
            <a:cxnLst/>
            <a:rect l="l" t="t" r="r" b="b"/>
            <a:pathLst>
              <a:path w="148579" h="169805">
                <a:moveTo>
                  <a:pt x="95515" y="0"/>
                </a:moveTo>
                <a:lnTo>
                  <a:pt x="42451" y="0"/>
                </a:lnTo>
                <a:cubicBezTo>
                  <a:pt x="36581" y="0"/>
                  <a:pt x="31838" y="4743"/>
                  <a:pt x="31838" y="10613"/>
                </a:cubicBezTo>
                <a:cubicBezTo>
                  <a:pt x="31838" y="16483"/>
                  <a:pt x="36581" y="21226"/>
                  <a:pt x="42451" y="21226"/>
                </a:cubicBezTo>
                <a:lnTo>
                  <a:pt x="42451" y="71471"/>
                </a:lnTo>
                <a:lnTo>
                  <a:pt x="2487" y="141383"/>
                </a:lnTo>
                <a:cubicBezTo>
                  <a:pt x="862" y="144268"/>
                  <a:pt x="0" y="147485"/>
                  <a:pt x="0" y="150801"/>
                </a:cubicBezTo>
                <a:cubicBezTo>
                  <a:pt x="0" y="161315"/>
                  <a:pt x="8490" y="169805"/>
                  <a:pt x="19004" y="169805"/>
                </a:cubicBezTo>
                <a:lnTo>
                  <a:pt x="129576" y="169805"/>
                </a:lnTo>
                <a:cubicBezTo>
                  <a:pt x="140056" y="169805"/>
                  <a:pt x="148579" y="161315"/>
                  <a:pt x="148579" y="150801"/>
                </a:cubicBezTo>
                <a:cubicBezTo>
                  <a:pt x="148579" y="147485"/>
                  <a:pt x="147717" y="144235"/>
                  <a:pt x="146092" y="141383"/>
                </a:cubicBezTo>
                <a:lnTo>
                  <a:pt x="106128" y="71471"/>
                </a:lnTo>
                <a:lnTo>
                  <a:pt x="106128" y="21226"/>
                </a:lnTo>
                <a:cubicBezTo>
                  <a:pt x="111998" y="21226"/>
                  <a:pt x="116741" y="16483"/>
                  <a:pt x="116741" y="10613"/>
                </a:cubicBezTo>
                <a:cubicBezTo>
                  <a:pt x="116741" y="4743"/>
                  <a:pt x="111998" y="0"/>
                  <a:pt x="106128" y="0"/>
                </a:cubicBezTo>
                <a:lnTo>
                  <a:pt x="95515" y="0"/>
                </a:lnTo>
                <a:close/>
                <a:moveTo>
                  <a:pt x="63677" y="71471"/>
                </a:moveTo>
                <a:lnTo>
                  <a:pt x="63677" y="21226"/>
                </a:lnTo>
                <a:lnTo>
                  <a:pt x="84903" y="21226"/>
                </a:lnTo>
                <a:lnTo>
                  <a:pt x="84903" y="71471"/>
                </a:lnTo>
                <a:cubicBezTo>
                  <a:pt x="84903" y="75152"/>
                  <a:pt x="85864" y="78800"/>
                  <a:pt x="87688" y="82017"/>
                </a:cubicBezTo>
                <a:lnTo>
                  <a:pt x="101485" y="106128"/>
                </a:lnTo>
                <a:lnTo>
                  <a:pt x="47094" y="106128"/>
                </a:lnTo>
                <a:lnTo>
                  <a:pt x="60891" y="82017"/>
                </a:lnTo>
                <a:cubicBezTo>
                  <a:pt x="62715" y="78800"/>
                  <a:pt x="63677" y="75185"/>
                  <a:pt x="63677" y="71471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2" name="Text 30"/>
          <p:cNvSpPr/>
          <p:nvPr/>
        </p:nvSpPr>
        <p:spPr>
          <a:xfrm>
            <a:off x="6019800" y="3066415"/>
            <a:ext cx="985520" cy="237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环境隔离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12233" y="3456946"/>
            <a:ext cx="2215955" cy="4414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</a:t>
            </a:r>
            <a:r>
              <a:rPr lang="en-US" sz="107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测试模式</a:t>
            </a:r>
            <a:r>
              <a:rPr lang="en-US" sz="107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（X-Connector-Test）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12233" y="3966361"/>
            <a:ext cx="2207465" cy="390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在不影响生产环境的情况下调试新路由，支持灰度发布和A/B测试场景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2440" y="4825997"/>
            <a:ext cx="7553493" cy="1788613"/>
          </a:xfrm>
          <a:custGeom>
            <a:avLst/>
            <a:gdLst/>
            <a:ahLst/>
            <a:cxnLst/>
            <a:rect l="l" t="t" r="r" b="b"/>
            <a:pathLst>
              <a:path w="7553493" h="1788613">
                <a:moveTo>
                  <a:pt x="101879" y="0"/>
                </a:moveTo>
                <a:lnTo>
                  <a:pt x="7451614" y="0"/>
                </a:lnTo>
                <a:cubicBezTo>
                  <a:pt x="7507880" y="0"/>
                  <a:pt x="7553493" y="45613"/>
                  <a:pt x="7553493" y="101879"/>
                </a:cubicBezTo>
                <a:lnTo>
                  <a:pt x="7553493" y="1686733"/>
                </a:lnTo>
                <a:cubicBezTo>
                  <a:pt x="7553493" y="1743000"/>
                  <a:pt x="7507880" y="1788613"/>
                  <a:pt x="7451614" y="1788613"/>
                </a:cubicBezTo>
                <a:lnTo>
                  <a:pt x="101879" y="1788613"/>
                </a:lnTo>
                <a:cubicBezTo>
                  <a:pt x="45613" y="1788613"/>
                  <a:pt x="0" y="1743000"/>
                  <a:pt x="0" y="1686733"/>
                </a:cubicBezTo>
                <a:lnTo>
                  <a:pt x="0" y="101879"/>
                </a:lnTo>
                <a:cubicBezTo>
                  <a:pt x="0" y="45651"/>
                  <a:pt x="45651" y="0"/>
                  <a:pt x="101879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2788" y="5007125"/>
            <a:ext cx="171928" cy="152825"/>
          </a:xfrm>
          <a:custGeom>
            <a:avLst/>
            <a:gdLst/>
            <a:ahLst/>
            <a:cxnLst/>
            <a:rect l="l" t="t" r="r" b="b"/>
            <a:pathLst>
              <a:path w="171928" h="152825">
                <a:moveTo>
                  <a:pt x="107694" y="358"/>
                </a:moveTo>
                <a:cubicBezTo>
                  <a:pt x="102619" y="-1104"/>
                  <a:pt x="97336" y="1851"/>
                  <a:pt x="95874" y="6925"/>
                </a:cubicBezTo>
                <a:lnTo>
                  <a:pt x="57667" y="140646"/>
                </a:lnTo>
                <a:cubicBezTo>
                  <a:pt x="56205" y="145721"/>
                  <a:pt x="59160" y="151004"/>
                  <a:pt x="64234" y="152466"/>
                </a:cubicBezTo>
                <a:cubicBezTo>
                  <a:pt x="69308" y="153929"/>
                  <a:pt x="74591" y="150974"/>
                  <a:pt x="76054" y="145900"/>
                </a:cubicBezTo>
                <a:lnTo>
                  <a:pt x="114260" y="12178"/>
                </a:lnTo>
                <a:cubicBezTo>
                  <a:pt x="115723" y="7104"/>
                  <a:pt x="112768" y="1821"/>
                  <a:pt x="107694" y="358"/>
                </a:cubicBezTo>
                <a:close/>
                <a:moveTo>
                  <a:pt x="126976" y="40982"/>
                </a:moveTo>
                <a:cubicBezTo>
                  <a:pt x="123245" y="44713"/>
                  <a:pt x="123245" y="50772"/>
                  <a:pt x="126976" y="54503"/>
                </a:cubicBezTo>
                <a:lnTo>
                  <a:pt x="148885" y="76412"/>
                </a:lnTo>
                <a:lnTo>
                  <a:pt x="126976" y="98321"/>
                </a:lnTo>
                <a:cubicBezTo>
                  <a:pt x="123245" y="102052"/>
                  <a:pt x="123245" y="108111"/>
                  <a:pt x="126976" y="111842"/>
                </a:cubicBezTo>
                <a:cubicBezTo>
                  <a:pt x="130707" y="115574"/>
                  <a:pt x="136766" y="115574"/>
                  <a:pt x="140497" y="111842"/>
                </a:cubicBezTo>
                <a:lnTo>
                  <a:pt x="169152" y="83188"/>
                </a:lnTo>
                <a:cubicBezTo>
                  <a:pt x="172883" y="79457"/>
                  <a:pt x="172883" y="73398"/>
                  <a:pt x="169152" y="69666"/>
                </a:cubicBezTo>
                <a:lnTo>
                  <a:pt x="140497" y="41012"/>
                </a:lnTo>
                <a:cubicBezTo>
                  <a:pt x="136766" y="37281"/>
                  <a:pt x="130707" y="37281"/>
                  <a:pt x="126976" y="41012"/>
                </a:cubicBezTo>
                <a:close/>
                <a:moveTo>
                  <a:pt x="44982" y="40982"/>
                </a:moveTo>
                <a:cubicBezTo>
                  <a:pt x="41251" y="37251"/>
                  <a:pt x="35191" y="37251"/>
                  <a:pt x="31460" y="40982"/>
                </a:cubicBezTo>
                <a:lnTo>
                  <a:pt x="2806" y="69637"/>
                </a:lnTo>
                <a:cubicBezTo>
                  <a:pt x="-925" y="73368"/>
                  <a:pt x="-925" y="79427"/>
                  <a:pt x="2806" y="83158"/>
                </a:cubicBezTo>
                <a:lnTo>
                  <a:pt x="31460" y="111813"/>
                </a:lnTo>
                <a:cubicBezTo>
                  <a:pt x="35191" y="115544"/>
                  <a:pt x="41251" y="115544"/>
                  <a:pt x="44982" y="111813"/>
                </a:cubicBezTo>
                <a:cubicBezTo>
                  <a:pt x="48713" y="108082"/>
                  <a:pt x="48713" y="102022"/>
                  <a:pt x="44982" y="98291"/>
                </a:cubicBezTo>
                <a:lnTo>
                  <a:pt x="23073" y="76412"/>
                </a:lnTo>
                <a:lnTo>
                  <a:pt x="44952" y="54503"/>
                </a:lnTo>
                <a:cubicBezTo>
                  <a:pt x="48683" y="50772"/>
                  <a:pt x="48683" y="44713"/>
                  <a:pt x="44952" y="40982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7" name="Text 35"/>
          <p:cNvSpPr/>
          <p:nvPr/>
        </p:nvSpPr>
        <p:spPr>
          <a:xfrm>
            <a:off x="676390" y="4964674"/>
            <a:ext cx="7157281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路由配置示例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1114" y="5304284"/>
            <a:ext cx="7276145" cy="1171655"/>
          </a:xfrm>
          <a:custGeom>
            <a:avLst/>
            <a:gdLst/>
            <a:ahLst/>
            <a:cxnLst/>
            <a:rect l="l" t="t" r="r" b="b"/>
            <a:pathLst>
              <a:path w="7276145" h="1171655">
                <a:moveTo>
                  <a:pt x="67921" y="0"/>
                </a:moveTo>
                <a:lnTo>
                  <a:pt x="7208224" y="0"/>
                </a:lnTo>
                <a:cubicBezTo>
                  <a:pt x="7245736" y="0"/>
                  <a:pt x="7276145" y="30409"/>
                  <a:pt x="7276145" y="67921"/>
                </a:cubicBezTo>
                <a:lnTo>
                  <a:pt x="7276145" y="1103734"/>
                </a:lnTo>
                <a:cubicBezTo>
                  <a:pt x="7276145" y="1141245"/>
                  <a:pt x="7245736" y="1171655"/>
                  <a:pt x="7208224" y="1171655"/>
                </a:cubicBezTo>
                <a:lnTo>
                  <a:pt x="67921" y="1171655"/>
                </a:lnTo>
                <a:cubicBezTo>
                  <a:pt x="30409" y="1171655"/>
                  <a:pt x="0" y="1141245"/>
                  <a:pt x="0" y="1103734"/>
                </a:cubicBezTo>
                <a:lnTo>
                  <a:pt x="0" y="67921"/>
                </a:lnTo>
                <a:cubicBezTo>
                  <a:pt x="0" y="30409"/>
                  <a:pt x="30409" y="0"/>
                  <a:pt x="6792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582997" y="5406167"/>
            <a:ext cx="7131811" cy="195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路由规则配置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2997" y="5599320"/>
            <a:ext cx="7131811" cy="195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源路径:</a:t>
            </a:r>
            <a:r>
              <a:rPr lang="en-US" sz="93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/connector/proxy/user/**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2997" y="5792474"/>
            <a:ext cx="7131811" cy="195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目标地址:</a:t>
            </a:r>
            <a:r>
              <a:rPr lang="en-US" sz="93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http://user-service/api/v1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2997" y="5985627"/>
            <a:ext cx="7131811" cy="195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方法:</a:t>
            </a:r>
            <a:r>
              <a:rPr lang="en-US" sz="93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GET, POST, PUT, DELETE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2997" y="6178780"/>
            <a:ext cx="7131811" cy="195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状态:</a:t>
            </a:r>
            <a:r>
              <a:rPr lang="en-US" sz="93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Active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73390" y="1157605"/>
            <a:ext cx="3783965" cy="5504180"/>
          </a:xfrm>
          <a:custGeom>
            <a:avLst/>
            <a:gdLst/>
            <a:ahLst/>
            <a:cxnLst/>
            <a:rect l="l" t="t" r="r" b="b"/>
            <a:pathLst>
              <a:path w="3783822" h="5923365">
                <a:moveTo>
                  <a:pt x="101898" y="0"/>
                </a:moveTo>
                <a:lnTo>
                  <a:pt x="3681923" y="0"/>
                </a:lnTo>
                <a:cubicBezTo>
                  <a:pt x="3738200" y="0"/>
                  <a:pt x="3783822" y="45621"/>
                  <a:pt x="3783822" y="101898"/>
                </a:cubicBezTo>
                <a:lnTo>
                  <a:pt x="3783822" y="5821467"/>
                </a:lnTo>
                <a:cubicBezTo>
                  <a:pt x="3783822" y="5877743"/>
                  <a:pt x="3738200" y="5923365"/>
                  <a:pt x="3681923" y="5923365"/>
                </a:cubicBezTo>
                <a:lnTo>
                  <a:pt x="101898" y="5923365"/>
                </a:lnTo>
                <a:cubicBezTo>
                  <a:pt x="45621" y="5923365"/>
                  <a:pt x="0" y="5877743"/>
                  <a:pt x="0" y="5821467"/>
                </a:cubicBezTo>
                <a:lnTo>
                  <a:pt x="0" y="101898"/>
                </a:lnTo>
                <a:cubicBezTo>
                  <a:pt x="0" y="45659"/>
                  <a:pt x="45659" y="0"/>
                  <a:pt x="101898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8467">
            <a:solidFill>
              <a:srgbClr val="4A5462">
                <a:alpha val="5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67028" y="1364099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13266" y="15919"/>
                </a:moveTo>
                <a:cubicBezTo>
                  <a:pt x="8855" y="15919"/>
                  <a:pt x="5306" y="19468"/>
                  <a:pt x="5306" y="23879"/>
                </a:cubicBezTo>
                <a:lnTo>
                  <a:pt x="5306" y="39798"/>
                </a:lnTo>
                <a:cubicBezTo>
                  <a:pt x="5306" y="44209"/>
                  <a:pt x="8855" y="47758"/>
                  <a:pt x="13266" y="47758"/>
                </a:cubicBezTo>
                <a:lnTo>
                  <a:pt x="29185" y="47758"/>
                </a:lnTo>
                <a:cubicBezTo>
                  <a:pt x="33596" y="47758"/>
                  <a:pt x="37145" y="44209"/>
                  <a:pt x="37145" y="39798"/>
                </a:cubicBezTo>
                <a:lnTo>
                  <a:pt x="37145" y="23879"/>
                </a:lnTo>
                <a:cubicBezTo>
                  <a:pt x="37145" y="19468"/>
                  <a:pt x="33596" y="15919"/>
                  <a:pt x="29185" y="15919"/>
                </a:cubicBezTo>
                <a:lnTo>
                  <a:pt x="13266" y="15919"/>
                </a:lnTo>
                <a:close/>
                <a:moveTo>
                  <a:pt x="63677" y="21226"/>
                </a:moveTo>
                <a:cubicBezTo>
                  <a:pt x="57807" y="21226"/>
                  <a:pt x="53064" y="25968"/>
                  <a:pt x="53064" y="31838"/>
                </a:cubicBezTo>
                <a:cubicBezTo>
                  <a:pt x="53064" y="37709"/>
                  <a:pt x="57807" y="42451"/>
                  <a:pt x="63677" y="42451"/>
                </a:cubicBezTo>
                <a:lnTo>
                  <a:pt x="159192" y="42451"/>
                </a:lnTo>
                <a:cubicBezTo>
                  <a:pt x="165062" y="42451"/>
                  <a:pt x="169805" y="37709"/>
                  <a:pt x="169805" y="31838"/>
                </a:cubicBezTo>
                <a:cubicBezTo>
                  <a:pt x="169805" y="25968"/>
                  <a:pt x="165062" y="21226"/>
                  <a:pt x="159192" y="21226"/>
                </a:cubicBezTo>
                <a:lnTo>
                  <a:pt x="63677" y="21226"/>
                </a:lnTo>
                <a:close/>
                <a:moveTo>
                  <a:pt x="63677" y="74290"/>
                </a:moveTo>
                <a:cubicBezTo>
                  <a:pt x="57807" y="74290"/>
                  <a:pt x="53064" y="79032"/>
                  <a:pt x="53064" y="84903"/>
                </a:cubicBezTo>
                <a:cubicBezTo>
                  <a:pt x="53064" y="90773"/>
                  <a:pt x="57807" y="95515"/>
                  <a:pt x="63677" y="95515"/>
                </a:cubicBezTo>
                <a:lnTo>
                  <a:pt x="159192" y="95515"/>
                </a:lnTo>
                <a:cubicBezTo>
                  <a:pt x="165062" y="95515"/>
                  <a:pt x="169805" y="90773"/>
                  <a:pt x="169805" y="84903"/>
                </a:cubicBezTo>
                <a:cubicBezTo>
                  <a:pt x="169805" y="79032"/>
                  <a:pt x="165062" y="74290"/>
                  <a:pt x="159192" y="74290"/>
                </a:cubicBezTo>
                <a:lnTo>
                  <a:pt x="63677" y="74290"/>
                </a:lnTo>
                <a:close/>
                <a:moveTo>
                  <a:pt x="63677" y="127354"/>
                </a:moveTo>
                <a:cubicBezTo>
                  <a:pt x="57807" y="127354"/>
                  <a:pt x="53064" y="132096"/>
                  <a:pt x="53064" y="137967"/>
                </a:cubicBezTo>
                <a:cubicBezTo>
                  <a:pt x="53064" y="143837"/>
                  <a:pt x="57807" y="148579"/>
                  <a:pt x="63677" y="148579"/>
                </a:cubicBezTo>
                <a:lnTo>
                  <a:pt x="159192" y="148579"/>
                </a:lnTo>
                <a:cubicBezTo>
                  <a:pt x="165062" y="148579"/>
                  <a:pt x="169805" y="143837"/>
                  <a:pt x="169805" y="137967"/>
                </a:cubicBezTo>
                <a:cubicBezTo>
                  <a:pt x="169805" y="132096"/>
                  <a:pt x="165062" y="127354"/>
                  <a:pt x="159192" y="127354"/>
                </a:cubicBezTo>
                <a:lnTo>
                  <a:pt x="63677" y="127354"/>
                </a:lnTo>
                <a:close/>
                <a:moveTo>
                  <a:pt x="5306" y="76943"/>
                </a:moveTo>
                <a:lnTo>
                  <a:pt x="5306" y="92862"/>
                </a:lnTo>
                <a:cubicBezTo>
                  <a:pt x="5306" y="97273"/>
                  <a:pt x="8855" y="100822"/>
                  <a:pt x="13266" y="100822"/>
                </a:cubicBezTo>
                <a:lnTo>
                  <a:pt x="29185" y="100822"/>
                </a:lnTo>
                <a:cubicBezTo>
                  <a:pt x="33596" y="100822"/>
                  <a:pt x="37145" y="97273"/>
                  <a:pt x="37145" y="92862"/>
                </a:cubicBezTo>
                <a:lnTo>
                  <a:pt x="37145" y="76943"/>
                </a:lnTo>
                <a:cubicBezTo>
                  <a:pt x="37145" y="72532"/>
                  <a:pt x="33596" y="68983"/>
                  <a:pt x="29185" y="68983"/>
                </a:cubicBezTo>
                <a:lnTo>
                  <a:pt x="13266" y="68983"/>
                </a:lnTo>
                <a:cubicBezTo>
                  <a:pt x="8855" y="68983"/>
                  <a:pt x="5306" y="72532"/>
                  <a:pt x="5306" y="76943"/>
                </a:cubicBezTo>
                <a:close/>
                <a:moveTo>
                  <a:pt x="13266" y="122047"/>
                </a:moveTo>
                <a:cubicBezTo>
                  <a:pt x="8855" y="122047"/>
                  <a:pt x="5306" y="125596"/>
                  <a:pt x="5306" y="130007"/>
                </a:cubicBezTo>
                <a:lnTo>
                  <a:pt x="5306" y="145926"/>
                </a:lnTo>
                <a:cubicBezTo>
                  <a:pt x="5306" y="150337"/>
                  <a:pt x="8855" y="153886"/>
                  <a:pt x="13266" y="153886"/>
                </a:cubicBezTo>
                <a:lnTo>
                  <a:pt x="29185" y="153886"/>
                </a:lnTo>
                <a:cubicBezTo>
                  <a:pt x="33596" y="153886"/>
                  <a:pt x="37145" y="150337"/>
                  <a:pt x="37145" y="145926"/>
                </a:cubicBezTo>
                <a:lnTo>
                  <a:pt x="37145" y="130007"/>
                </a:lnTo>
                <a:cubicBezTo>
                  <a:pt x="37145" y="125596"/>
                  <a:pt x="33596" y="122047"/>
                  <a:pt x="29185" y="122047"/>
                </a:cubicBezTo>
                <a:lnTo>
                  <a:pt x="13266" y="122047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46" name="Text 44"/>
          <p:cNvSpPr/>
          <p:nvPr/>
        </p:nvSpPr>
        <p:spPr>
          <a:xfrm>
            <a:off x="8458059" y="1330138"/>
            <a:ext cx="3311198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路由管理列表示意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54293" y="1703709"/>
            <a:ext cx="3430061" cy="1018830"/>
          </a:xfrm>
          <a:custGeom>
            <a:avLst/>
            <a:gdLst/>
            <a:ahLst/>
            <a:cxnLst/>
            <a:rect l="l" t="t" r="r" b="b"/>
            <a:pathLst>
              <a:path w="3430061" h="1018830">
                <a:moveTo>
                  <a:pt x="16981" y="0"/>
                </a:moveTo>
                <a:lnTo>
                  <a:pt x="3362136" y="0"/>
                </a:lnTo>
                <a:cubicBezTo>
                  <a:pt x="3399650" y="0"/>
                  <a:pt x="3430061" y="30411"/>
                  <a:pt x="3430061" y="67925"/>
                </a:cubicBezTo>
                <a:lnTo>
                  <a:pt x="3430061" y="950905"/>
                </a:lnTo>
                <a:cubicBezTo>
                  <a:pt x="3430061" y="988419"/>
                  <a:pt x="3399650" y="1018830"/>
                  <a:pt x="3362136" y="1018830"/>
                </a:cubicBezTo>
                <a:lnTo>
                  <a:pt x="16981" y="1018830"/>
                </a:lnTo>
                <a:cubicBezTo>
                  <a:pt x="7602" y="1018830"/>
                  <a:pt x="0" y="1011228"/>
                  <a:pt x="0" y="1001850"/>
                </a:cubicBezTo>
                <a:lnTo>
                  <a:pt x="0" y="16981"/>
                </a:lnTo>
                <a:cubicBezTo>
                  <a:pt x="0" y="7609"/>
                  <a:pt x="7609" y="0"/>
                  <a:pt x="1698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8254293" y="1703709"/>
            <a:ext cx="16981" cy="1018830"/>
          </a:xfrm>
          <a:custGeom>
            <a:avLst/>
            <a:gdLst/>
            <a:ahLst/>
            <a:cxnLst/>
            <a:rect l="l" t="t" r="r" b="b"/>
            <a:pathLst>
              <a:path w="16981" h="1018830">
                <a:moveTo>
                  <a:pt x="16981" y="0"/>
                </a:moveTo>
                <a:lnTo>
                  <a:pt x="16981" y="0"/>
                </a:lnTo>
                <a:lnTo>
                  <a:pt x="16981" y="1018830"/>
                </a:lnTo>
                <a:lnTo>
                  <a:pt x="16981" y="1018830"/>
                </a:lnTo>
                <a:cubicBezTo>
                  <a:pt x="7602" y="1018830"/>
                  <a:pt x="0" y="1011228"/>
                  <a:pt x="0" y="1001850"/>
                </a:cubicBezTo>
                <a:lnTo>
                  <a:pt x="0" y="16981"/>
                </a:lnTo>
                <a:cubicBezTo>
                  <a:pt x="0" y="7602"/>
                  <a:pt x="7602" y="0"/>
                  <a:pt x="16981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49" name="Text 47"/>
          <p:cNvSpPr/>
          <p:nvPr/>
        </p:nvSpPr>
        <p:spPr>
          <a:xfrm>
            <a:off x="8364666" y="1805592"/>
            <a:ext cx="882986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用户服务路由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153625" y="1805592"/>
            <a:ext cx="424513" cy="203766"/>
          </a:xfrm>
          <a:custGeom>
            <a:avLst/>
            <a:gdLst/>
            <a:ahLst/>
            <a:cxnLst/>
            <a:rect l="l" t="t" r="r" b="b"/>
            <a:pathLst>
              <a:path w="424513" h="203766">
                <a:moveTo>
                  <a:pt x="101883" y="0"/>
                </a:moveTo>
                <a:lnTo>
                  <a:pt x="322630" y="0"/>
                </a:lnTo>
                <a:cubicBezTo>
                  <a:pt x="378898" y="0"/>
                  <a:pt x="424513" y="45615"/>
                  <a:pt x="424513" y="101883"/>
                </a:cubicBezTo>
                <a:lnTo>
                  <a:pt x="424513" y="101883"/>
                </a:lnTo>
                <a:cubicBezTo>
                  <a:pt x="424513" y="158151"/>
                  <a:pt x="378898" y="203766"/>
                  <a:pt x="322630" y="203766"/>
                </a:cubicBezTo>
                <a:lnTo>
                  <a:pt x="101883" y="203766"/>
                </a:lnTo>
                <a:cubicBezTo>
                  <a:pt x="45615" y="203766"/>
                  <a:pt x="0" y="158151"/>
                  <a:pt x="0" y="101883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3C8082">
              <a:alpha val="50196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11153625" y="1805592"/>
            <a:ext cx="475454" cy="203766"/>
          </a:xfrm>
          <a:prstGeom prst="rect">
            <a:avLst/>
          </a:prstGeom>
          <a:noFill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Active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81647" y="2099919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116681" y="64678"/>
                </a:moveTo>
                <a:cubicBezTo>
                  <a:pt x="119583" y="61777"/>
                  <a:pt x="119583" y="57064"/>
                  <a:pt x="116681" y="54162"/>
                </a:cubicBezTo>
                <a:lnTo>
                  <a:pt x="79536" y="17017"/>
                </a:lnTo>
                <a:cubicBezTo>
                  <a:pt x="76634" y="14115"/>
                  <a:pt x="71922" y="14115"/>
                  <a:pt x="69020" y="17017"/>
                </a:cubicBezTo>
                <a:cubicBezTo>
                  <a:pt x="66118" y="19919"/>
                  <a:pt x="66118" y="24632"/>
                  <a:pt x="69020" y="27534"/>
                </a:cubicBezTo>
                <a:lnTo>
                  <a:pt x="93489" y="52003"/>
                </a:lnTo>
                <a:lnTo>
                  <a:pt x="7429" y="52003"/>
                </a:lnTo>
                <a:cubicBezTo>
                  <a:pt x="3320" y="52003"/>
                  <a:pt x="0" y="55323"/>
                  <a:pt x="0" y="59432"/>
                </a:cubicBezTo>
                <a:cubicBezTo>
                  <a:pt x="0" y="63541"/>
                  <a:pt x="3320" y="66861"/>
                  <a:pt x="7429" y="66861"/>
                </a:cubicBezTo>
                <a:lnTo>
                  <a:pt x="93489" y="66861"/>
                </a:lnTo>
                <a:lnTo>
                  <a:pt x="69020" y="91330"/>
                </a:lnTo>
                <a:cubicBezTo>
                  <a:pt x="66118" y="94232"/>
                  <a:pt x="66118" y="98945"/>
                  <a:pt x="69020" y="101847"/>
                </a:cubicBezTo>
                <a:cubicBezTo>
                  <a:pt x="71922" y="104748"/>
                  <a:pt x="76634" y="104748"/>
                  <a:pt x="79536" y="101847"/>
                </a:cubicBezTo>
                <a:lnTo>
                  <a:pt x="116681" y="64702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53" name="Text 51"/>
          <p:cNvSpPr/>
          <p:nvPr/>
        </p:nvSpPr>
        <p:spPr>
          <a:xfrm>
            <a:off x="8540194" y="2077280"/>
            <a:ext cx="3101709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/proxy/user/**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81647" y="2303685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2182" y="54185"/>
                </a:moveTo>
                <a:cubicBezTo>
                  <a:pt x="-720" y="57087"/>
                  <a:pt x="-720" y="61800"/>
                  <a:pt x="2182" y="64702"/>
                </a:cubicBezTo>
                <a:lnTo>
                  <a:pt x="39327" y="101847"/>
                </a:lnTo>
                <a:cubicBezTo>
                  <a:pt x="42229" y="104748"/>
                  <a:pt x="46942" y="104748"/>
                  <a:pt x="49844" y="101847"/>
                </a:cubicBezTo>
                <a:cubicBezTo>
                  <a:pt x="52746" y="98945"/>
                  <a:pt x="52746" y="94232"/>
                  <a:pt x="49844" y="91330"/>
                </a:cubicBezTo>
                <a:lnTo>
                  <a:pt x="25375" y="66861"/>
                </a:lnTo>
                <a:lnTo>
                  <a:pt x="111435" y="66861"/>
                </a:lnTo>
                <a:cubicBezTo>
                  <a:pt x="115544" y="66861"/>
                  <a:pt x="118864" y="63541"/>
                  <a:pt x="118864" y="59432"/>
                </a:cubicBezTo>
                <a:cubicBezTo>
                  <a:pt x="118864" y="55323"/>
                  <a:pt x="115544" y="52003"/>
                  <a:pt x="111435" y="52003"/>
                </a:cubicBezTo>
                <a:lnTo>
                  <a:pt x="25375" y="52003"/>
                </a:lnTo>
                <a:lnTo>
                  <a:pt x="49844" y="27534"/>
                </a:lnTo>
                <a:cubicBezTo>
                  <a:pt x="52746" y="24632"/>
                  <a:pt x="52746" y="19919"/>
                  <a:pt x="49844" y="17017"/>
                </a:cubicBezTo>
                <a:cubicBezTo>
                  <a:pt x="46942" y="14115"/>
                  <a:pt x="42229" y="14115"/>
                  <a:pt x="39327" y="17017"/>
                </a:cubicBezTo>
                <a:lnTo>
                  <a:pt x="2182" y="54162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55" name="Text 53"/>
          <p:cNvSpPr/>
          <p:nvPr/>
        </p:nvSpPr>
        <p:spPr>
          <a:xfrm>
            <a:off x="8540194" y="2281046"/>
            <a:ext cx="3101709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http://user-service:8080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64666" y="2484812"/>
            <a:ext cx="3268747" cy="135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E0E2E6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2025-01-22 10:30:15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54293" y="2824422"/>
            <a:ext cx="3430061" cy="1018830"/>
          </a:xfrm>
          <a:custGeom>
            <a:avLst/>
            <a:gdLst/>
            <a:ahLst/>
            <a:cxnLst/>
            <a:rect l="l" t="t" r="r" b="b"/>
            <a:pathLst>
              <a:path w="3430061" h="1018830">
                <a:moveTo>
                  <a:pt x="16981" y="0"/>
                </a:moveTo>
                <a:lnTo>
                  <a:pt x="3362136" y="0"/>
                </a:lnTo>
                <a:cubicBezTo>
                  <a:pt x="3399650" y="0"/>
                  <a:pt x="3430061" y="30411"/>
                  <a:pt x="3430061" y="67925"/>
                </a:cubicBezTo>
                <a:lnTo>
                  <a:pt x="3430061" y="950905"/>
                </a:lnTo>
                <a:cubicBezTo>
                  <a:pt x="3430061" y="988419"/>
                  <a:pt x="3399650" y="1018830"/>
                  <a:pt x="3362136" y="1018830"/>
                </a:cubicBezTo>
                <a:lnTo>
                  <a:pt x="16981" y="1018830"/>
                </a:lnTo>
                <a:cubicBezTo>
                  <a:pt x="7602" y="1018830"/>
                  <a:pt x="0" y="1011228"/>
                  <a:pt x="0" y="1001850"/>
                </a:cubicBezTo>
                <a:lnTo>
                  <a:pt x="0" y="16981"/>
                </a:lnTo>
                <a:cubicBezTo>
                  <a:pt x="0" y="7609"/>
                  <a:pt x="7609" y="0"/>
                  <a:pt x="1698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8254293" y="2824422"/>
            <a:ext cx="16981" cy="1018830"/>
          </a:xfrm>
          <a:custGeom>
            <a:avLst/>
            <a:gdLst/>
            <a:ahLst/>
            <a:cxnLst/>
            <a:rect l="l" t="t" r="r" b="b"/>
            <a:pathLst>
              <a:path w="16981" h="1018830">
                <a:moveTo>
                  <a:pt x="16981" y="0"/>
                </a:moveTo>
                <a:lnTo>
                  <a:pt x="16981" y="0"/>
                </a:lnTo>
                <a:lnTo>
                  <a:pt x="16981" y="1018830"/>
                </a:lnTo>
                <a:lnTo>
                  <a:pt x="16981" y="1018830"/>
                </a:lnTo>
                <a:cubicBezTo>
                  <a:pt x="7602" y="1018830"/>
                  <a:pt x="0" y="1011228"/>
                  <a:pt x="0" y="1001850"/>
                </a:cubicBezTo>
                <a:lnTo>
                  <a:pt x="0" y="16981"/>
                </a:lnTo>
                <a:cubicBezTo>
                  <a:pt x="0" y="7602"/>
                  <a:pt x="7602" y="0"/>
                  <a:pt x="16981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9" name="Text 57"/>
          <p:cNvSpPr/>
          <p:nvPr/>
        </p:nvSpPr>
        <p:spPr>
          <a:xfrm>
            <a:off x="8364666" y="2926305"/>
            <a:ext cx="882986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订单服务路由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153625" y="2926305"/>
            <a:ext cx="424513" cy="203766"/>
          </a:xfrm>
          <a:custGeom>
            <a:avLst/>
            <a:gdLst/>
            <a:ahLst/>
            <a:cxnLst/>
            <a:rect l="l" t="t" r="r" b="b"/>
            <a:pathLst>
              <a:path w="424513" h="203766">
                <a:moveTo>
                  <a:pt x="101883" y="0"/>
                </a:moveTo>
                <a:lnTo>
                  <a:pt x="322630" y="0"/>
                </a:lnTo>
                <a:cubicBezTo>
                  <a:pt x="378898" y="0"/>
                  <a:pt x="424513" y="45615"/>
                  <a:pt x="424513" y="101883"/>
                </a:cubicBezTo>
                <a:lnTo>
                  <a:pt x="424513" y="101883"/>
                </a:lnTo>
                <a:cubicBezTo>
                  <a:pt x="424513" y="158151"/>
                  <a:pt x="378898" y="203766"/>
                  <a:pt x="322630" y="203766"/>
                </a:cubicBezTo>
                <a:lnTo>
                  <a:pt x="101883" y="203766"/>
                </a:lnTo>
                <a:cubicBezTo>
                  <a:pt x="45615" y="203766"/>
                  <a:pt x="0" y="158151"/>
                  <a:pt x="0" y="101883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E5A04C">
              <a:alpha val="50196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11153625" y="2926305"/>
            <a:ext cx="475454" cy="203766"/>
          </a:xfrm>
          <a:prstGeom prst="rect">
            <a:avLst/>
          </a:prstGeom>
          <a:noFill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Active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381647" y="3220632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116681" y="64678"/>
                </a:moveTo>
                <a:cubicBezTo>
                  <a:pt x="119583" y="61777"/>
                  <a:pt x="119583" y="57064"/>
                  <a:pt x="116681" y="54162"/>
                </a:cubicBezTo>
                <a:lnTo>
                  <a:pt x="79536" y="17017"/>
                </a:lnTo>
                <a:cubicBezTo>
                  <a:pt x="76634" y="14115"/>
                  <a:pt x="71922" y="14115"/>
                  <a:pt x="69020" y="17017"/>
                </a:cubicBezTo>
                <a:cubicBezTo>
                  <a:pt x="66118" y="19919"/>
                  <a:pt x="66118" y="24632"/>
                  <a:pt x="69020" y="27534"/>
                </a:cubicBezTo>
                <a:lnTo>
                  <a:pt x="93489" y="52003"/>
                </a:lnTo>
                <a:lnTo>
                  <a:pt x="7429" y="52003"/>
                </a:lnTo>
                <a:cubicBezTo>
                  <a:pt x="3320" y="52003"/>
                  <a:pt x="0" y="55323"/>
                  <a:pt x="0" y="59432"/>
                </a:cubicBezTo>
                <a:cubicBezTo>
                  <a:pt x="0" y="63541"/>
                  <a:pt x="3320" y="66861"/>
                  <a:pt x="7429" y="66861"/>
                </a:cubicBezTo>
                <a:lnTo>
                  <a:pt x="93489" y="66861"/>
                </a:lnTo>
                <a:lnTo>
                  <a:pt x="69020" y="91330"/>
                </a:lnTo>
                <a:cubicBezTo>
                  <a:pt x="66118" y="94232"/>
                  <a:pt x="66118" y="98945"/>
                  <a:pt x="69020" y="101847"/>
                </a:cubicBezTo>
                <a:cubicBezTo>
                  <a:pt x="71922" y="104748"/>
                  <a:pt x="76634" y="104748"/>
                  <a:pt x="79536" y="101847"/>
                </a:cubicBezTo>
                <a:lnTo>
                  <a:pt x="116681" y="64702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63" name="Text 61"/>
          <p:cNvSpPr/>
          <p:nvPr/>
        </p:nvSpPr>
        <p:spPr>
          <a:xfrm>
            <a:off x="8540194" y="3197993"/>
            <a:ext cx="3101709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/proxy/order/**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381647" y="3424398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2182" y="54185"/>
                </a:moveTo>
                <a:cubicBezTo>
                  <a:pt x="-720" y="57087"/>
                  <a:pt x="-720" y="61800"/>
                  <a:pt x="2182" y="64702"/>
                </a:cubicBezTo>
                <a:lnTo>
                  <a:pt x="39327" y="101847"/>
                </a:lnTo>
                <a:cubicBezTo>
                  <a:pt x="42229" y="104748"/>
                  <a:pt x="46942" y="104748"/>
                  <a:pt x="49844" y="101847"/>
                </a:cubicBezTo>
                <a:cubicBezTo>
                  <a:pt x="52746" y="98945"/>
                  <a:pt x="52746" y="94232"/>
                  <a:pt x="49844" y="91330"/>
                </a:cubicBezTo>
                <a:lnTo>
                  <a:pt x="25375" y="66861"/>
                </a:lnTo>
                <a:lnTo>
                  <a:pt x="111435" y="66861"/>
                </a:lnTo>
                <a:cubicBezTo>
                  <a:pt x="115544" y="66861"/>
                  <a:pt x="118864" y="63541"/>
                  <a:pt x="118864" y="59432"/>
                </a:cubicBezTo>
                <a:cubicBezTo>
                  <a:pt x="118864" y="55323"/>
                  <a:pt x="115544" y="52003"/>
                  <a:pt x="111435" y="52003"/>
                </a:cubicBezTo>
                <a:lnTo>
                  <a:pt x="25375" y="52003"/>
                </a:lnTo>
                <a:lnTo>
                  <a:pt x="49844" y="27534"/>
                </a:lnTo>
                <a:cubicBezTo>
                  <a:pt x="52746" y="24632"/>
                  <a:pt x="52746" y="19919"/>
                  <a:pt x="49844" y="17017"/>
                </a:cubicBezTo>
                <a:cubicBezTo>
                  <a:pt x="46942" y="14115"/>
                  <a:pt x="42229" y="14115"/>
                  <a:pt x="39327" y="17017"/>
                </a:cubicBezTo>
                <a:lnTo>
                  <a:pt x="2182" y="54162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65" name="Text 63"/>
          <p:cNvSpPr/>
          <p:nvPr/>
        </p:nvSpPr>
        <p:spPr>
          <a:xfrm>
            <a:off x="8540194" y="3401759"/>
            <a:ext cx="3101709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http://order-service:8081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64666" y="3605525"/>
            <a:ext cx="3268747" cy="135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E0E2E6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2025-01-22 09:15:30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54293" y="3945135"/>
            <a:ext cx="3430061" cy="1018830"/>
          </a:xfrm>
          <a:custGeom>
            <a:avLst/>
            <a:gdLst/>
            <a:ahLst/>
            <a:cxnLst/>
            <a:rect l="l" t="t" r="r" b="b"/>
            <a:pathLst>
              <a:path w="3430061" h="1018830">
                <a:moveTo>
                  <a:pt x="16981" y="0"/>
                </a:moveTo>
                <a:lnTo>
                  <a:pt x="3362136" y="0"/>
                </a:lnTo>
                <a:cubicBezTo>
                  <a:pt x="3399650" y="0"/>
                  <a:pt x="3430061" y="30411"/>
                  <a:pt x="3430061" y="67925"/>
                </a:cubicBezTo>
                <a:lnTo>
                  <a:pt x="3430061" y="950905"/>
                </a:lnTo>
                <a:cubicBezTo>
                  <a:pt x="3430061" y="988419"/>
                  <a:pt x="3399650" y="1018830"/>
                  <a:pt x="3362136" y="1018830"/>
                </a:cubicBezTo>
                <a:lnTo>
                  <a:pt x="16981" y="1018830"/>
                </a:lnTo>
                <a:cubicBezTo>
                  <a:pt x="7602" y="1018830"/>
                  <a:pt x="0" y="1011228"/>
                  <a:pt x="0" y="1001850"/>
                </a:cubicBezTo>
                <a:lnTo>
                  <a:pt x="0" y="16981"/>
                </a:lnTo>
                <a:cubicBezTo>
                  <a:pt x="0" y="7609"/>
                  <a:pt x="7609" y="0"/>
                  <a:pt x="1698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8254293" y="3945135"/>
            <a:ext cx="16981" cy="1018830"/>
          </a:xfrm>
          <a:custGeom>
            <a:avLst/>
            <a:gdLst/>
            <a:ahLst/>
            <a:cxnLst/>
            <a:rect l="l" t="t" r="r" b="b"/>
            <a:pathLst>
              <a:path w="16981" h="1018830">
                <a:moveTo>
                  <a:pt x="16981" y="0"/>
                </a:moveTo>
                <a:lnTo>
                  <a:pt x="16981" y="0"/>
                </a:lnTo>
                <a:lnTo>
                  <a:pt x="16981" y="1018830"/>
                </a:lnTo>
                <a:lnTo>
                  <a:pt x="16981" y="1018830"/>
                </a:lnTo>
                <a:cubicBezTo>
                  <a:pt x="7602" y="1018830"/>
                  <a:pt x="0" y="1011228"/>
                  <a:pt x="0" y="1001850"/>
                </a:cubicBezTo>
                <a:lnTo>
                  <a:pt x="0" y="16981"/>
                </a:lnTo>
                <a:cubicBezTo>
                  <a:pt x="0" y="7602"/>
                  <a:pt x="7602" y="0"/>
                  <a:pt x="16981" y="0"/>
                </a:cubicBezTo>
                <a:close/>
              </a:path>
            </a:pathLst>
          </a:custGeom>
          <a:solidFill>
            <a:srgbClr val="4A5462"/>
          </a:solidFill>
        </p:spPr>
      </p:sp>
      <p:sp>
        <p:nvSpPr>
          <p:cNvPr id="69" name="Text 67"/>
          <p:cNvSpPr/>
          <p:nvPr/>
        </p:nvSpPr>
        <p:spPr>
          <a:xfrm>
            <a:off x="8364666" y="4047018"/>
            <a:ext cx="882986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支付服务路由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1241534" y="4047018"/>
            <a:ext cx="339610" cy="203766"/>
          </a:xfrm>
          <a:custGeom>
            <a:avLst/>
            <a:gdLst/>
            <a:ahLst/>
            <a:cxnLst/>
            <a:rect l="l" t="t" r="r" b="b"/>
            <a:pathLst>
              <a:path w="339610" h="203766">
                <a:moveTo>
                  <a:pt x="101883" y="0"/>
                </a:moveTo>
                <a:lnTo>
                  <a:pt x="237727" y="0"/>
                </a:lnTo>
                <a:cubicBezTo>
                  <a:pt x="293995" y="0"/>
                  <a:pt x="339610" y="45615"/>
                  <a:pt x="339610" y="101883"/>
                </a:cubicBezTo>
                <a:lnTo>
                  <a:pt x="339610" y="101883"/>
                </a:lnTo>
                <a:cubicBezTo>
                  <a:pt x="339610" y="158151"/>
                  <a:pt x="293995" y="203766"/>
                  <a:pt x="237727" y="203766"/>
                </a:cubicBezTo>
                <a:lnTo>
                  <a:pt x="101883" y="203766"/>
                </a:lnTo>
                <a:cubicBezTo>
                  <a:pt x="45615" y="203766"/>
                  <a:pt x="0" y="158151"/>
                  <a:pt x="0" y="101883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4A5462">
              <a:alpha val="50196"/>
            </a:srgbClr>
          </a:solidFill>
        </p:spPr>
      </p:sp>
      <p:sp>
        <p:nvSpPr>
          <p:cNvPr id="71" name="Text 69"/>
          <p:cNvSpPr/>
          <p:nvPr/>
        </p:nvSpPr>
        <p:spPr>
          <a:xfrm>
            <a:off x="11241534" y="4047018"/>
            <a:ext cx="390552" cy="203766"/>
          </a:xfrm>
          <a:prstGeom prst="rect">
            <a:avLst/>
          </a:prstGeom>
          <a:noFill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Test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381647" y="4341345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116681" y="64678"/>
                </a:moveTo>
                <a:cubicBezTo>
                  <a:pt x="119583" y="61777"/>
                  <a:pt x="119583" y="57064"/>
                  <a:pt x="116681" y="54162"/>
                </a:cubicBezTo>
                <a:lnTo>
                  <a:pt x="79536" y="17017"/>
                </a:lnTo>
                <a:cubicBezTo>
                  <a:pt x="76634" y="14115"/>
                  <a:pt x="71922" y="14115"/>
                  <a:pt x="69020" y="17017"/>
                </a:cubicBezTo>
                <a:cubicBezTo>
                  <a:pt x="66118" y="19919"/>
                  <a:pt x="66118" y="24632"/>
                  <a:pt x="69020" y="27534"/>
                </a:cubicBezTo>
                <a:lnTo>
                  <a:pt x="93489" y="52003"/>
                </a:lnTo>
                <a:lnTo>
                  <a:pt x="7429" y="52003"/>
                </a:lnTo>
                <a:cubicBezTo>
                  <a:pt x="3320" y="52003"/>
                  <a:pt x="0" y="55323"/>
                  <a:pt x="0" y="59432"/>
                </a:cubicBezTo>
                <a:cubicBezTo>
                  <a:pt x="0" y="63541"/>
                  <a:pt x="3320" y="66861"/>
                  <a:pt x="7429" y="66861"/>
                </a:cubicBezTo>
                <a:lnTo>
                  <a:pt x="93489" y="66861"/>
                </a:lnTo>
                <a:lnTo>
                  <a:pt x="69020" y="91330"/>
                </a:lnTo>
                <a:cubicBezTo>
                  <a:pt x="66118" y="94232"/>
                  <a:pt x="66118" y="98945"/>
                  <a:pt x="69020" y="101847"/>
                </a:cubicBezTo>
                <a:cubicBezTo>
                  <a:pt x="71922" y="104748"/>
                  <a:pt x="76634" y="104748"/>
                  <a:pt x="79536" y="101847"/>
                </a:cubicBezTo>
                <a:lnTo>
                  <a:pt x="116681" y="64702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73" name="Text 71"/>
          <p:cNvSpPr/>
          <p:nvPr/>
        </p:nvSpPr>
        <p:spPr>
          <a:xfrm>
            <a:off x="8540194" y="4318706"/>
            <a:ext cx="3101709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/proxy/pay/**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381647" y="4545111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2182" y="54185"/>
                </a:moveTo>
                <a:cubicBezTo>
                  <a:pt x="-720" y="57087"/>
                  <a:pt x="-720" y="61800"/>
                  <a:pt x="2182" y="64702"/>
                </a:cubicBezTo>
                <a:lnTo>
                  <a:pt x="39327" y="101847"/>
                </a:lnTo>
                <a:cubicBezTo>
                  <a:pt x="42229" y="104748"/>
                  <a:pt x="46942" y="104748"/>
                  <a:pt x="49844" y="101847"/>
                </a:cubicBezTo>
                <a:cubicBezTo>
                  <a:pt x="52746" y="98945"/>
                  <a:pt x="52746" y="94232"/>
                  <a:pt x="49844" y="91330"/>
                </a:cubicBezTo>
                <a:lnTo>
                  <a:pt x="25375" y="66861"/>
                </a:lnTo>
                <a:lnTo>
                  <a:pt x="111435" y="66861"/>
                </a:lnTo>
                <a:cubicBezTo>
                  <a:pt x="115544" y="66861"/>
                  <a:pt x="118864" y="63541"/>
                  <a:pt x="118864" y="59432"/>
                </a:cubicBezTo>
                <a:cubicBezTo>
                  <a:pt x="118864" y="55323"/>
                  <a:pt x="115544" y="52003"/>
                  <a:pt x="111435" y="52003"/>
                </a:cubicBezTo>
                <a:lnTo>
                  <a:pt x="25375" y="52003"/>
                </a:lnTo>
                <a:lnTo>
                  <a:pt x="49844" y="27534"/>
                </a:lnTo>
                <a:cubicBezTo>
                  <a:pt x="52746" y="24632"/>
                  <a:pt x="52746" y="19919"/>
                  <a:pt x="49844" y="17017"/>
                </a:cubicBezTo>
                <a:cubicBezTo>
                  <a:pt x="46942" y="14115"/>
                  <a:pt x="42229" y="14115"/>
                  <a:pt x="39327" y="17017"/>
                </a:cubicBezTo>
                <a:lnTo>
                  <a:pt x="2182" y="54162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75" name="Text 73"/>
          <p:cNvSpPr/>
          <p:nvPr/>
        </p:nvSpPr>
        <p:spPr>
          <a:xfrm>
            <a:off x="8540194" y="4522472"/>
            <a:ext cx="3101709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http://pay-service:8082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364666" y="4726238"/>
            <a:ext cx="3268747" cy="135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E0E2E6">
                    <a:alpha val="5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2025-01-22 08:45:12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48633" y="5102639"/>
            <a:ext cx="3427231" cy="1126373"/>
          </a:xfrm>
          <a:custGeom>
            <a:avLst/>
            <a:gdLst/>
            <a:ahLst/>
            <a:cxnLst/>
            <a:rect l="l" t="t" r="r" b="b"/>
            <a:pathLst>
              <a:path w="3427231" h="1126373">
                <a:moveTo>
                  <a:pt x="67920" y="0"/>
                </a:moveTo>
                <a:lnTo>
                  <a:pt x="3359311" y="0"/>
                </a:lnTo>
                <a:cubicBezTo>
                  <a:pt x="3396822" y="0"/>
                  <a:pt x="3427231" y="30409"/>
                  <a:pt x="3427231" y="67920"/>
                </a:cubicBezTo>
                <a:lnTo>
                  <a:pt x="3427231" y="1058453"/>
                </a:lnTo>
                <a:cubicBezTo>
                  <a:pt x="3427231" y="1095964"/>
                  <a:pt x="3396822" y="1126373"/>
                  <a:pt x="3359311" y="1126373"/>
                </a:cubicBezTo>
                <a:lnTo>
                  <a:pt x="67920" y="1126373"/>
                </a:lnTo>
                <a:cubicBezTo>
                  <a:pt x="30409" y="1126373"/>
                  <a:pt x="0" y="1095964"/>
                  <a:pt x="0" y="1058453"/>
                </a:cubicBezTo>
                <a:lnTo>
                  <a:pt x="0" y="67920"/>
                </a:lnTo>
                <a:cubicBezTo>
                  <a:pt x="0" y="30434"/>
                  <a:pt x="30434" y="0"/>
                  <a:pt x="67920" y="0"/>
                </a:cubicBezTo>
                <a:close/>
              </a:path>
            </a:pathLst>
          </a:custGeom>
          <a:solidFill>
            <a:srgbClr val="E5A04C">
              <a:alpha val="10196"/>
            </a:srgbClr>
          </a:solidFill>
          <a:ln w="8467">
            <a:solidFill>
              <a:srgbClr val="E5A04C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70326" y="5241312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135844"/>
                </a:moveTo>
                <a:cubicBezTo>
                  <a:pt x="105409" y="135844"/>
                  <a:pt x="135844" y="105409"/>
                  <a:pt x="135844" y="67922"/>
                </a:cubicBezTo>
                <a:cubicBezTo>
                  <a:pt x="135844" y="30435"/>
                  <a:pt x="105409" y="0"/>
                  <a:pt x="67922" y="0"/>
                </a:cubicBezTo>
                <a:cubicBezTo>
                  <a:pt x="30435" y="0"/>
                  <a:pt x="0" y="30435"/>
                  <a:pt x="0" y="67922"/>
                </a:cubicBezTo>
                <a:cubicBezTo>
                  <a:pt x="0" y="105409"/>
                  <a:pt x="30435" y="135844"/>
                  <a:pt x="67922" y="135844"/>
                </a:cubicBezTo>
                <a:close/>
                <a:moveTo>
                  <a:pt x="59432" y="42451"/>
                </a:moveTo>
                <a:cubicBezTo>
                  <a:pt x="59432" y="37765"/>
                  <a:pt x="63236" y="33961"/>
                  <a:pt x="67922" y="33961"/>
                </a:cubicBezTo>
                <a:cubicBezTo>
                  <a:pt x="72608" y="33961"/>
                  <a:pt x="76412" y="37765"/>
                  <a:pt x="76412" y="42451"/>
                </a:cubicBezTo>
                <a:cubicBezTo>
                  <a:pt x="76412" y="47137"/>
                  <a:pt x="72608" y="50942"/>
                  <a:pt x="67922" y="50942"/>
                </a:cubicBezTo>
                <a:cubicBezTo>
                  <a:pt x="63236" y="50942"/>
                  <a:pt x="59432" y="47137"/>
                  <a:pt x="59432" y="42451"/>
                </a:cubicBezTo>
                <a:close/>
                <a:moveTo>
                  <a:pt x="57309" y="59432"/>
                </a:moveTo>
                <a:lnTo>
                  <a:pt x="70045" y="59432"/>
                </a:lnTo>
                <a:cubicBezTo>
                  <a:pt x="73573" y="59432"/>
                  <a:pt x="76412" y="62271"/>
                  <a:pt x="76412" y="65799"/>
                </a:cubicBezTo>
                <a:lnTo>
                  <a:pt x="76412" y="89148"/>
                </a:lnTo>
                <a:lnTo>
                  <a:pt x="78535" y="89148"/>
                </a:lnTo>
                <a:cubicBezTo>
                  <a:pt x="82064" y="89148"/>
                  <a:pt x="84903" y="91987"/>
                  <a:pt x="84903" y="95515"/>
                </a:cubicBezTo>
                <a:cubicBezTo>
                  <a:pt x="84903" y="99044"/>
                  <a:pt x="82064" y="101883"/>
                  <a:pt x="78535" y="101883"/>
                </a:cubicBezTo>
                <a:lnTo>
                  <a:pt x="57309" y="101883"/>
                </a:lnTo>
                <a:cubicBezTo>
                  <a:pt x="53780" y="101883"/>
                  <a:pt x="50942" y="99044"/>
                  <a:pt x="50942" y="95515"/>
                </a:cubicBezTo>
                <a:cubicBezTo>
                  <a:pt x="50942" y="91987"/>
                  <a:pt x="53780" y="89148"/>
                  <a:pt x="57309" y="89148"/>
                </a:cubicBezTo>
                <a:lnTo>
                  <a:pt x="63677" y="89148"/>
                </a:lnTo>
                <a:lnTo>
                  <a:pt x="63677" y="72167"/>
                </a:lnTo>
                <a:lnTo>
                  <a:pt x="57309" y="72167"/>
                </a:lnTo>
                <a:cubicBezTo>
                  <a:pt x="53780" y="72167"/>
                  <a:pt x="50942" y="69328"/>
                  <a:pt x="50942" y="65799"/>
                </a:cubicBezTo>
                <a:cubicBezTo>
                  <a:pt x="50942" y="62271"/>
                  <a:pt x="53780" y="59432"/>
                  <a:pt x="57309" y="59432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79" name="Text 77"/>
          <p:cNvSpPr/>
          <p:nvPr/>
        </p:nvSpPr>
        <p:spPr>
          <a:xfrm>
            <a:off x="8591072" y="5207351"/>
            <a:ext cx="611298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关键指标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353345" y="5479039"/>
            <a:ext cx="772613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平均响应时间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1185287" y="5479039"/>
            <a:ext cx="449983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&lt; 10ms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353345" y="5716766"/>
            <a:ext cx="534886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峰值QPS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1206955" y="5716766"/>
            <a:ext cx="424513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5000+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353345" y="5954493"/>
            <a:ext cx="416022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可用性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232160" y="5954493"/>
            <a:ext cx="399042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99.9%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945" y="334945"/>
            <a:ext cx="33495" cy="334945"/>
          </a:xfrm>
          <a:custGeom>
            <a:avLst/>
            <a:gdLst/>
            <a:ahLst/>
            <a:cxnLst/>
            <a:rect l="l" t="t" r="r" b="b"/>
            <a:pathLst>
              <a:path w="33495" h="334945">
                <a:moveTo>
                  <a:pt x="16747" y="0"/>
                </a:moveTo>
                <a:lnTo>
                  <a:pt x="16747" y="0"/>
                </a:lnTo>
                <a:cubicBezTo>
                  <a:pt x="25990" y="0"/>
                  <a:pt x="33495" y="7504"/>
                  <a:pt x="33495" y="16747"/>
                </a:cubicBezTo>
                <a:lnTo>
                  <a:pt x="33495" y="318198"/>
                </a:lnTo>
                <a:cubicBezTo>
                  <a:pt x="33495" y="327447"/>
                  <a:pt x="25997" y="334945"/>
                  <a:pt x="16747" y="334945"/>
                </a:cubicBezTo>
                <a:lnTo>
                  <a:pt x="16747" y="334945"/>
                </a:lnTo>
                <a:cubicBezTo>
                  <a:pt x="7498" y="334945"/>
                  <a:pt x="0" y="327447"/>
                  <a:pt x="0" y="318198"/>
                </a:cubicBezTo>
                <a:lnTo>
                  <a:pt x="0" y="16747"/>
                </a:lnTo>
                <a:cubicBezTo>
                  <a:pt x="0" y="7504"/>
                  <a:pt x="7504" y="0"/>
                  <a:pt x="16747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" name="Text 1"/>
          <p:cNvSpPr/>
          <p:nvPr/>
        </p:nvSpPr>
        <p:spPr>
          <a:xfrm>
            <a:off x="468923" y="334945"/>
            <a:ext cx="5627077" cy="33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5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数据炼金术：字段映射、聚合与安全加固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418" y="736879"/>
            <a:ext cx="11430000" cy="234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Data Transformation: Field Mapping, Aggregation &amp; Security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1692" y="1138813"/>
            <a:ext cx="7553011" cy="1331407"/>
          </a:xfrm>
          <a:custGeom>
            <a:avLst/>
            <a:gdLst/>
            <a:ahLst/>
            <a:cxnLst/>
            <a:rect l="l" t="t" r="r" b="b"/>
            <a:pathLst>
              <a:path w="7553011" h="1331407">
                <a:moveTo>
                  <a:pt x="33495" y="0"/>
                </a:moveTo>
                <a:lnTo>
                  <a:pt x="7452530" y="0"/>
                </a:lnTo>
                <a:cubicBezTo>
                  <a:pt x="7508024" y="0"/>
                  <a:pt x="7553011" y="44987"/>
                  <a:pt x="7553011" y="100481"/>
                </a:cubicBezTo>
                <a:lnTo>
                  <a:pt x="7553011" y="1230925"/>
                </a:lnTo>
                <a:cubicBezTo>
                  <a:pt x="7553011" y="1286420"/>
                  <a:pt x="7508024" y="1331407"/>
                  <a:pt x="7452530" y="1331407"/>
                </a:cubicBezTo>
                <a:lnTo>
                  <a:pt x="33495" y="1331407"/>
                </a:lnTo>
                <a:cubicBezTo>
                  <a:pt x="14996" y="1331407"/>
                  <a:pt x="0" y="1316411"/>
                  <a:pt x="0" y="129791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351692" y="1138813"/>
            <a:ext cx="33495" cy="1331407"/>
          </a:xfrm>
          <a:custGeom>
            <a:avLst/>
            <a:gdLst/>
            <a:ahLst/>
            <a:cxnLst/>
            <a:rect l="l" t="t" r="r" b="b"/>
            <a:pathLst>
              <a:path w="33495" h="1331407">
                <a:moveTo>
                  <a:pt x="33495" y="0"/>
                </a:moveTo>
                <a:lnTo>
                  <a:pt x="33495" y="0"/>
                </a:lnTo>
                <a:lnTo>
                  <a:pt x="33495" y="1331407"/>
                </a:lnTo>
                <a:lnTo>
                  <a:pt x="33495" y="1331407"/>
                </a:lnTo>
                <a:cubicBezTo>
                  <a:pt x="14996" y="1331407"/>
                  <a:pt x="0" y="1316411"/>
                  <a:pt x="0" y="129791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7" name="Shape 5"/>
          <p:cNvSpPr/>
          <p:nvPr/>
        </p:nvSpPr>
        <p:spPr>
          <a:xfrm>
            <a:off x="535912" y="1306286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66990" y="0"/>
                </a:moveTo>
                <a:lnTo>
                  <a:pt x="334944" y="0"/>
                </a:lnTo>
                <a:cubicBezTo>
                  <a:pt x="371941" y="0"/>
                  <a:pt x="401934" y="29993"/>
                  <a:pt x="401934" y="66990"/>
                </a:cubicBezTo>
                <a:lnTo>
                  <a:pt x="401934" y="334944"/>
                </a:lnTo>
                <a:cubicBezTo>
                  <a:pt x="401934" y="371941"/>
                  <a:pt x="371941" y="401934"/>
                  <a:pt x="334944" y="401934"/>
                </a:cubicBezTo>
                <a:lnTo>
                  <a:pt x="66990" y="401934"/>
                </a:lnTo>
                <a:cubicBezTo>
                  <a:pt x="29993" y="401934"/>
                  <a:pt x="0" y="371941"/>
                  <a:pt x="0" y="334944"/>
                </a:cubicBezTo>
                <a:lnTo>
                  <a:pt x="0" y="66990"/>
                </a:lnTo>
                <a:cubicBezTo>
                  <a:pt x="0" y="29993"/>
                  <a:pt x="29993" y="0"/>
                  <a:pt x="66990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48956" y="1406769"/>
            <a:ext cx="175846" cy="200967"/>
          </a:xfrm>
          <a:custGeom>
            <a:avLst/>
            <a:gdLst/>
            <a:ahLst/>
            <a:cxnLst/>
            <a:rect l="l" t="t" r="r" b="b"/>
            <a:pathLst>
              <a:path w="175846" h="200967">
                <a:moveTo>
                  <a:pt x="113044" y="0"/>
                </a:moveTo>
                <a:lnTo>
                  <a:pt x="50242" y="0"/>
                </a:lnTo>
                <a:cubicBezTo>
                  <a:pt x="43294" y="0"/>
                  <a:pt x="37681" y="5613"/>
                  <a:pt x="37681" y="12560"/>
                </a:cubicBezTo>
                <a:cubicBezTo>
                  <a:pt x="37681" y="19508"/>
                  <a:pt x="43294" y="25121"/>
                  <a:pt x="50242" y="25121"/>
                </a:cubicBezTo>
                <a:lnTo>
                  <a:pt x="50242" y="84587"/>
                </a:lnTo>
                <a:lnTo>
                  <a:pt x="2944" y="167329"/>
                </a:lnTo>
                <a:cubicBezTo>
                  <a:pt x="1021" y="170743"/>
                  <a:pt x="0" y="174551"/>
                  <a:pt x="0" y="178476"/>
                </a:cubicBezTo>
                <a:cubicBezTo>
                  <a:pt x="0" y="190919"/>
                  <a:pt x="10048" y="200967"/>
                  <a:pt x="22491" y="200967"/>
                </a:cubicBezTo>
                <a:lnTo>
                  <a:pt x="153355" y="200967"/>
                </a:lnTo>
                <a:cubicBezTo>
                  <a:pt x="165759" y="200967"/>
                  <a:pt x="175846" y="190919"/>
                  <a:pt x="175846" y="178476"/>
                </a:cubicBezTo>
                <a:cubicBezTo>
                  <a:pt x="175846" y="174551"/>
                  <a:pt x="174826" y="170704"/>
                  <a:pt x="172902" y="167329"/>
                </a:cubicBezTo>
                <a:lnTo>
                  <a:pt x="125604" y="84587"/>
                </a:lnTo>
                <a:lnTo>
                  <a:pt x="125604" y="25121"/>
                </a:lnTo>
                <a:cubicBezTo>
                  <a:pt x="132552" y="25121"/>
                  <a:pt x="138165" y="19508"/>
                  <a:pt x="138165" y="12560"/>
                </a:cubicBezTo>
                <a:cubicBezTo>
                  <a:pt x="138165" y="5613"/>
                  <a:pt x="132552" y="0"/>
                  <a:pt x="125604" y="0"/>
                </a:cubicBezTo>
                <a:lnTo>
                  <a:pt x="113044" y="0"/>
                </a:lnTo>
                <a:close/>
                <a:moveTo>
                  <a:pt x="75363" y="84587"/>
                </a:moveTo>
                <a:lnTo>
                  <a:pt x="75363" y="25121"/>
                </a:lnTo>
                <a:lnTo>
                  <a:pt x="100484" y="25121"/>
                </a:lnTo>
                <a:lnTo>
                  <a:pt x="100484" y="84587"/>
                </a:lnTo>
                <a:cubicBezTo>
                  <a:pt x="100484" y="88944"/>
                  <a:pt x="101622" y="93261"/>
                  <a:pt x="103781" y="97069"/>
                </a:cubicBezTo>
                <a:lnTo>
                  <a:pt x="120109" y="125604"/>
                </a:lnTo>
                <a:lnTo>
                  <a:pt x="55737" y="125604"/>
                </a:lnTo>
                <a:lnTo>
                  <a:pt x="72066" y="97069"/>
                </a:lnTo>
                <a:cubicBezTo>
                  <a:pt x="74224" y="93261"/>
                  <a:pt x="75363" y="88983"/>
                  <a:pt x="75363" y="84587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9" name="Text 7"/>
          <p:cNvSpPr/>
          <p:nvPr/>
        </p:nvSpPr>
        <p:spPr>
          <a:xfrm>
            <a:off x="1038330" y="1373275"/>
            <a:ext cx="3070330" cy="267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不仅仅是转发，这是数据的重塑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5912" y="1808703"/>
            <a:ext cx="7276681" cy="4940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185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ConnectorTransformService</a:t>
            </a:r>
            <a:r>
              <a:rPr lang="en-US" sz="118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，我们提供了强大的数据处理管线，让数据在流转过程中完成华丽的变身。无论是简单的字段重命名，还是复杂的数据结构转换，都能轻松应对。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7736" y="2602802"/>
            <a:ext cx="2425560" cy="1948264"/>
          </a:xfrm>
          <a:custGeom>
            <a:avLst/>
            <a:gdLst/>
            <a:ahLst/>
            <a:cxnLst/>
            <a:rect l="l" t="t" r="r" b="b"/>
            <a:pathLst>
              <a:path w="2425560" h="1948264">
                <a:moveTo>
                  <a:pt x="100491" y="0"/>
                </a:moveTo>
                <a:lnTo>
                  <a:pt x="2325069" y="0"/>
                </a:lnTo>
                <a:cubicBezTo>
                  <a:pt x="2380569" y="0"/>
                  <a:pt x="2425560" y="44992"/>
                  <a:pt x="2425560" y="100491"/>
                </a:cubicBezTo>
                <a:lnTo>
                  <a:pt x="2425560" y="1847772"/>
                </a:lnTo>
                <a:cubicBezTo>
                  <a:pt x="2425560" y="1903272"/>
                  <a:pt x="2380569" y="1948264"/>
                  <a:pt x="2325069" y="1948264"/>
                </a:cubicBezTo>
                <a:lnTo>
                  <a:pt x="100491" y="1948264"/>
                </a:lnTo>
                <a:cubicBezTo>
                  <a:pt x="44992" y="1948264"/>
                  <a:pt x="0" y="1903272"/>
                  <a:pt x="0" y="1847772"/>
                </a:cubicBezTo>
                <a:lnTo>
                  <a:pt x="0" y="100491"/>
                </a:lnTo>
                <a:cubicBezTo>
                  <a:pt x="0" y="44992"/>
                  <a:pt x="44992" y="0"/>
                  <a:pt x="100491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  <a:ln w="8467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4506" y="2739574"/>
            <a:ext cx="334945" cy="334945"/>
          </a:xfrm>
          <a:custGeom>
            <a:avLst/>
            <a:gdLst/>
            <a:ahLst/>
            <a:cxnLst/>
            <a:rect l="l" t="t" r="r" b="b"/>
            <a:pathLst>
              <a:path w="334945" h="334945">
                <a:moveTo>
                  <a:pt x="66989" y="0"/>
                </a:moveTo>
                <a:lnTo>
                  <a:pt x="267956" y="0"/>
                </a:lnTo>
                <a:cubicBezTo>
                  <a:pt x="304928" y="0"/>
                  <a:pt x="334945" y="30017"/>
                  <a:pt x="334945" y="66989"/>
                </a:cubicBezTo>
                <a:lnTo>
                  <a:pt x="334945" y="267956"/>
                </a:lnTo>
                <a:cubicBezTo>
                  <a:pt x="334945" y="304928"/>
                  <a:pt x="304928" y="334945"/>
                  <a:pt x="267956" y="334945"/>
                </a:cubicBezTo>
                <a:lnTo>
                  <a:pt x="66989" y="334945"/>
                </a:lnTo>
                <a:cubicBezTo>
                  <a:pt x="30017" y="334945"/>
                  <a:pt x="0" y="304928"/>
                  <a:pt x="0" y="267956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58242" y="2823310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132081" y="11252"/>
                </a:moveTo>
                <a:cubicBezTo>
                  <a:pt x="136006" y="9617"/>
                  <a:pt x="140487" y="10532"/>
                  <a:pt x="143496" y="13509"/>
                </a:cubicBezTo>
                <a:lnTo>
                  <a:pt x="164431" y="34443"/>
                </a:lnTo>
                <a:cubicBezTo>
                  <a:pt x="166393" y="36406"/>
                  <a:pt x="167505" y="39055"/>
                  <a:pt x="167505" y="41835"/>
                </a:cubicBezTo>
                <a:cubicBezTo>
                  <a:pt x="167505" y="44616"/>
                  <a:pt x="166393" y="47265"/>
                  <a:pt x="164431" y="49228"/>
                </a:cubicBezTo>
                <a:lnTo>
                  <a:pt x="143496" y="70162"/>
                </a:lnTo>
                <a:cubicBezTo>
                  <a:pt x="140487" y="73171"/>
                  <a:pt x="136006" y="74054"/>
                  <a:pt x="132081" y="72419"/>
                </a:cubicBezTo>
                <a:cubicBezTo>
                  <a:pt x="128156" y="70783"/>
                  <a:pt x="125604" y="67022"/>
                  <a:pt x="125604" y="62802"/>
                </a:cubicBezTo>
                <a:lnTo>
                  <a:pt x="125604" y="52335"/>
                </a:lnTo>
                <a:lnTo>
                  <a:pt x="115137" y="52335"/>
                </a:lnTo>
                <a:cubicBezTo>
                  <a:pt x="111834" y="52335"/>
                  <a:pt x="108726" y="53873"/>
                  <a:pt x="106764" y="56522"/>
                </a:cubicBezTo>
                <a:lnTo>
                  <a:pt x="96166" y="70652"/>
                </a:lnTo>
                <a:lnTo>
                  <a:pt x="83082" y="53218"/>
                </a:lnTo>
                <a:lnTo>
                  <a:pt x="90016" y="43962"/>
                </a:lnTo>
                <a:cubicBezTo>
                  <a:pt x="95937" y="36046"/>
                  <a:pt x="105259" y="31401"/>
                  <a:pt x="115137" y="31401"/>
                </a:cubicBezTo>
                <a:lnTo>
                  <a:pt x="125604" y="31401"/>
                </a:lnTo>
                <a:lnTo>
                  <a:pt x="125604" y="20934"/>
                </a:lnTo>
                <a:cubicBezTo>
                  <a:pt x="125604" y="16715"/>
                  <a:pt x="128156" y="12888"/>
                  <a:pt x="132081" y="11252"/>
                </a:cubicBezTo>
                <a:close/>
                <a:moveTo>
                  <a:pt x="50373" y="96820"/>
                </a:moveTo>
                <a:lnTo>
                  <a:pt x="63456" y="114254"/>
                </a:lnTo>
                <a:lnTo>
                  <a:pt x="56522" y="123511"/>
                </a:lnTo>
                <a:cubicBezTo>
                  <a:pt x="50602" y="131427"/>
                  <a:pt x="41279" y="136071"/>
                  <a:pt x="31401" y="136071"/>
                </a:cubicBezTo>
                <a:lnTo>
                  <a:pt x="10467" y="136071"/>
                </a:lnTo>
                <a:cubicBezTo>
                  <a:pt x="4677" y="136071"/>
                  <a:pt x="0" y="131394"/>
                  <a:pt x="0" y="125604"/>
                </a:cubicBezTo>
                <a:cubicBezTo>
                  <a:pt x="0" y="119815"/>
                  <a:pt x="4677" y="115137"/>
                  <a:pt x="10467" y="115137"/>
                </a:cubicBezTo>
                <a:lnTo>
                  <a:pt x="31401" y="115137"/>
                </a:lnTo>
                <a:cubicBezTo>
                  <a:pt x="34705" y="115137"/>
                  <a:pt x="37812" y="113600"/>
                  <a:pt x="39775" y="110951"/>
                </a:cubicBezTo>
                <a:lnTo>
                  <a:pt x="50373" y="96820"/>
                </a:lnTo>
                <a:close/>
                <a:moveTo>
                  <a:pt x="143464" y="153931"/>
                </a:moveTo>
                <a:cubicBezTo>
                  <a:pt x="140454" y="156940"/>
                  <a:pt x="135973" y="157823"/>
                  <a:pt x="132048" y="156188"/>
                </a:cubicBezTo>
                <a:cubicBezTo>
                  <a:pt x="128123" y="154552"/>
                  <a:pt x="125604" y="150758"/>
                  <a:pt x="125604" y="146538"/>
                </a:cubicBezTo>
                <a:lnTo>
                  <a:pt x="125604" y="136071"/>
                </a:lnTo>
                <a:lnTo>
                  <a:pt x="115137" y="136071"/>
                </a:lnTo>
                <a:cubicBezTo>
                  <a:pt x="105259" y="136071"/>
                  <a:pt x="95937" y="131427"/>
                  <a:pt x="90016" y="123511"/>
                </a:cubicBezTo>
                <a:lnTo>
                  <a:pt x="39775" y="56522"/>
                </a:lnTo>
                <a:cubicBezTo>
                  <a:pt x="37812" y="53873"/>
                  <a:pt x="34705" y="52335"/>
                  <a:pt x="31401" y="52335"/>
                </a:cubicBezTo>
                <a:lnTo>
                  <a:pt x="10467" y="52335"/>
                </a:lnTo>
                <a:cubicBezTo>
                  <a:pt x="4677" y="52335"/>
                  <a:pt x="0" y="47658"/>
                  <a:pt x="0" y="41868"/>
                </a:cubicBezTo>
                <a:cubicBezTo>
                  <a:pt x="0" y="36079"/>
                  <a:pt x="4677" y="31401"/>
                  <a:pt x="10467" y="31401"/>
                </a:cubicBezTo>
                <a:lnTo>
                  <a:pt x="31401" y="31401"/>
                </a:lnTo>
                <a:cubicBezTo>
                  <a:pt x="41279" y="31401"/>
                  <a:pt x="50602" y="36046"/>
                  <a:pt x="56522" y="43962"/>
                </a:cubicBezTo>
                <a:lnTo>
                  <a:pt x="106764" y="110951"/>
                </a:lnTo>
                <a:cubicBezTo>
                  <a:pt x="108726" y="113600"/>
                  <a:pt x="111834" y="115137"/>
                  <a:pt x="115137" y="115137"/>
                </a:cubicBezTo>
                <a:lnTo>
                  <a:pt x="125604" y="115137"/>
                </a:lnTo>
                <a:lnTo>
                  <a:pt x="125604" y="104670"/>
                </a:lnTo>
                <a:cubicBezTo>
                  <a:pt x="125604" y="100451"/>
                  <a:pt x="128156" y="96624"/>
                  <a:pt x="132081" y="94988"/>
                </a:cubicBezTo>
                <a:cubicBezTo>
                  <a:pt x="136006" y="93353"/>
                  <a:pt x="140487" y="94269"/>
                  <a:pt x="143496" y="97245"/>
                </a:cubicBezTo>
                <a:lnTo>
                  <a:pt x="164431" y="118179"/>
                </a:lnTo>
                <a:cubicBezTo>
                  <a:pt x="166393" y="120142"/>
                  <a:pt x="167505" y="122791"/>
                  <a:pt x="167505" y="125572"/>
                </a:cubicBezTo>
                <a:cubicBezTo>
                  <a:pt x="167505" y="128352"/>
                  <a:pt x="166393" y="131001"/>
                  <a:pt x="164431" y="132964"/>
                </a:cubicBezTo>
                <a:lnTo>
                  <a:pt x="143496" y="153898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14" name="Text 12"/>
          <p:cNvSpPr/>
          <p:nvPr/>
        </p:nvSpPr>
        <p:spPr>
          <a:xfrm>
            <a:off x="876440" y="2789816"/>
            <a:ext cx="789641" cy="234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字段映射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4506" y="3175003"/>
            <a:ext cx="2219011" cy="435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将上游的</a:t>
            </a:r>
            <a:r>
              <a:rPr lang="en-US" sz="105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user_name</a:t>
            </a:r>
            <a:r>
              <a:rPr lang="en-US" sz="105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变为下游的</a:t>
            </a:r>
            <a:r>
              <a:rPr lang="en-US" sz="105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username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4506" y="3710915"/>
            <a:ext cx="2152022" cy="468923"/>
          </a:xfrm>
          <a:custGeom>
            <a:avLst/>
            <a:gdLst/>
            <a:ahLst/>
            <a:cxnLst/>
            <a:rect l="l" t="t" r="r" b="b"/>
            <a:pathLst>
              <a:path w="2152022" h="468923">
                <a:moveTo>
                  <a:pt x="66990" y="0"/>
                </a:moveTo>
                <a:lnTo>
                  <a:pt x="2085032" y="0"/>
                </a:lnTo>
                <a:cubicBezTo>
                  <a:pt x="2122029" y="0"/>
                  <a:pt x="2152022" y="29993"/>
                  <a:pt x="2152022" y="66990"/>
                </a:cubicBezTo>
                <a:lnTo>
                  <a:pt x="2152022" y="401933"/>
                </a:lnTo>
                <a:cubicBezTo>
                  <a:pt x="2152022" y="438930"/>
                  <a:pt x="2122029" y="468923"/>
                  <a:pt x="2085032" y="468923"/>
                </a:cubicBezTo>
                <a:lnTo>
                  <a:pt x="66990" y="468923"/>
                </a:lnTo>
                <a:cubicBezTo>
                  <a:pt x="30017" y="468923"/>
                  <a:pt x="0" y="438906"/>
                  <a:pt x="0" y="401933"/>
                </a:cubicBezTo>
                <a:lnTo>
                  <a:pt x="0" y="66990"/>
                </a:lnTo>
                <a:cubicBezTo>
                  <a:pt x="0" y="30017"/>
                  <a:pt x="30017" y="0"/>
                  <a:pt x="669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541495" y="3777904"/>
            <a:ext cx="2076659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"user_name" → "username"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1495" y="3945376"/>
            <a:ext cx="2076659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"user_id" → "userId"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4506" y="4246827"/>
            <a:ext cx="2210637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支持扁平结构与嵌套对象的相互转换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04427" y="2602802"/>
            <a:ext cx="2425560" cy="1948264"/>
          </a:xfrm>
          <a:custGeom>
            <a:avLst/>
            <a:gdLst/>
            <a:ahLst/>
            <a:cxnLst/>
            <a:rect l="l" t="t" r="r" b="b"/>
            <a:pathLst>
              <a:path w="2425560" h="1948264">
                <a:moveTo>
                  <a:pt x="100491" y="0"/>
                </a:moveTo>
                <a:lnTo>
                  <a:pt x="2325069" y="0"/>
                </a:lnTo>
                <a:cubicBezTo>
                  <a:pt x="2380569" y="0"/>
                  <a:pt x="2425560" y="44992"/>
                  <a:pt x="2425560" y="100491"/>
                </a:cubicBezTo>
                <a:lnTo>
                  <a:pt x="2425560" y="1847772"/>
                </a:lnTo>
                <a:cubicBezTo>
                  <a:pt x="2425560" y="1903272"/>
                  <a:pt x="2380569" y="1948264"/>
                  <a:pt x="2325069" y="1948264"/>
                </a:cubicBezTo>
                <a:lnTo>
                  <a:pt x="100491" y="1948264"/>
                </a:lnTo>
                <a:cubicBezTo>
                  <a:pt x="44992" y="1948264"/>
                  <a:pt x="0" y="1903272"/>
                  <a:pt x="0" y="1847772"/>
                </a:cubicBezTo>
                <a:lnTo>
                  <a:pt x="0" y="100491"/>
                </a:lnTo>
                <a:cubicBezTo>
                  <a:pt x="0" y="44992"/>
                  <a:pt x="44992" y="0"/>
                  <a:pt x="100491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  <a:ln w="8467">
            <a:solidFill>
              <a:srgbClr val="E5A04C">
                <a:alpha val="5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41196" y="2739574"/>
            <a:ext cx="334945" cy="334945"/>
          </a:xfrm>
          <a:custGeom>
            <a:avLst/>
            <a:gdLst/>
            <a:ahLst/>
            <a:cxnLst/>
            <a:rect l="l" t="t" r="r" b="b"/>
            <a:pathLst>
              <a:path w="334945" h="334945">
                <a:moveTo>
                  <a:pt x="66989" y="0"/>
                </a:moveTo>
                <a:lnTo>
                  <a:pt x="267956" y="0"/>
                </a:lnTo>
                <a:cubicBezTo>
                  <a:pt x="304928" y="0"/>
                  <a:pt x="334945" y="30017"/>
                  <a:pt x="334945" y="66989"/>
                </a:cubicBezTo>
                <a:lnTo>
                  <a:pt x="334945" y="267956"/>
                </a:lnTo>
                <a:cubicBezTo>
                  <a:pt x="334945" y="304928"/>
                  <a:pt x="304928" y="334945"/>
                  <a:pt x="267956" y="334945"/>
                </a:cubicBezTo>
                <a:lnTo>
                  <a:pt x="66989" y="334945"/>
                </a:lnTo>
                <a:cubicBezTo>
                  <a:pt x="30017" y="334945"/>
                  <a:pt x="0" y="304928"/>
                  <a:pt x="0" y="267956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3124933" y="2823310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76050" y="1701"/>
                </a:moveTo>
                <a:cubicBezTo>
                  <a:pt x="80923" y="-556"/>
                  <a:pt x="86549" y="-556"/>
                  <a:pt x="91423" y="1701"/>
                </a:cubicBezTo>
                <a:lnTo>
                  <a:pt x="162926" y="34737"/>
                </a:lnTo>
                <a:cubicBezTo>
                  <a:pt x="165706" y="36013"/>
                  <a:pt x="167473" y="38793"/>
                  <a:pt x="167473" y="41868"/>
                </a:cubicBezTo>
                <a:cubicBezTo>
                  <a:pt x="167473" y="44943"/>
                  <a:pt x="165706" y="47723"/>
                  <a:pt x="162926" y="48999"/>
                </a:cubicBezTo>
                <a:lnTo>
                  <a:pt x="91423" y="82035"/>
                </a:lnTo>
                <a:cubicBezTo>
                  <a:pt x="86549" y="84292"/>
                  <a:pt x="80923" y="84292"/>
                  <a:pt x="76050" y="82035"/>
                </a:cubicBezTo>
                <a:lnTo>
                  <a:pt x="4547" y="48999"/>
                </a:lnTo>
                <a:cubicBezTo>
                  <a:pt x="1766" y="47690"/>
                  <a:pt x="0" y="44910"/>
                  <a:pt x="0" y="41868"/>
                </a:cubicBezTo>
                <a:cubicBezTo>
                  <a:pt x="0" y="38826"/>
                  <a:pt x="1766" y="36013"/>
                  <a:pt x="4547" y="34737"/>
                </a:cubicBezTo>
                <a:lnTo>
                  <a:pt x="76050" y="1701"/>
                </a:lnTo>
                <a:close/>
                <a:moveTo>
                  <a:pt x="15733" y="71437"/>
                </a:moveTo>
                <a:lnTo>
                  <a:pt x="69475" y="96264"/>
                </a:lnTo>
                <a:cubicBezTo>
                  <a:pt x="78535" y="100451"/>
                  <a:pt x="88970" y="100451"/>
                  <a:pt x="98030" y="96264"/>
                </a:cubicBezTo>
                <a:lnTo>
                  <a:pt x="151772" y="71437"/>
                </a:lnTo>
                <a:lnTo>
                  <a:pt x="162926" y="76606"/>
                </a:lnTo>
                <a:cubicBezTo>
                  <a:pt x="165706" y="77881"/>
                  <a:pt x="167473" y="80662"/>
                  <a:pt x="167473" y="83736"/>
                </a:cubicBezTo>
                <a:cubicBezTo>
                  <a:pt x="167473" y="86811"/>
                  <a:pt x="165706" y="89591"/>
                  <a:pt x="162926" y="90867"/>
                </a:cubicBezTo>
                <a:lnTo>
                  <a:pt x="91423" y="123904"/>
                </a:lnTo>
                <a:cubicBezTo>
                  <a:pt x="86549" y="126160"/>
                  <a:pt x="80923" y="126160"/>
                  <a:pt x="76050" y="123904"/>
                </a:cubicBezTo>
                <a:lnTo>
                  <a:pt x="4547" y="90867"/>
                </a:lnTo>
                <a:cubicBezTo>
                  <a:pt x="1766" y="89559"/>
                  <a:pt x="0" y="86778"/>
                  <a:pt x="0" y="83736"/>
                </a:cubicBezTo>
                <a:cubicBezTo>
                  <a:pt x="0" y="80694"/>
                  <a:pt x="1766" y="77881"/>
                  <a:pt x="4547" y="76606"/>
                </a:cubicBezTo>
                <a:lnTo>
                  <a:pt x="15701" y="71437"/>
                </a:lnTo>
                <a:close/>
                <a:moveTo>
                  <a:pt x="4547" y="118474"/>
                </a:moveTo>
                <a:lnTo>
                  <a:pt x="15701" y="113306"/>
                </a:lnTo>
                <a:lnTo>
                  <a:pt x="69442" y="138132"/>
                </a:lnTo>
                <a:cubicBezTo>
                  <a:pt x="78503" y="142319"/>
                  <a:pt x="88937" y="142319"/>
                  <a:pt x="97998" y="138132"/>
                </a:cubicBezTo>
                <a:lnTo>
                  <a:pt x="151739" y="113306"/>
                </a:lnTo>
                <a:lnTo>
                  <a:pt x="162893" y="118474"/>
                </a:lnTo>
                <a:cubicBezTo>
                  <a:pt x="165674" y="119749"/>
                  <a:pt x="167440" y="122530"/>
                  <a:pt x="167440" y="125604"/>
                </a:cubicBezTo>
                <a:cubicBezTo>
                  <a:pt x="167440" y="128679"/>
                  <a:pt x="165674" y="131459"/>
                  <a:pt x="162893" y="132735"/>
                </a:cubicBezTo>
                <a:lnTo>
                  <a:pt x="91390" y="165772"/>
                </a:lnTo>
                <a:cubicBezTo>
                  <a:pt x="86517" y="168029"/>
                  <a:pt x="80891" y="168029"/>
                  <a:pt x="76017" y="165772"/>
                </a:cubicBezTo>
                <a:lnTo>
                  <a:pt x="4547" y="132735"/>
                </a:lnTo>
                <a:cubicBezTo>
                  <a:pt x="1766" y="131427"/>
                  <a:pt x="0" y="128646"/>
                  <a:pt x="0" y="125604"/>
                </a:cubicBezTo>
                <a:cubicBezTo>
                  <a:pt x="0" y="122562"/>
                  <a:pt x="1766" y="119749"/>
                  <a:pt x="4547" y="118474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3" name="Text 21"/>
          <p:cNvSpPr/>
          <p:nvPr/>
        </p:nvSpPr>
        <p:spPr>
          <a:xfrm>
            <a:off x="3443130" y="2789816"/>
            <a:ext cx="741938" cy="234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数据聚合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41196" y="3175003"/>
            <a:ext cx="221901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</a:t>
            </a:r>
            <a:r>
              <a:rPr lang="en-US" sz="105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：列表数据字段补全与汇总计算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065271" y="3484827"/>
            <a:ext cx="102577" cy="117231"/>
          </a:xfrm>
          <a:custGeom>
            <a:avLst/>
            <a:gdLst/>
            <a:ahLst/>
            <a:cxnLst/>
            <a:rect l="l" t="t" r="r" b="b"/>
            <a:pathLst>
              <a:path w="102577" h="117231">
                <a:moveTo>
                  <a:pt x="99555" y="16051"/>
                </a:moveTo>
                <a:cubicBezTo>
                  <a:pt x="102829" y="18432"/>
                  <a:pt x="103561" y="23011"/>
                  <a:pt x="101180" y="26285"/>
                </a:cubicBezTo>
                <a:lnTo>
                  <a:pt x="42565" y="106881"/>
                </a:lnTo>
                <a:cubicBezTo>
                  <a:pt x="41306" y="108622"/>
                  <a:pt x="39359" y="109698"/>
                  <a:pt x="37207" y="109881"/>
                </a:cubicBezTo>
                <a:cubicBezTo>
                  <a:pt x="35055" y="110064"/>
                  <a:pt x="32971" y="109263"/>
                  <a:pt x="31460" y="107752"/>
                </a:cubicBezTo>
                <a:lnTo>
                  <a:pt x="2152" y="78444"/>
                </a:lnTo>
                <a:cubicBezTo>
                  <a:pt x="-710" y="75582"/>
                  <a:pt x="-710" y="70934"/>
                  <a:pt x="2152" y="68072"/>
                </a:cubicBezTo>
                <a:cubicBezTo>
                  <a:pt x="5014" y="65210"/>
                  <a:pt x="9662" y="65210"/>
                  <a:pt x="12524" y="68072"/>
                </a:cubicBezTo>
                <a:lnTo>
                  <a:pt x="35765" y="91312"/>
                </a:lnTo>
                <a:lnTo>
                  <a:pt x="89343" y="17653"/>
                </a:lnTo>
                <a:cubicBezTo>
                  <a:pt x="91724" y="14379"/>
                  <a:pt x="96303" y="13646"/>
                  <a:pt x="99577" y="16028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26" name="Text 24"/>
          <p:cNvSpPr/>
          <p:nvPr/>
        </p:nvSpPr>
        <p:spPr>
          <a:xfrm>
            <a:off x="3221229" y="3459706"/>
            <a:ext cx="1951055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自动保留主记录字段（Deep Copy）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65271" y="3685794"/>
            <a:ext cx="102577" cy="117231"/>
          </a:xfrm>
          <a:custGeom>
            <a:avLst/>
            <a:gdLst/>
            <a:ahLst/>
            <a:cxnLst/>
            <a:rect l="l" t="t" r="r" b="b"/>
            <a:pathLst>
              <a:path w="102577" h="117231">
                <a:moveTo>
                  <a:pt x="99555" y="16051"/>
                </a:moveTo>
                <a:cubicBezTo>
                  <a:pt x="102829" y="18432"/>
                  <a:pt x="103561" y="23011"/>
                  <a:pt x="101180" y="26285"/>
                </a:cubicBezTo>
                <a:lnTo>
                  <a:pt x="42565" y="106881"/>
                </a:lnTo>
                <a:cubicBezTo>
                  <a:pt x="41306" y="108622"/>
                  <a:pt x="39359" y="109698"/>
                  <a:pt x="37207" y="109881"/>
                </a:cubicBezTo>
                <a:cubicBezTo>
                  <a:pt x="35055" y="110064"/>
                  <a:pt x="32971" y="109263"/>
                  <a:pt x="31460" y="107752"/>
                </a:cubicBezTo>
                <a:lnTo>
                  <a:pt x="2152" y="78444"/>
                </a:lnTo>
                <a:cubicBezTo>
                  <a:pt x="-710" y="75582"/>
                  <a:pt x="-710" y="70934"/>
                  <a:pt x="2152" y="68072"/>
                </a:cubicBezTo>
                <a:cubicBezTo>
                  <a:pt x="5014" y="65210"/>
                  <a:pt x="9662" y="65210"/>
                  <a:pt x="12524" y="68072"/>
                </a:cubicBezTo>
                <a:lnTo>
                  <a:pt x="35765" y="91312"/>
                </a:lnTo>
                <a:lnTo>
                  <a:pt x="89343" y="17653"/>
                </a:lnTo>
                <a:cubicBezTo>
                  <a:pt x="91724" y="14379"/>
                  <a:pt x="96303" y="13646"/>
                  <a:pt x="99577" y="16028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8" name="Text 26"/>
          <p:cNvSpPr/>
          <p:nvPr/>
        </p:nvSpPr>
        <p:spPr>
          <a:xfrm>
            <a:off x="3221229" y="3660673"/>
            <a:ext cx="1490505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BigDecimal高精度汇总计算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71206" y="2602802"/>
            <a:ext cx="2425560" cy="1948264"/>
          </a:xfrm>
          <a:custGeom>
            <a:avLst/>
            <a:gdLst/>
            <a:ahLst/>
            <a:cxnLst/>
            <a:rect l="l" t="t" r="r" b="b"/>
            <a:pathLst>
              <a:path w="2425560" h="1948264">
                <a:moveTo>
                  <a:pt x="100491" y="0"/>
                </a:moveTo>
                <a:lnTo>
                  <a:pt x="2325069" y="0"/>
                </a:lnTo>
                <a:cubicBezTo>
                  <a:pt x="2380569" y="0"/>
                  <a:pt x="2425560" y="44992"/>
                  <a:pt x="2425560" y="100491"/>
                </a:cubicBezTo>
                <a:lnTo>
                  <a:pt x="2425560" y="1847772"/>
                </a:lnTo>
                <a:cubicBezTo>
                  <a:pt x="2425560" y="1903272"/>
                  <a:pt x="2380569" y="1948264"/>
                  <a:pt x="2325069" y="1948264"/>
                </a:cubicBezTo>
                <a:lnTo>
                  <a:pt x="100491" y="1948264"/>
                </a:lnTo>
                <a:cubicBezTo>
                  <a:pt x="44992" y="1948264"/>
                  <a:pt x="0" y="1903272"/>
                  <a:pt x="0" y="1847772"/>
                </a:cubicBezTo>
                <a:lnTo>
                  <a:pt x="0" y="100491"/>
                </a:lnTo>
                <a:cubicBezTo>
                  <a:pt x="0" y="44992"/>
                  <a:pt x="44992" y="0"/>
                  <a:pt x="100491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  <a:ln w="8467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07975" y="2739574"/>
            <a:ext cx="334945" cy="334945"/>
          </a:xfrm>
          <a:custGeom>
            <a:avLst/>
            <a:gdLst/>
            <a:ahLst/>
            <a:cxnLst/>
            <a:rect l="l" t="t" r="r" b="b"/>
            <a:pathLst>
              <a:path w="334945" h="334945">
                <a:moveTo>
                  <a:pt x="66989" y="0"/>
                </a:moveTo>
                <a:lnTo>
                  <a:pt x="267956" y="0"/>
                </a:lnTo>
                <a:cubicBezTo>
                  <a:pt x="304928" y="0"/>
                  <a:pt x="334945" y="30017"/>
                  <a:pt x="334945" y="66989"/>
                </a:cubicBezTo>
                <a:lnTo>
                  <a:pt x="334945" y="267956"/>
                </a:lnTo>
                <a:cubicBezTo>
                  <a:pt x="334945" y="304928"/>
                  <a:pt x="304928" y="334945"/>
                  <a:pt x="267956" y="334945"/>
                </a:cubicBezTo>
                <a:lnTo>
                  <a:pt x="66989" y="334945"/>
                </a:lnTo>
                <a:cubicBezTo>
                  <a:pt x="30017" y="334945"/>
                  <a:pt x="0" y="304928"/>
                  <a:pt x="0" y="267956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5691711" y="2823310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83736" y="0"/>
                </a:moveTo>
                <a:cubicBezTo>
                  <a:pt x="85241" y="0"/>
                  <a:pt x="86746" y="327"/>
                  <a:pt x="88119" y="949"/>
                </a:cubicBezTo>
                <a:lnTo>
                  <a:pt x="149744" y="27083"/>
                </a:lnTo>
                <a:cubicBezTo>
                  <a:pt x="156940" y="30125"/>
                  <a:pt x="162304" y="37223"/>
                  <a:pt x="162272" y="45793"/>
                </a:cubicBezTo>
                <a:cubicBezTo>
                  <a:pt x="162108" y="78241"/>
                  <a:pt x="148763" y="137609"/>
                  <a:pt x="92404" y="164594"/>
                </a:cubicBezTo>
                <a:cubicBezTo>
                  <a:pt x="86942" y="167211"/>
                  <a:pt x="80596" y="167211"/>
                  <a:pt x="75134" y="164594"/>
                </a:cubicBezTo>
                <a:cubicBezTo>
                  <a:pt x="18743" y="137609"/>
                  <a:pt x="5430" y="78241"/>
                  <a:pt x="5266" y="45793"/>
                </a:cubicBezTo>
                <a:cubicBezTo>
                  <a:pt x="5234" y="37223"/>
                  <a:pt x="10598" y="30125"/>
                  <a:pt x="17794" y="27083"/>
                </a:cubicBezTo>
                <a:lnTo>
                  <a:pt x="79386" y="949"/>
                </a:lnTo>
                <a:cubicBezTo>
                  <a:pt x="80760" y="327"/>
                  <a:pt x="82232" y="0"/>
                  <a:pt x="83736" y="0"/>
                </a:cubicBezTo>
                <a:close/>
                <a:moveTo>
                  <a:pt x="83736" y="21850"/>
                </a:moveTo>
                <a:lnTo>
                  <a:pt x="83736" y="145524"/>
                </a:lnTo>
                <a:cubicBezTo>
                  <a:pt x="128875" y="123675"/>
                  <a:pt x="141011" y="75265"/>
                  <a:pt x="141305" y="46284"/>
                </a:cubicBezTo>
                <a:lnTo>
                  <a:pt x="83736" y="21883"/>
                </a:lnTo>
                <a:lnTo>
                  <a:pt x="83736" y="21883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32" name="Text 30"/>
          <p:cNvSpPr/>
          <p:nvPr/>
        </p:nvSpPr>
        <p:spPr>
          <a:xfrm>
            <a:off x="6009909" y="2789816"/>
            <a:ext cx="802341" cy="234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安全加固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07975" y="3175003"/>
            <a:ext cx="221901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内置</a:t>
            </a:r>
            <a:r>
              <a:rPr lang="en-US" sz="1055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RSA加解密</a:t>
            </a:r>
            <a:r>
              <a:rPr lang="en-US" sz="105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07975" y="3493201"/>
            <a:ext cx="2210637" cy="3851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确保敏感信息在传输过程中即使被截获也无法破解，支持字段级加密策略配置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7736" y="4690628"/>
            <a:ext cx="7558593" cy="1998505"/>
          </a:xfrm>
          <a:custGeom>
            <a:avLst/>
            <a:gdLst/>
            <a:ahLst/>
            <a:cxnLst/>
            <a:rect l="l" t="t" r="r" b="b"/>
            <a:pathLst>
              <a:path w="7558593" h="1998505">
                <a:moveTo>
                  <a:pt x="100485" y="0"/>
                </a:moveTo>
                <a:lnTo>
                  <a:pt x="7458109" y="0"/>
                </a:lnTo>
                <a:cubicBezTo>
                  <a:pt x="7513605" y="0"/>
                  <a:pt x="7558593" y="44989"/>
                  <a:pt x="7558593" y="100485"/>
                </a:cubicBezTo>
                <a:lnTo>
                  <a:pt x="7558593" y="1898021"/>
                </a:lnTo>
                <a:cubicBezTo>
                  <a:pt x="7558593" y="1953517"/>
                  <a:pt x="7513605" y="1998505"/>
                  <a:pt x="7458109" y="1998505"/>
                </a:cubicBezTo>
                <a:lnTo>
                  <a:pt x="100485" y="1998505"/>
                </a:lnTo>
                <a:cubicBezTo>
                  <a:pt x="44989" y="1998505"/>
                  <a:pt x="0" y="1953517"/>
                  <a:pt x="0" y="1898021"/>
                </a:cubicBezTo>
                <a:lnTo>
                  <a:pt x="0" y="100485"/>
                </a:lnTo>
                <a:cubicBezTo>
                  <a:pt x="0" y="44989"/>
                  <a:pt x="44989" y="0"/>
                  <a:pt x="10048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019" y="4869264"/>
            <a:ext cx="169566" cy="150725"/>
          </a:xfrm>
          <a:custGeom>
            <a:avLst/>
            <a:gdLst/>
            <a:ahLst/>
            <a:cxnLst/>
            <a:rect l="l" t="t" r="r" b="b"/>
            <a:pathLst>
              <a:path w="169566" h="150725">
                <a:moveTo>
                  <a:pt x="106214" y="353"/>
                </a:moveTo>
                <a:cubicBezTo>
                  <a:pt x="101210" y="-1089"/>
                  <a:pt x="95999" y="1825"/>
                  <a:pt x="94557" y="6830"/>
                </a:cubicBezTo>
                <a:lnTo>
                  <a:pt x="56875" y="138714"/>
                </a:lnTo>
                <a:cubicBezTo>
                  <a:pt x="55433" y="143719"/>
                  <a:pt x="58347" y="148930"/>
                  <a:pt x="63352" y="150372"/>
                </a:cubicBezTo>
                <a:cubicBezTo>
                  <a:pt x="68356" y="151815"/>
                  <a:pt x="73567" y="148900"/>
                  <a:pt x="75009" y="143896"/>
                </a:cubicBezTo>
                <a:lnTo>
                  <a:pt x="112691" y="12011"/>
                </a:lnTo>
                <a:cubicBezTo>
                  <a:pt x="114133" y="7006"/>
                  <a:pt x="111219" y="1796"/>
                  <a:pt x="106214" y="353"/>
                </a:cubicBezTo>
                <a:close/>
                <a:moveTo>
                  <a:pt x="125232" y="40419"/>
                </a:moveTo>
                <a:cubicBezTo>
                  <a:pt x="121552" y="44099"/>
                  <a:pt x="121552" y="50075"/>
                  <a:pt x="125232" y="53755"/>
                </a:cubicBezTo>
                <a:lnTo>
                  <a:pt x="146839" y="75363"/>
                </a:lnTo>
                <a:lnTo>
                  <a:pt x="125232" y="96971"/>
                </a:lnTo>
                <a:cubicBezTo>
                  <a:pt x="121552" y="100650"/>
                  <a:pt x="121552" y="106626"/>
                  <a:pt x="125232" y="110306"/>
                </a:cubicBezTo>
                <a:cubicBezTo>
                  <a:pt x="128911" y="113986"/>
                  <a:pt x="134887" y="113986"/>
                  <a:pt x="138567" y="110306"/>
                </a:cubicBezTo>
                <a:lnTo>
                  <a:pt x="166828" y="82045"/>
                </a:lnTo>
                <a:cubicBezTo>
                  <a:pt x="170508" y="78365"/>
                  <a:pt x="170508" y="72389"/>
                  <a:pt x="166828" y="68710"/>
                </a:cubicBezTo>
                <a:lnTo>
                  <a:pt x="138567" y="40449"/>
                </a:lnTo>
                <a:cubicBezTo>
                  <a:pt x="134887" y="36769"/>
                  <a:pt x="128911" y="36769"/>
                  <a:pt x="125232" y="40449"/>
                </a:cubicBezTo>
                <a:close/>
                <a:moveTo>
                  <a:pt x="44364" y="40419"/>
                </a:moveTo>
                <a:cubicBezTo>
                  <a:pt x="40684" y="36739"/>
                  <a:pt x="34708" y="36739"/>
                  <a:pt x="31028" y="40419"/>
                </a:cubicBezTo>
                <a:lnTo>
                  <a:pt x="2767" y="68680"/>
                </a:lnTo>
                <a:cubicBezTo>
                  <a:pt x="-913" y="72360"/>
                  <a:pt x="-913" y="78336"/>
                  <a:pt x="2767" y="82016"/>
                </a:cubicBezTo>
                <a:lnTo>
                  <a:pt x="31028" y="110277"/>
                </a:lnTo>
                <a:cubicBezTo>
                  <a:pt x="34708" y="113957"/>
                  <a:pt x="40684" y="113957"/>
                  <a:pt x="44364" y="110277"/>
                </a:cubicBezTo>
                <a:cubicBezTo>
                  <a:pt x="48044" y="106597"/>
                  <a:pt x="48044" y="100621"/>
                  <a:pt x="44364" y="96941"/>
                </a:cubicBezTo>
                <a:lnTo>
                  <a:pt x="22756" y="75363"/>
                </a:lnTo>
                <a:lnTo>
                  <a:pt x="44334" y="53755"/>
                </a:lnTo>
                <a:cubicBezTo>
                  <a:pt x="48014" y="50075"/>
                  <a:pt x="48014" y="44099"/>
                  <a:pt x="44334" y="40419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7" name="Text 35"/>
          <p:cNvSpPr/>
          <p:nvPr/>
        </p:nvSpPr>
        <p:spPr>
          <a:xfrm>
            <a:off x="667099" y="4827396"/>
            <a:ext cx="7167824" cy="234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数据转换配置示例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4506" y="5162341"/>
            <a:ext cx="3634154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源数据结构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4506" y="5396802"/>
            <a:ext cx="3575538" cy="1155560"/>
          </a:xfrm>
          <a:custGeom>
            <a:avLst/>
            <a:gdLst/>
            <a:ahLst/>
            <a:cxnLst/>
            <a:rect l="l" t="t" r="r" b="b"/>
            <a:pathLst>
              <a:path w="3575538" h="1155560">
                <a:moveTo>
                  <a:pt x="66988" y="0"/>
                </a:moveTo>
                <a:lnTo>
                  <a:pt x="3508551" y="0"/>
                </a:lnTo>
                <a:cubicBezTo>
                  <a:pt x="3545547" y="0"/>
                  <a:pt x="3575538" y="29991"/>
                  <a:pt x="3575538" y="66988"/>
                </a:cubicBezTo>
                <a:lnTo>
                  <a:pt x="3575538" y="1088573"/>
                </a:lnTo>
                <a:cubicBezTo>
                  <a:pt x="3575538" y="1125569"/>
                  <a:pt x="3545547" y="1155560"/>
                  <a:pt x="3508551" y="1155560"/>
                </a:cubicBezTo>
                <a:lnTo>
                  <a:pt x="66988" y="1155560"/>
                </a:lnTo>
                <a:cubicBezTo>
                  <a:pt x="29991" y="1155560"/>
                  <a:pt x="0" y="1125569"/>
                  <a:pt x="0" y="1088573"/>
                </a:cubicBezTo>
                <a:lnTo>
                  <a:pt x="0" y="66988"/>
                </a:lnTo>
                <a:cubicBezTo>
                  <a:pt x="0" y="29991"/>
                  <a:pt x="29991" y="0"/>
                  <a:pt x="66988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474506" y="5396802"/>
            <a:ext cx="3634154" cy="1155560"/>
          </a:xfrm>
          <a:prstGeom prst="rect">
            <a:avLst/>
          </a:prstGeom>
          <a:noFill/>
        </p:spPr>
        <p:txBody>
          <a:bodyPr wrap="square" lIns="100484" tIns="100484" rIns="100484" bIns="100484" rtlCol="0" anchor="ctr"/>
          <a:lstStyle/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"user_name": "张三",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"user_age": 30,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"department_id": 1001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185069" y="5162341"/>
            <a:ext cx="3634154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目标数据结构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185069" y="5396802"/>
            <a:ext cx="3575538" cy="1155560"/>
          </a:xfrm>
          <a:custGeom>
            <a:avLst/>
            <a:gdLst/>
            <a:ahLst/>
            <a:cxnLst/>
            <a:rect l="l" t="t" r="r" b="b"/>
            <a:pathLst>
              <a:path w="3575538" h="1155560">
                <a:moveTo>
                  <a:pt x="66988" y="0"/>
                </a:moveTo>
                <a:lnTo>
                  <a:pt x="3508551" y="0"/>
                </a:lnTo>
                <a:cubicBezTo>
                  <a:pt x="3545547" y="0"/>
                  <a:pt x="3575538" y="29991"/>
                  <a:pt x="3575538" y="66988"/>
                </a:cubicBezTo>
                <a:lnTo>
                  <a:pt x="3575538" y="1088573"/>
                </a:lnTo>
                <a:cubicBezTo>
                  <a:pt x="3575538" y="1125569"/>
                  <a:pt x="3545547" y="1155560"/>
                  <a:pt x="3508551" y="1155560"/>
                </a:cubicBezTo>
                <a:lnTo>
                  <a:pt x="66988" y="1155560"/>
                </a:lnTo>
                <a:cubicBezTo>
                  <a:pt x="29991" y="1155560"/>
                  <a:pt x="0" y="1125569"/>
                  <a:pt x="0" y="1088573"/>
                </a:cubicBezTo>
                <a:lnTo>
                  <a:pt x="0" y="66988"/>
                </a:lnTo>
                <a:cubicBezTo>
                  <a:pt x="0" y="29991"/>
                  <a:pt x="29991" y="0"/>
                  <a:pt x="66988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4185069" y="5396802"/>
            <a:ext cx="3634154" cy="1155560"/>
          </a:xfrm>
          <a:prstGeom prst="rect">
            <a:avLst/>
          </a:prstGeom>
          <a:noFill/>
        </p:spPr>
        <p:txBody>
          <a:bodyPr wrap="square" lIns="100484" tIns="100484" rIns="100484" bIns="100484" rtlCol="0" anchor="ctr"/>
          <a:lstStyle/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"username": "张三",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"age": 30,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"deptId": 1001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92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71485" y="1141730"/>
            <a:ext cx="3782060" cy="5547360"/>
          </a:xfrm>
          <a:custGeom>
            <a:avLst/>
            <a:gdLst/>
            <a:ahLst/>
            <a:cxnLst/>
            <a:rect l="l" t="t" r="r" b="b"/>
            <a:pathLst>
              <a:path w="3782088" h="6135077">
                <a:moveTo>
                  <a:pt x="100490" y="0"/>
                </a:moveTo>
                <a:lnTo>
                  <a:pt x="3681598" y="0"/>
                </a:lnTo>
                <a:cubicBezTo>
                  <a:pt x="3737097" y="0"/>
                  <a:pt x="3782088" y="44991"/>
                  <a:pt x="3782088" y="100490"/>
                </a:cubicBezTo>
                <a:lnTo>
                  <a:pt x="3782088" y="6034587"/>
                </a:lnTo>
                <a:cubicBezTo>
                  <a:pt x="3782088" y="6090086"/>
                  <a:pt x="3737097" y="6135077"/>
                  <a:pt x="3681598" y="6135077"/>
                </a:cubicBezTo>
                <a:lnTo>
                  <a:pt x="100490" y="6135077"/>
                </a:lnTo>
                <a:cubicBezTo>
                  <a:pt x="44991" y="6135077"/>
                  <a:pt x="0" y="6090086"/>
                  <a:pt x="0" y="6034587"/>
                </a:cubicBezTo>
                <a:lnTo>
                  <a:pt x="0" y="100490"/>
                </a:lnTo>
                <a:cubicBezTo>
                  <a:pt x="0" y="44991"/>
                  <a:pt x="44991" y="0"/>
                  <a:pt x="100490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8467">
            <a:solidFill>
              <a:srgbClr val="4A5462">
                <a:alpha val="5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41742" y="1345365"/>
            <a:ext cx="209341" cy="167473"/>
          </a:xfrm>
          <a:custGeom>
            <a:avLst/>
            <a:gdLst/>
            <a:ahLst/>
            <a:cxnLst/>
            <a:rect l="l" t="t" r="r" b="b"/>
            <a:pathLst>
              <a:path w="209341" h="167473">
                <a:moveTo>
                  <a:pt x="136039" y="68853"/>
                </a:moveTo>
                <a:cubicBezTo>
                  <a:pt x="140029" y="67774"/>
                  <a:pt x="144216" y="69671"/>
                  <a:pt x="146015" y="73367"/>
                </a:cubicBezTo>
                <a:lnTo>
                  <a:pt x="152099" y="85666"/>
                </a:lnTo>
                <a:cubicBezTo>
                  <a:pt x="155468" y="86124"/>
                  <a:pt x="158772" y="87040"/>
                  <a:pt x="161879" y="88316"/>
                </a:cubicBezTo>
                <a:lnTo>
                  <a:pt x="173328" y="80694"/>
                </a:lnTo>
                <a:cubicBezTo>
                  <a:pt x="176762" y="78405"/>
                  <a:pt x="181309" y="78863"/>
                  <a:pt x="184220" y="81774"/>
                </a:cubicBezTo>
                <a:lnTo>
                  <a:pt x="190500" y="88054"/>
                </a:lnTo>
                <a:cubicBezTo>
                  <a:pt x="193411" y="90965"/>
                  <a:pt x="193869" y="95544"/>
                  <a:pt x="191579" y="98946"/>
                </a:cubicBezTo>
                <a:lnTo>
                  <a:pt x="183958" y="110362"/>
                </a:lnTo>
                <a:cubicBezTo>
                  <a:pt x="184580" y="111899"/>
                  <a:pt x="185136" y="113502"/>
                  <a:pt x="185594" y="115170"/>
                </a:cubicBezTo>
                <a:cubicBezTo>
                  <a:pt x="186052" y="116838"/>
                  <a:pt x="186346" y="118474"/>
                  <a:pt x="186575" y="120142"/>
                </a:cubicBezTo>
                <a:lnTo>
                  <a:pt x="198906" y="126226"/>
                </a:lnTo>
                <a:cubicBezTo>
                  <a:pt x="202603" y="128058"/>
                  <a:pt x="204500" y="132244"/>
                  <a:pt x="203420" y="136202"/>
                </a:cubicBezTo>
                <a:lnTo>
                  <a:pt x="201131" y="144772"/>
                </a:lnTo>
                <a:cubicBezTo>
                  <a:pt x="200051" y="148730"/>
                  <a:pt x="196355" y="151412"/>
                  <a:pt x="192234" y="151150"/>
                </a:cubicBezTo>
                <a:lnTo>
                  <a:pt x="178496" y="150267"/>
                </a:lnTo>
                <a:cubicBezTo>
                  <a:pt x="176435" y="152917"/>
                  <a:pt x="174047" y="155370"/>
                  <a:pt x="171332" y="157463"/>
                </a:cubicBezTo>
                <a:lnTo>
                  <a:pt x="172215" y="171169"/>
                </a:lnTo>
                <a:cubicBezTo>
                  <a:pt x="172477" y="175290"/>
                  <a:pt x="169795" y="179019"/>
                  <a:pt x="165837" y="180066"/>
                </a:cubicBezTo>
                <a:lnTo>
                  <a:pt x="157267" y="182355"/>
                </a:lnTo>
                <a:cubicBezTo>
                  <a:pt x="153277" y="183435"/>
                  <a:pt x="149123" y="181538"/>
                  <a:pt x="147291" y="177841"/>
                </a:cubicBezTo>
                <a:lnTo>
                  <a:pt x="141207" y="165543"/>
                </a:lnTo>
                <a:cubicBezTo>
                  <a:pt x="137838" y="165085"/>
                  <a:pt x="134534" y="164169"/>
                  <a:pt x="131427" y="162893"/>
                </a:cubicBezTo>
                <a:lnTo>
                  <a:pt x="119978" y="170515"/>
                </a:lnTo>
                <a:cubicBezTo>
                  <a:pt x="116544" y="172804"/>
                  <a:pt x="111997" y="172346"/>
                  <a:pt x="109086" y="169435"/>
                </a:cubicBezTo>
                <a:lnTo>
                  <a:pt x="102806" y="163155"/>
                </a:lnTo>
                <a:cubicBezTo>
                  <a:pt x="99895" y="160244"/>
                  <a:pt x="99437" y="155697"/>
                  <a:pt x="101726" y="152263"/>
                </a:cubicBezTo>
                <a:lnTo>
                  <a:pt x="109348" y="140814"/>
                </a:lnTo>
                <a:cubicBezTo>
                  <a:pt x="108726" y="139277"/>
                  <a:pt x="108170" y="137674"/>
                  <a:pt x="107712" y="136006"/>
                </a:cubicBezTo>
                <a:cubicBezTo>
                  <a:pt x="107254" y="134338"/>
                  <a:pt x="106960" y="132670"/>
                  <a:pt x="106731" y="131034"/>
                </a:cubicBezTo>
                <a:lnTo>
                  <a:pt x="94400" y="124950"/>
                </a:lnTo>
                <a:cubicBezTo>
                  <a:pt x="90703" y="123118"/>
                  <a:pt x="88839" y="118932"/>
                  <a:pt x="89886" y="114974"/>
                </a:cubicBezTo>
                <a:lnTo>
                  <a:pt x="92175" y="106404"/>
                </a:lnTo>
                <a:cubicBezTo>
                  <a:pt x="93255" y="102446"/>
                  <a:pt x="96951" y="99764"/>
                  <a:pt x="101072" y="100026"/>
                </a:cubicBezTo>
                <a:lnTo>
                  <a:pt x="114778" y="100909"/>
                </a:lnTo>
                <a:cubicBezTo>
                  <a:pt x="116838" y="98259"/>
                  <a:pt x="119226" y="95806"/>
                  <a:pt x="121941" y="93713"/>
                </a:cubicBezTo>
                <a:lnTo>
                  <a:pt x="121058" y="80040"/>
                </a:lnTo>
                <a:cubicBezTo>
                  <a:pt x="120796" y="75919"/>
                  <a:pt x="123478" y="72190"/>
                  <a:pt x="127436" y="71143"/>
                </a:cubicBezTo>
                <a:lnTo>
                  <a:pt x="136006" y="68853"/>
                </a:lnTo>
                <a:close/>
                <a:moveTo>
                  <a:pt x="146669" y="111212"/>
                </a:moveTo>
                <a:cubicBezTo>
                  <a:pt x="138726" y="111221"/>
                  <a:pt x="132284" y="117677"/>
                  <a:pt x="132293" y="125621"/>
                </a:cubicBezTo>
                <a:cubicBezTo>
                  <a:pt x="132303" y="133564"/>
                  <a:pt x="138759" y="140006"/>
                  <a:pt x="146702" y="139997"/>
                </a:cubicBezTo>
                <a:cubicBezTo>
                  <a:pt x="154645" y="139988"/>
                  <a:pt x="161087" y="133531"/>
                  <a:pt x="161078" y="125588"/>
                </a:cubicBezTo>
                <a:cubicBezTo>
                  <a:pt x="161069" y="117645"/>
                  <a:pt x="154613" y="111203"/>
                  <a:pt x="146669" y="111212"/>
                </a:cubicBezTo>
                <a:close/>
                <a:moveTo>
                  <a:pt x="73564" y="-14883"/>
                </a:moveTo>
                <a:lnTo>
                  <a:pt x="82133" y="-12593"/>
                </a:lnTo>
                <a:cubicBezTo>
                  <a:pt x="86091" y="-11514"/>
                  <a:pt x="88774" y="-7785"/>
                  <a:pt x="88512" y="-3696"/>
                </a:cubicBezTo>
                <a:lnTo>
                  <a:pt x="87629" y="9976"/>
                </a:lnTo>
                <a:cubicBezTo>
                  <a:pt x="90344" y="12070"/>
                  <a:pt x="92731" y="14490"/>
                  <a:pt x="94792" y="17172"/>
                </a:cubicBezTo>
                <a:lnTo>
                  <a:pt x="108530" y="16289"/>
                </a:lnTo>
                <a:cubicBezTo>
                  <a:pt x="112619" y="16028"/>
                  <a:pt x="116348" y="18710"/>
                  <a:pt x="117427" y="22668"/>
                </a:cubicBezTo>
                <a:lnTo>
                  <a:pt x="119717" y="31238"/>
                </a:lnTo>
                <a:cubicBezTo>
                  <a:pt x="120763" y="35195"/>
                  <a:pt x="118899" y="39382"/>
                  <a:pt x="115203" y="41214"/>
                </a:cubicBezTo>
                <a:lnTo>
                  <a:pt x="102871" y="47298"/>
                </a:lnTo>
                <a:cubicBezTo>
                  <a:pt x="102642" y="48966"/>
                  <a:pt x="102315" y="50634"/>
                  <a:pt x="101890" y="52270"/>
                </a:cubicBezTo>
                <a:cubicBezTo>
                  <a:pt x="101465" y="53905"/>
                  <a:pt x="100876" y="55541"/>
                  <a:pt x="100255" y="57078"/>
                </a:cubicBezTo>
                <a:lnTo>
                  <a:pt x="107876" y="68526"/>
                </a:lnTo>
                <a:cubicBezTo>
                  <a:pt x="110166" y="71961"/>
                  <a:pt x="109708" y="76507"/>
                  <a:pt x="106796" y="79419"/>
                </a:cubicBezTo>
                <a:lnTo>
                  <a:pt x="100516" y="85699"/>
                </a:lnTo>
                <a:cubicBezTo>
                  <a:pt x="97605" y="88610"/>
                  <a:pt x="93058" y="89068"/>
                  <a:pt x="89624" y="86778"/>
                </a:cubicBezTo>
                <a:lnTo>
                  <a:pt x="78176" y="79157"/>
                </a:lnTo>
                <a:cubicBezTo>
                  <a:pt x="75068" y="80433"/>
                  <a:pt x="71765" y="81348"/>
                  <a:pt x="68396" y="81806"/>
                </a:cubicBezTo>
                <a:lnTo>
                  <a:pt x="62312" y="94105"/>
                </a:lnTo>
                <a:cubicBezTo>
                  <a:pt x="60480" y="97801"/>
                  <a:pt x="56293" y="99666"/>
                  <a:pt x="52335" y="98619"/>
                </a:cubicBezTo>
                <a:lnTo>
                  <a:pt x="43765" y="96329"/>
                </a:lnTo>
                <a:cubicBezTo>
                  <a:pt x="39775" y="95250"/>
                  <a:pt x="37125" y="91521"/>
                  <a:pt x="37387" y="87432"/>
                </a:cubicBezTo>
                <a:lnTo>
                  <a:pt x="38270" y="73727"/>
                </a:lnTo>
                <a:cubicBezTo>
                  <a:pt x="35555" y="71634"/>
                  <a:pt x="33167" y="69213"/>
                  <a:pt x="31107" y="66531"/>
                </a:cubicBezTo>
                <a:lnTo>
                  <a:pt x="17369" y="67414"/>
                </a:lnTo>
                <a:cubicBezTo>
                  <a:pt x="13280" y="67676"/>
                  <a:pt x="9551" y="64994"/>
                  <a:pt x="8472" y="61036"/>
                </a:cubicBezTo>
                <a:lnTo>
                  <a:pt x="6182" y="52466"/>
                </a:lnTo>
                <a:cubicBezTo>
                  <a:pt x="5135" y="48508"/>
                  <a:pt x="7000" y="44321"/>
                  <a:pt x="10696" y="42490"/>
                </a:cubicBezTo>
                <a:lnTo>
                  <a:pt x="23027" y="36406"/>
                </a:lnTo>
                <a:cubicBezTo>
                  <a:pt x="23256" y="34737"/>
                  <a:pt x="23584" y="33102"/>
                  <a:pt x="24009" y="31434"/>
                </a:cubicBezTo>
                <a:cubicBezTo>
                  <a:pt x="24467" y="29766"/>
                  <a:pt x="24990" y="28163"/>
                  <a:pt x="25644" y="26626"/>
                </a:cubicBezTo>
                <a:lnTo>
                  <a:pt x="18023" y="15210"/>
                </a:lnTo>
                <a:cubicBezTo>
                  <a:pt x="15733" y="11775"/>
                  <a:pt x="16191" y="7229"/>
                  <a:pt x="19102" y="4318"/>
                </a:cubicBezTo>
                <a:lnTo>
                  <a:pt x="25383" y="-1963"/>
                </a:lnTo>
                <a:cubicBezTo>
                  <a:pt x="28294" y="-4874"/>
                  <a:pt x="32840" y="-5332"/>
                  <a:pt x="36275" y="-3042"/>
                </a:cubicBezTo>
                <a:lnTo>
                  <a:pt x="47723" y="4579"/>
                </a:lnTo>
                <a:cubicBezTo>
                  <a:pt x="50831" y="3304"/>
                  <a:pt x="54134" y="2388"/>
                  <a:pt x="57503" y="1930"/>
                </a:cubicBezTo>
                <a:lnTo>
                  <a:pt x="63587" y="-10369"/>
                </a:lnTo>
                <a:cubicBezTo>
                  <a:pt x="65419" y="-14065"/>
                  <a:pt x="69573" y="-15930"/>
                  <a:pt x="73564" y="-14883"/>
                </a:cubicBezTo>
                <a:close/>
                <a:moveTo>
                  <a:pt x="62933" y="27476"/>
                </a:moveTo>
                <a:cubicBezTo>
                  <a:pt x="54990" y="27476"/>
                  <a:pt x="48541" y="33925"/>
                  <a:pt x="48541" y="41868"/>
                </a:cubicBezTo>
                <a:cubicBezTo>
                  <a:pt x="48541" y="49811"/>
                  <a:pt x="54990" y="56260"/>
                  <a:pt x="62933" y="56260"/>
                </a:cubicBezTo>
                <a:cubicBezTo>
                  <a:pt x="70876" y="56260"/>
                  <a:pt x="77325" y="49811"/>
                  <a:pt x="77325" y="41868"/>
                </a:cubicBezTo>
                <a:cubicBezTo>
                  <a:pt x="77325" y="33925"/>
                  <a:pt x="70876" y="27476"/>
                  <a:pt x="62933" y="27476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46" name="Text 44"/>
          <p:cNvSpPr/>
          <p:nvPr/>
        </p:nvSpPr>
        <p:spPr>
          <a:xfrm>
            <a:off x="8451082" y="1311871"/>
            <a:ext cx="3315956" cy="234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路由编辑/配置页面示意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44533" y="1683102"/>
            <a:ext cx="3438769" cy="1445846"/>
          </a:xfrm>
          <a:custGeom>
            <a:avLst/>
            <a:gdLst/>
            <a:ahLst/>
            <a:cxnLst/>
            <a:rect l="l" t="t" r="r" b="b"/>
            <a:pathLst>
              <a:path w="3438769" h="1445846">
                <a:moveTo>
                  <a:pt x="66986" y="0"/>
                </a:moveTo>
                <a:lnTo>
                  <a:pt x="3371783" y="0"/>
                </a:lnTo>
                <a:cubicBezTo>
                  <a:pt x="3408779" y="0"/>
                  <a:pt x="3438769" y="29991"/>
                  <a:pt x="3438769" y="66986"/>
                </a:cubicBezTo>
                <a:lnTo>
                  <a:pt x="3438769" y="1378860"/>
                </a:lnTo>
                <a:cubicBezTo>
                  <a:pt x="3438769" y="1415855"/>
                  <a:pt x="3408779" y="1445846"/>
                  <a:pt x="3371783" y="1445846"/>
                </a:cubicBezTo>
                <a:lnTo>
                  <a:pt x="66986" y="1445846"/>
                </a:lnTo>
                <a:cubicBezTo>
                  <a:pt x="29991" y="1445846"/>
                  <a:pt x="0" y="1415855"/>
                  <a:pt x="0" y="1378860"/>
                </a:cubicBezTo>
                <a:lnTo>
                  <a:pt x="0" y="66986"/>
                </a:lnTo>
                <a:cubicBezTo>
                  <a:pt x="0" y="29991"/>
                  <a:pt x="29991" y="0"/>
                  <a:pt x="6698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81302" y="1819869"/>
            <a:ext cx="870857" cy="2009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数据映射配置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393715" y="1853364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123406" y="5678"/>
                </a:moveTo>
                <a:cubicBezTo>
                  <a:pt x="117676" y="-52"/>
                  <a:pt x="108412" y="-52"/>
                  <a:pt x="102682" y="5678"/>
                </a:cubicBezTo>
                <a:lnTo>
                  <a:pt x="96297" y="12063"/>
                </a:lnTo>
                <a:lnTo>
                  <a:pt x="121915" y="37681"/>
                </a:lnTo>
                <a:lnTo>
                  <a:pt x="128300" y="31296"/>
                </a:lnTo>
                <a:cubicBezTo>
                  <a:pt x="134030" y="25566"/>
                  <a:pt x="134030" y="16302"/>
                  <a:pt x="128300" y="10572"/>
                </a:cubicBezTo>
                <a:lnTo>
                  <a:pt x="123406" y="5678"/>
                </a:lnTo>
                <a:close/>
                <a:moveTo>
                  <a:pt x="45113" y="63247"/>
                </a:moveTo>
                <a:cubicBezTo>
                  <a:pt x="43517" y="64843"/>
                  <a:pt x="42287" y="66806"/>
                  <a:pt x="41580" y="68978"/>
                </a:cubicBezTo>
                <a:lnTo>
                  <a:pt x="33835" y="92215"/>
                </a:lnTo>
                <a:cubicBezTo>
                  <a:pt x="33076" y="94465"/>
                  <a:pt x="33678" y="96951"/>
                  <a:pt x="35352" y="98652"/>
                </a:cubicBezTo>
                <a:cubicBezTo>
                  <a:pt x="37027" y="100353"/>
                  <a:pt x="39513" y="100928"/>
                  <a:pt x="41790" y="100170"/>
                </a:cubicBezTo>
                <a:lnTo>
                  <a:pt x="65026" y="92424"/>
                </a:lnTo>
                <a:cubicBezTo>
                  <a:pt x="67172" y="91717"/>
                  <a:pt x="69135" y="90488"/>
                  <a:pt x="70757" y="88891"/>
                </a:cubicBezTo>
                <a:lnTo>
                  <a:pt x="113044" y="46552"/>
                </a:lnTo>
                <a:lnTo>
                  <a:pt x="87426" y="20934"/>
                </a:lnTo>
                <a:lnTo>
                  <a:pt x="45113" y="63247"/>
                </a:lnTo>
                <a:close/>
                <a:moveTo>
                  <a:pt x="25121" y="16747"/>
                </a:moveTo>
                <a:cubicBezTo>
                  <a:pt x="11252" y="16747"/>
                  <a:pt x="0" y="27999"/>
                  <a:pt x="0" y="41868"/>
                </a:cubicBezTo>
                <a:lnTo>
                  <a:pt x="0" y="108857"/>
                </a:lnTo>
                <a:cubicBezTo>
                  <a:pt x="0" y="122726"/>
                  <a:pt x="11252" y="133978"/>
                  <a:pt x="25121" y="133978"/>
                </a:cubicBezTo>
                <a:lnTo>
                  <a:pt x="92110" y="133978"/>
                </a:lnTo>
                <a:cubicBezTo>
                  <a:pt x="105979" y="133978"/>
                  <a:pt x="117231" y="122726"/>
                  <a:pt x="117231" y="108857"/>
                </a:cubicBezTo>
                <a:lnTo>
                  <a:pt x="117231" y="83736"/>
                </a:lnTo>
                <a:cubicBezTo>
                  <a:pt x="117231" y="79105"/>
                  <a:pt x="113489" y="75363"/>
                  <a:pt x="108857" y="75363"/>
                </a:cubicBezTo>
                <a:cubicBezTo>
                  <a:pt x="104225" y="75363"/>
                  <a:pt x="100484" y="79105"/>
                  <a:pt x="100484" y="83736"/>
                </a:cubicBezTo>
                <a:lnTo>
                  <a:pt x="100484" y="108857"/>
                </a:lnTo>
                <a:cubicBezTo>
                  <a:pt x="100484" y="113489"/>
                  <a:pt x="96742" y="117231"/>
                  <a:pt x="92110" y="117231"/>
                </a:cubicBezTo>
                <a:lnTo>
                  <a:pt x="25121" y="117231"/>
                </a:lnTo>
                <a:cubicBezTo>
                  <a:pt x="20489" y="117231"/>
                  <a:pt x="16747" y="113489"/>
                  <a:pt x="16747" y="108857"/>
                </a:cubicBezTo>
                <a:lnTo>
                  <a:pt x="16747" y="41868"/>
                </a:lnTo>
                <a:cubicBezTo>
                  <a:pt x="16747" y="37236"/>
                  <a:pt x="20489" y="33495"/>
                  <a:pt x="25121" y="33495"/>
                </a:cubicBezTo>
                <a:lnTo>
                  <a:pt x="50242" y="33495"/>
                </a:lnTo>
                <a:cubicBezTo>
                  <a:pt x="54873" y="33495"/>
                  <a:pt x="58615" y="29753"/>
                  <a:pt x="58615" y="25121"/>
                </a:cubicBezTo>
                <a:cubicBezTo>
                  <a:pt x="58615" y="20489"/>
                  <a:pt x="54873" y="16747"/>
                  <a:pt x="50242" y="16747"/>
                </a:cubicBezTo>
                <a:lnTo>
                  <a:pt x="25121" y="16747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50" name="Text 48"/>
          <p:cNvSpPr/>
          <p:nvPr/>
        </p:nvSpPr>
        <p:spPr>
          <a:xfrm>
            <a:off x="8381302" y="2121320"/>
            <a:ext cx="728505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源字段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134929" y="2146441"/>
            <a:ext cx="117231" cy="117231"/>
          </a:xfrm>
          <a:custGeom>
            <a:avLst/>
            <a:gdLst/>
            <a:ahLst/>
            <a:cxnLst/>
            <a:rect l="l" t="t" r="r" b="b"/>
            <a:pathLst>
              <a:path w="117231" h="117231">
                <a:moveTo>
                  <a:pt x="115078" y="63790"/>
                </a:moveTo>
                <a:cubicBezTo>
                  <a:pt x="117941" y="60928"/>
                  <a:pt x="117941" y="56280"/>
                  <a:pt x="115078" y="53418"/>
                </a:cubicBezTo>
                <a:lnTo>
                  <a:pt x="78444" y="16783"/>
                </a:lnTo>
                <a:cubicBezTo>
                  <a:pt x="75582" y="13921"/>
                  <a:pt x="70934" y="13921"/>
                  <a:pt x="68072" y="16783"/>
                </a:cubicBezTo>
                <a:cubicBezTo>
                  <a:pt x="65210" y="19645"/>
                  <a:pt x="65210" y="24293"/>
                  <a:pt x="68072" y="27155"/>
                </a:cubicBezTo>
                <a:lnTo>
                  <a:pt x="92205" y="51288"/>
                </a:lnTo>
                <a:lnTo>
                  <a:pt x="7327" y="51288"/>
                </a:lnTo>
                <a:cubicBezTo>
                  <a:pt x="3274" y="51288"/>
                  <a:pt x="0" y="54563"/>
                  <a:pt x="0" y="58615"/>
                </a:cubicBezTo>
                <a:cubicBezTo>
                  <a:pt x="0" y="62668"/>
                  <a:pt x="3274" y="65942"/>
                  <a:pt x="7327" y="65942"/>
                </a:cubicBezTo>
                <a:lnTo>
                  <a:pt x="92205" y="65942"/>
                </a:lnTo>
                <a:lnTo>
                  <a:pt x="68072" y="90075"/>
                </a:lnTo>
                <a:cubicBezTo>
                  <a:pt x="65210" y="92937"/>
                  <a:pt x="65210" y="97585"/>
                  <a:pt x="68072" y="100448"/>
                </a:cubicBezTo>
                <a:cubicBezTo>
                  <a:pt x="70934" y="103310"/>
                  <a:pt x="75582" y="103310"/>
                  <a:pt x="78444" y="100448"/>
                </a:cubicBezTo>
                <a:lnTo>
                  <a:pt x="115078" y="63813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52" name="Text 50"/>
          <p:cNvSpPr/>
          <p:nvPr/>
        </p:nvSpPr>
        <p:spPr>
          <a:xfrm>
            <a:off x="9331709" y="2121320"/>
            <a:ext cx="728505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目标字段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81302" y="2355782"/>
            <a:ext cx="3165231" cy="636396"/>
          </a:xfrm>
          <a:custGeom>
            <a:avLst/>
            <a:gdLst/>
            <a:ahLst/>
            <a:cxnLst/>
            <a:rect l="l" t="t" r="r" b="b"/>
            <a:pathLst>
              <a:path w="3165231" h="636396">
                <a:moveTo>
                  <a:pt x="33494" y="0"/>
                </a:moveTo>
                <a:lnTo>
                  <a:pt x="3131737" y="0"/>
                </a:lnTo>
                <a:cubicBezTo>
                  <a:pt x="3150235" y="0"/>
                  <a:pt x="3165231" y="14996"/>
                  <a:pt x="3165231" y="33494"/>
                </a:cubicBezTo>
                <a:lnTo>
                  <a:pt x="3165231" y="602902"/>
                </a:lnTo>
                <a:cubicBezTo>
                  <a:pt x="3165231" y="621400"/>
                  <a:pt x="3150235" y="636396"/>
                  <a:pt x="3131737" y="636396"/>
                </a:cubicBezTo>
                <a:lnTo>
                  <a:pt x="33494" y="636396"/>
                </a:lnTo>
                <a:cubicBezTo>
                  <a:pt x="14996" y="636396"/>
                  <a:pt x="0" y="621400"/>
                  <a:pt x="0" y="602902"/>
                </a:cubicBezTo>
                <a:lnTo>
                  <a:pt x="0" y="33494"/>
                </a:lnTo>
                <a:cubicBezTo>
                  <a:pt x="0" y="14996"/>
                  <a:pt x="14996" y="0"/>
                  <a:pt x="33494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8381302" y="2355782"/>
            <a:ext cx="3223846" cy="636396"/>
          </a:xfrm>
          <a:prstGeom prst="rect">
            <a:avLst/>
          </a:prstGeom>
          <a:noFill/>
        </p:spPr>
        <p:txBody>
          <a:bodyPr wrap="square" lIns="66989" tIns="66989" rIns="66989" bIns="66989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user_name → username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user_age → age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department_id → deptId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44533" y="3235011"/>
            <a:ext cx="3438769" cy="1923143"/>
          </a:xfrm>
          <a:custGeom>
            <a:avLst/>
            <a:gdLst/>
            <a:ahLst/>
            <a:cxnLst/>
            <a:rect l="l" t="t" r="r" b="b"/>
            <a:pathLst>
              <a:path w="3438769" h="1923143">
                <a:moveTo>
                  <a:pt x="66983" y="0"/>
                </a:moveTo>
                <a:lnTo>
                  <a:pt x="3371786" y="0"/>
                </a:lnTo>
                <a:cubicBezTo>
                  <a:pt x="3408780" y="0"/>
                  <a:pt x="3438769" y="29989"/>
                  <a:pt x="3438769" y="66983"/>
                </a:cubicBezTo>
                <a:lnTo>
                  <a:pt x="3438769" y="1856160"/>
                </a:lnTo>
                <a:cubicBezTo>
                  <a:pt x="3438769" y="1893154"/>
                  <a:pt x="3408780" y="1923143"/>
                  <a:pt x="3371786" y="1923143"/>
                </a:cubicBezTo>
                <a:lnTo>
                  <a:pt x="66983" y="1923143"/>
                </a:lnTo>
                <a:cubicBezTo>
                  <a:pt x="29989" y="1923143"/>
                  <a:pt x="0" y="1893154"/>
                  <a:pt x="0" y="1856160"/>
                </a:cubicBezTo>
                <a:lnTo>
                  <a:pt x="0" y="66983"/>
                </a:lnTo>
                <a:cubicBezTo>
                  <a:pt x="0" y="30014"/>
                  <a:pt x="30014" y="0"/>
                  <a:pt x="6698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E5A04C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81302" y="3371783"/>
            <a:ext cx="946220" cy="2009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JSON配置区域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385341" y="3405277"/>
            <a:ext cx="150725" cy="133978"/>
          </a:xfrm>
          <a:custGeom>
            <a:avLst/>
            <a:gdLst/>
            <a:ahLst/>
            <a:cxnLst/>
            <a:rect l="l" t="t" r="r" b="b"/>
            <a:pathLst>
              <a:path w="150725" h="133978">
                <a:moveTo>
                  <a:pt x="94413" y="314"/>
                </a:moveTo>
                <a:cubicBezTo>
                  <a:pt x="89964" y="-968"/>
                  <a:pt x="85332" y="1622"/>
                  <a:pt x="84050" y="6071"/>
                </a:cubicBezTo>
                <a:lnTo>
                  <a:pt x="50556" y="123302"/>
                </a:lnTo>
                <a:cubicBezTo>
                  <a:pt x="49274" y="127750"/>
                  <a:pt x="51864" y="132382"/>
                  <a:pt x="56313" y="133664"/>
                </a:cubicBezTo>
                <a:cubicBezTo>
                  <a:pt x="60761" y="134946"/>
                  <a:pt x="65393" y="132356"/>
                  <a:pt x="66675" y="127907"/>
                </a:cubicBezTo>
                <a:lnTo>
                  <a:pt x="100170" y="10676"/>
                </a:lnTo>
                <a:cubicBezTo>
                  <a:pt x="101452" y="6228"/>
                  <a:pt x="98861" y="1596"/>
                  <a:pt x="94413" y="314"/>
                </a:cubicBezTo>
                <a:close/>
                <a:moveTo>
                  <a:pt x="111317" y="35928"/>
                </a:moveTo>
                <a:cubicBezTo>
                  <a:pt x="108046" y="39199"/>
                  <a:pt x="108046" y="44511"/>
                  <a:pt x="111317" y="47782"/>
                </a:cubicBezTo>
                <a:lnTo>
                  <a:pt x="130524" y="66989"/>
                </a:lnTo>
                <a:lnTo>
                  <a:pt x="111317" y="86196"/>
                </a:lnTo>
                <a:cubicBezTo>
                  <a:pt x="108046" y="89467"/>
                  <a:pt x="108046" y="94779"/>
                  <a:pt x="111317" y="98050"/>
                </a:cubicBezTo>
                <a:cubicBezTo>
                  <a:pt x="114588" y="101321"/>
                  <a:pt x="119900" y="101321"/>
                  <a:pt x="123171" y="98050"/>
                </a:cubicBezTo>
                <a:lnTo>
                  <a:pt x="148292" y="72929"/>
                </a:lnTo>
                <a:cubicBezTo>
                  <a:pt x="151563" y="69658"/>
                  <a:pt x="151563" y="64346"/>
                  <a:pt x="148292" y="61075"/>
                </a:cubicBezTo>
                <a:lnTo>
                  <a:pt x="123171" y="35954"/>
                </a:lnTo>
                <a:cubicBezTo>
                  <a:pt x="119900" y="32683"/>
                  <a:pt x="114588" y="32683"/>
                  <a:pt x="111317" y="35954"/>
                </a:cubicBezTo>
                <a:close/>
                <a:moveTo>
                  <a:pt x="39435" y="35928"/>
                </a:moveTo>
                <a:cubicBezTo>
                  <a:pt x="36164" y="32657"/>
                  <a:pt x="30852" y="32657"/>
                  <a:pt x="27581" y="35928"/>
                </a:cubicBezTo>
                <a:lnTo>
                  <a:pt x="2460" y="61049"/>
                </a:lnTo>
                <a:cubicBezTo>
                  <a:pt x="-811" y="64320"/>
                  <a:pt x="-811" y="69632"/>
                  <a:pt x="2460" y="72903"/>
                </a:cubicBezTo>
                <a:lnTo>
                  <a:pt x="27581" y="98024"/>
                </a:lnTo>
                <a:cubicBezTo>
                  <a:pt x="30852" y="101295"/>
                  <a:pt x="36164" y="101295"/>
                  <a:pt x="39435" y="98024"/>
                </a:cubicBezTo>
                <a:cubicBezTo>
                  <a:pt x="42705" y="94753"/>
                  <a:pt x="42705" y="89441"/>
                  <a:pt x="39435" y="86170"/>
                </a:cubicBezTo>
                <a:lnTo>
                  <a:pt x="20228" y="66989"/>
                </a:lnTo>
                <a:lnTo>
                  <a:pt x="39408" y="47782"/>
                </a:lnTo>
                <a:cubicBezTo>
                  <a:pt x="42679" y="44511"/>
                  <a:pt x="42679" y="39199"/>
                  <a:pt x="39408" y="35928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8" name="Shape 56"/>
          <p:cNvSpPr/>
          <p:nvPr/>
        </p:nvSpPr>
        <p:spPr>
          <a:xfrm>
            <a:off x="8381302" y="3673233"/>
            <a:ext cx="3165231" cy="1348154"/>
          </a:xfrm>
          <a:custGeom>
            <a:avLst/>
            <a:gdLst/>
            <a:ahLst/>
            <a:cxnLst/>
            <a:rect l="l" t="t" r="r" b="b"/>
            <a:pathLst>
              <a:path w="3165231" h="1348154">
                <a:moveTo>
                  <a:pt x="66990" y="0"/>
                </a:moveTo>
                <a:lnTo>
                  <a:pt x="3098241" y="0"/>
                </a:lnTo>
                <a:cubicBezTo>
                  <a:pt x="3135238" y="0"/>
                  <a:pt x="3165231" y="29992"/>
                  <a:pt x="3165231" y="66990"/>
                </a:cubicBezTo>
                <a:lnTo>
                  <a:pt x="3165231" y="1281164"/>
                </a:lnTo>
                <a:cubicBezTo>
                  <a:pt x="3165231" y="1318162"/>
                  <a:pt x="3135238" y="1348154"/>
                  <a:pt x="3098241" y="1348154"/>
                </a:cubicBezTo>
                <a:lnTo>
                  <a:pt x="66990" y="1348154"/>
                </a:lnTo>
                <a:cubicBezTo>
                  <a:pt x="29992" y="1348154"/>
                  <a:pt x="0" y="1318162"/>
                  <a:pt x="0" y="1281164"/>
                </a:cubicBezTo>
                <a:lnTo>
                  <a:pt x="0" y="66990"/>
                </a:lnTo>
                <a:cubicBezTo>
                  <a:pt x="0" y="29992"/>
                  <a:pt x="29992" y="0"/>
                  <a:pt x="6699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8381302" y="3673233"/>
            <a:ext cx="3215473" cy="1348154"/>
          </a:xfrm>
          <a:prstGeom prst="rect">
            <a:avLst/>
          </a:prstGeom>
          <a:noFill/>
        </p:spPr>
        <p:txBody>
          <a:bodyPr wrap="square" lIns="100484" tIns="100484" rIns="100484" bIns="100484" rtlCol="0" anchor="ctr"/>
          <a:lstStyle/>
          <a:p>
            <a:pPr>
              <a:lnSpc>
                <a:spcPct val="140000"/>
              </a:lnSpc>
            </a:pPr>
            <a:r>
              <a:rPr lang="en-US" sz="79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9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"transformRules":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9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"user_name": "username",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9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"user_age": "age"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9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9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"encryptFields": ["phone"]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9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51162" y="5315859"/>
            <a:ext cx="131885" cy="117231"/>
          </a:xfrm>
          <a:custGeom>
            <a:avLst/>
            <a:gdLst/>
            <a:ahLst/>
            <a:cxnLst/>
            <a:rect l="l" t="t" r="r" b="b"/>
            <a:pathLst>
              <a:path w="131885" h="117231">
                <a:moveTo>
                  <a:pt x="43962" y="14654"/>
                </a:moveTo>
                <a:cubicBezTo>
                  <a:pt x="19691" y="14654"/>
                  <a:pt x="0" y="34345"/>
                  <a:pt x="0" y="58615"/>
                </a:cubicBezTo>
                <a:cubicBezTo>
                  <a:pt x="0" y="82886"/>
                  <a:pt x="19691" y="102577"/>
                  <a:pt x="43962" y="102577"/>
                </a:cubicBezTo>
                <a:lnTo>
                  <a:pt x="87923" y="102577"/>
                </a:lnTo>
                <a:cubicBezTo>
                  <a:pt x="112194" y="102577"/>
                  <a:pt x="131885" y="82886"/>
                  <a:pt x="131885" y="58615"/>
                </a:cubicBezTo>
                <a:cubicBezTo>
                  <a:pt x="131885" y="34345"/>
                  <a:pt x="112194" y="14654"/>
                  <a:pt x="87923" y="14654"/>
                </a:cubicBezTo>
                <a:lnTo>
                  <a:pt x="43962" y="14654"/>
                </a:lnTo>
                <a:close/>
                <a:moveTo>
                  <a:pt x="87923" y="36635"/>
                </a:moveTo>
                <a:cubicBezTo>
                  <a:pt x="100055" y="36635"/>
                  <a:pt x="109904" y="46484"/>
                  <a:pt x="109904" y="58615"/>
                </a:cubicBezTo>
                <a:cubicBezTo>
                  <a:pt x="109904" y="70747"/>
                  <a:pt x="100055" y="80596"/>
                  <a:pt x="87923" y="80596"/>
                </a:cubicBezTo>
                <a:cubicBezTo>
                  <a:pt x="75792" y="80596"/>
                  <a:pt x="65942" y="70747"/>
                  <a:pt x="65942" y="58615"/>
                </a:cubicBezTo>
                <a:cubicBezTo>
                  <a:pt x="65942" y="46484"/>
                  <a:pt x="75792" y="36635"/>
                  <a:pt x="87923" y="36635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61" name="Text 59"/>
          <p:cNvSpPr/>
          <p:nvPr/>
        </p:nvSpPr>
        <p:spPr>
          <a:xfrm>
            <a:off x="8455269" y="5290738"/>
            <a:ext cx="1038330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启用/禁用转换规则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65816" y="5550320"/>
            <a:ext cx="102577" cy="117231"/>
          </a:xfrm>
          <a:custGeom>
            <a:avLst/>
            <a:gdLst/>
            <a:ahLst/>
            <a:cxnLst/>
            <a:rect l="l" t="t" r="r" b="b"/>
            <a:pathLst>
              <a:path w="102577" h="117231">
                <a:moveTo>
                  <a:pt x="43962" y="0"/>
                </a:moveTo>
                <a:cubicBezTo>
                  <a:pt x="35879" y="0"/>
                  <a:pt x="29308" y="6571"/>
                  <a:pt x="29308" y="14654"/>
                </a:cubicBezTo>
                <a:lnTo>
                  <a:pt x="29308" y="73269"/>
                </a:lnTo>
                <a:cubicBezTo>
                  <a:pt x="29308" y="81352"/>
                  <a:pt x="35879" y="87923"/>
                  <a:pt x="43962" y="87923"/>
                </a:cubicBezTo>
                <a:lnTo>
                  <a:pt x="87923" y="87923"/>
                </a:lnTo>
                <a:cubicBezTo>
                  <a:pt x="96006" y="87923"/>
                  <a:pt x="102577" y="81352"/>
                  <a:pt x="102577" y="73269"/>
                </a:cubicBezTo>
                <a:lnTo>
                  <a:pt x="102577" y="27339"/>
                </a:lnTo>
                <a:cubicBezTo>
                  <a:pt x="102577" y="23355"/>
                  <a:pt x="100951" y="19531"/>
                  <a:pt x="98066" y="16760"/>
                </a:cubicBezTo>
                <a:lnTo>
                  <a:pt x="84855" y="4076"/>
                </a:lnTo>
                <a:cubicBezTo>
                  <a:pt x="82130" y="1465"/>
                  <a:pt x="78490" y="0"/>
                  <a:pt x="74712" y="0"/>
                </a:cubicBezTo>
                <a:lnTo>
                  <a:pt x="43962" y="0"/>
                </a:lnTo>
                <a:close/>
                <a:moveTo>
                  <a:pt x="14654" y="29308"/>
                </a:moveTo>
                <a:cubicBezTo>
                  <a:pt x="6571" y="29308"/>
                  <a:pt x="0" y="35879"/>
                  <a:pt x="0" y="43962"/>
                </a:cubicBezTo>
                <a:lnTo>
                  <a:pt x="0" y="102577"/>
                </a:lnTo>
                <a:cubicBezTo>
                  <a:pt x="0" y="110659"/>
                  <a:pt x="6571" y="117231"/>
                  <a:pt x="14654" y="117231"/>
                </a:cubicBezTo>
                <a:lnTo>
                  <a:pt x="58615" y="117231"/>
                </a:lnTo>
                <a:cubicBezTo>
                  <a:pt x="66698" y="117231"/>
                  <a:pt x="73269" y="110659"/>
                  <a:pt x="73269" y="102577"/>
                </a:cubicBezTo>
                <a:lnTo>
                  <a:pt x="73269" y="98913"/>
                </a:lnTo>
                <a:lnTo>
                  <a:pt x="58615" y="98913"/>
                </a:lnTo>
                <a:lnTo>
                  <a:pt x="58615" y="102577"/>
                </a:lnTo>
                <a:lnTo>
                  <a:pt x="14654" y="102577"/>
                </a:lnTo>
                <a:lnTo>
                  <a:pt x="14654" y="43962"/>
                </a:lnTo>
                <a:lnTo>
                  <a:pt x="18317" y="43962"/>
                </a:lnTo>
                <a:lnTo>
                  <a:pt x="18317" y="29308"/>
                </a:lnTo>
                <a:lnTo>
                  <a:pt x="14654" y="29308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63" name="Text 61"/>
          <p:cNvSpPr/>
          <p:nvPr/>
        </p:nvSpPr>
        <p:spPr>
          <a:xfrm>
            <a:off x="8455269" y="5525199"/>
            <a:ext cx="803868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复制/粘贴配置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51162" y="5784782"/>
            <a:ext cx="131885" cy="117231"/>
          </a:xfrm>
          <a:custGeom>
            <a:avLst/>
            <a:gdLst/>
            <a:ahLst/>
            <a:cxnLst/>
            <a:rect l="l" t="t" r="r" b="b"/>
            <a:pathLst>
              <a:path w="131885" h="117231">
                <a:moveTo>
                  <a:pt x="65942" y="14654"/>
                </a:moveTo>
                <a:cubicBezTo>
                  <a:pt x="90213" y="14654"/>
                  <a:pt x="109904" y="34345"/>
                  <a:pt x="109904" y="58615"/>
                </a:cubicBezTo>
                <a:cubicBezTo>
                  <a:pt x="109904" y="82886"/>
                  <a:pt x="90213" y="102577"/>
                  <a:pt x="65942" y="102577"/>
                </a:cubicBezTo>
                <a:cubicBezTo>
                  <a:pt x="51014" y="102577"/>
                  <a:pt x="37802" y="95136"/>
                  <a:pt x="29857" y="83733"/>
                </a:cubicBezTo>
                <a:cubicBezTo>
                  <a:pt x="27545" y="80413"/>
                  <a:pt x="22965" y="79612"/>
                  <a:pt x="19645" y="81924"/>
                </a:cubicBezTo>
                <a:cubicBezTo>
                  <a:pt x="16325" y="84237"/>
                  <a:pt x="15524" y="88816"/>
                  <a:pt x="17836" y="92136"/>
                </a:cubicBezTo>
                <a:cubicBezTo>
                  <a:pt x="28415" y="107294"/>
                  <a:pt x="46022" y="117231"/>
                  <a:pt x="65942" y="117231"/>
                </a:cubicBezTo>
                <a:cubicBezTo>
                  <a:pt x="98318" y="117231"/>
                  <a:pt x="124558" y="90991"/>
                  <a:pt x="124558" y="58615"/>
                </a:cubicBezTo>
                <a:cubicBezTo>
                  <a:pt x="124558" y="26240"/>
                  <a:pt x="98318" y="0"/>
                  <a:pt x="65942" y="0"/>
                </a:cubicBezTo>
                <a:cubicBezTo>
                  <a:pt x="46320" y="0"/>
                  <a:pt x="28964" y="9639"/>
                  <a:pt x="18317" y="24431"/>
                </a:cubicBezTo>
                <a:lnTo>
                  <a:pt x="18317" y="18317"/>
                </a:lnTo>
                <a:cubicBezTo>
                  <a:pt x="18317" y="14265"/>
                  <a:pt x="15043" y="10990"/>
                  <a:pt x="10990" y="10990"/>
                </a:cubicBezTo>
                <a:cubicBezTo>
                  <a:pt x="6938" y="10990"/>
                  <a:pt x="3663" y="14265"/>
                  <a:pt x="3663" y="18317"/>
                </a:cubicBezTo>
                <a:lnTo>
                  <a:pt x="3663" y="43962"/>
                </a:lnTo>
                <a:cubicBezTo>
                  <a:pt x="3663" y="48014"/>
                  <a:pt x="6938" y="51288"/>
                  <a:pt x="10990" y="51288"/>
                </a:cubicBezTo>
                <a:lnTo>
                  <a:pt x="16623" y="51288"/>
                </a:lnTo>
                <a:cubicBezTo>
                  <a:pt x="16737" y="51288"/>
                  <a:pt x="16852" y="51288"/>
                  <a:pt x="16966" y="51288"/>
                </a:cubicBezTo>
                <a:lnTo>
                  <a:pt x="36658" y="51288"/>
                </a:lnTo>
                <a:cubicBezTo>
                  <a:pt x="40710" y="51288"/>
                  <a:pt x="43984" y="48014"/>
                  <a:pt x="43984" y="43962"/>
                </a:cubicBezTo>
                <a:cubicBezTo>
                  <a:pt x="43984" y="39909"/>
                  <a:pt x="40710" y="36635"/>
                  <a:pt x="36658" y="36635"/>
                </a:cubicBezTo>
                <a:lnTo>
                  <a:pt x="27888" y="36635"/>
                </a:lnTo>
                <a:cubicBezTo>
                  <a:pt x="35467" y="23492"/>
                  <a:pt x="49686" y="14654"/>
                  <a:pt x="65942" y="14654"/>
                </a:cubicBezTo>
                <a:close/>
                <a:moveTo>
                  <a:pt x="71437" y="34803"/>
                </a:moveTo>
                <a:cubicBezTo>
                  <a:pt x="71437" y="31758"/>
                  <a:pt x="68988" y="29308"/>
                  <a:pt x="65942" y="29308"/>
                </a:cubicBezTo>
                <a:cubicBezTo>
                  <a:pt x="62897" y="29308"/>
                  <a:pt x="60447" y="31758"/>
                  <a:pt x="60447" y="34803"/>
                </a:cubicBezTo>
                <a:lnTo>
                  <a:pt x="60447" y="58615"/>
                </a:lnTo>
                <a:cubicBezTo>
                  <a:pt x="60447" y="60081"/>
                  <a:pt x="61020" y="61477"/>
                  <a:pt x="62050" y="62508"/>
                </a:cubicBezTo>
                <a:lnTo>
                  <a:pt x="78535" y="78993"/>
                </a:lnTo>
                <a:cubicBezTo>
                  <a:pt x="80688" y="81146"/>
                  <a:pt x="84168" y="81146"/>
                  <a:pt x="86297" y="78993"/>
                </a:cubicBezTo>
                <a:cubicBezTo>
                  <a:pt x="88427" y="76841"/>
                  <a:pt x="88450" y="73361"/>
                  <a:pt x="86297" y="71231"/>
                </a:cubicBezTo>
                <a:lnTo>
                  <a:pt x="71415" y="56349"/>
                </a:lnTo>
                <a:lnTo>
                  <a:pt x="71415" y="34803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65" name="Text 63"/>
          <p:cNvSpPr/>
          <p:nvPr/>
        </p:nvSpPr>
        <p:spPr>
          <a:xfrm>
            <a:off x="8455269" y="5759661"/>
            <a:ext cx="762000" cy="167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配置历史版本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15875" y="0"/>
                </a:moveTo>
                <a:lnTo>
                  <a:pt x="15875" y="0"/>
                </a:lnTo>
                <a:cubicBezTo>
                  <a:pt x="24637" y="0"/>
                  <a:pt x="31750" y="7113"/>
                  <a:pt x="31750" y="15875"/>
                </a:cubicBezTo>
                <a:lnTo>
                  <a:pt x="31750" y="301625"/>
                </a:lnTo>
                <a:cubicBezTo>
                  <a:pt x="31750" y="310387"/>
                  <a:pt x="24637" y="317500"/>
                  <a:pt x="15875" y="317500"/>
                </a:cubicBezTo>
                <a:lnTo>
                  <a:pt x="15875" y="317500"/>
                </a:lnTo>
                <a:cubicBezTo>
                  <a:pt x="7113" y="317500"/>
                  <a:pt x="0" y="310387"/>
                  <a:pt x="0" y="30162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" name="Text 1"/>
          <p:cNvSpPr/>
          <p:nvPr/>
        </p:nvSpPr>
        <p:spPr>
          <a:xfrm>
            <a:off x="444500" y="317500"/>
            <a:ext cx="3766096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全链路可观测性：拒绝黑盒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698500"/>
            <a:ext cx="11469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Full-Stack Observability: No More Black Box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079500"/>
            <a:ext cx="7580313" cy="1262063"/>
          </a:xfrm>
          <a:custGeom>
            <a:avLst/>
            <a:gdLst/>
            <a:ahLst/>
            <a:cxnLst/>
            <a:rect l="l" t="t" r="r" b="b"/>
            <a:pathLst>
              <a:path w="7580313" h="1262063">
                <a:moveTo>
                  <a:pt x="31750" y="0"/>
                </a:moveTo>
                <a:lnTo>
                  <a:pt x="7485065" y="0"/>
                </a:lnTo>
                <a:cubicBezTo>
                  <a:pt x="7537669" y="0"/>
                  <a:pt x="7580313" y="42644"/>
                  <a:pt x="7580313" y="95248"/>
                </a:cubicBezTo>
                <a:lnTo>
                  <a:pt x="7580313" y="1166815"/>
                </a:lnTo>
                <a:cubicBezTo>
                  <a:pt x="7580313" y="1219419"/>
                  <a:pt x="7537669" y="1262062"/>
                  <a:pt x="7485065" y="1262063"/>
                </a:cubicBezTo>
                <a:lnTo>
                  <a:pt x="31750" y="1262063"/>
                </a:lnTo>
                <a:cubicBezTo>
                  <a:pt x="14215" y="1262063"/>
                  <a:pt x="0" y="1247848"/>
                  <a:pt x="0" y="1230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333375" y="1079500"/>
            <a:ext cx="31750" cy="1262063"/>
          </a:xfrm>
          <a:custGeom>
            <a:avLst/>
            <a:gdLst/>
            <a:ahLst/>
            <a:cxnLst/>
            <a:rect l="l" t="t" r="r" b="b"/>
            <a:pathLst>
              <a:path w="31750" h="1262063">
                <a:moveTo>
                  <a:pt x="31750" y="0"/>
                </a:moveTo>
                <a:lnTo>
                  <a:pt x="31750" y="0"/>
                </a:lnTo>
                <a:lnTo>
                  <a:pt x="31750" y="1262063"/>
                </a:lnTo>
                <a:lnTo>
                  <a:pt x="31750" y="1262063"/>
                </a:lnTo>
                <a:cubicBezTo>
                  <a:pt x="14227" y="1262063"/>
                  <a:pt x="0" y="1247836"/>
                  <a:pt x="0" y="12303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7" name="Shape 5"/>
          <p:cNvSpPr/>
          <p:nvPr/>
        </p:nvSpPr>
        <p:spPr>
          <a:xfrm>
            <a:off x="508000" y="1238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03250" y="1333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"/>
                </a:moveTo>
                <a:lnTo>
                  <a:pt x="59531" y="11906"/>
                </a:lnTo>
                <a:cubicBezTo>
                  <a:pt x="66117" y="11906"/>
                  <a:pt x="71438" y="17227"/>
                  <a:pt x="71438" y="23812"/>
                </a:cubicBezTo>
                <a:lnTo>
                  <a:pt x="71438" y="35719"/>
                </a:lnTo>
                <a:lnTo>
                  <a:pt x="35719" y="35719"/>
                </a:lnTo>
                <a:lnTo>
                  <a:pt x="35719" y="23812"/>
                </a:lnTo>
                <a:cubicBezTo>
                  <a:pt x="35719" y="17227"/>
                  <a:pt x="41039" y="11906"/>
                  <a:pt x="47625" y="11906"/>
                </a:cubicBezTo>
                <a:close/>
                <a:moveTo>
                  <a:pt x="71438" y="47625"/>
                </a:moveTo>
                <a:lnTo>
                  <a:pt x="71438" y="166688"/>
                </a:lnTo>
                <a:cubicBezTo>
                  <a:pt x="71438" y="173273"/>
                  <a:pt x="66117" y="178594"/>
                  <a:pt x="59531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4698"/>
                </a:lnTo>
                <a:cubicBezTo>
                  <a:pt x="0" y="131825"/>
                  <a:pt x="3497" y="119174"/>
                  <a:pt x="10120" y="108124"/>
                </a:cubicBezTo>
                <a:cubicBezTo>
                  <a:pt x="15218" y="99640"/>
                  <a:pt x="18492" y="90190"/>
                  <a:pt x="19720" y="80367"/>
                </a:cubicBezTo>
                <a:lnTo>
                  <a:pt x="22510" y="58043"/>
                </a:lnTo>
                <a:cubicBezTo>
                  <a:pt x="23254" y="52090"/>
                  <a:pt x="28315" y="47625"/>
                  <a:pt x="34342" y="47625"/>
                </a:cubicBezTo>
                <a:lnTo>
                  <a:pt x="71475" y="47625"/>
                </a:lnTo>
                <a:close/>
                <a:moveTo>
                  <a:pt x="156195" y="47625"/>
                </a:moveTo>
                <a:cubicBezTo>
                  <a:pt x="162185" y="47625"/>
                  <a:pt x="167283" y="52090"/>
                  <a:pt x="168027" y="58043"/>
                </a:cubicBezTo>
                <a:lnTo>
                  <a:pt x="170780" y="80367"/>
                </a:lnTo>
                <a:cubicBezTo>
                  <a:pt x="172008" y="90190"/>
                  <a:pt x="175282" y="99640"/>
                  <a:pt x="180380" y="108124"/>
                </a:cubicBezTo>
                <a:cubicBezTo>
                  <a:pt x="187003" y="119174"/>
                  <a:pt x="190500" y="131825"/>
                  <a:pt x="190500" y="144698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30969" y="178594"/>
                </a:lnTo>
                <a:cubicBezTo>
                  <a:pt x="124383" y="178594"/>
                  <a:pt x="119063" y="173273"/>
                  <a:pt x="119063" y="166688"/>
                </a:cubicBezTo>
                <a:lnTo>
                  <a:pt x="119063" y="47625"/>
                </a:lnTo>
                <a:lnTo>
                  <a:pt x="156195" y="47625"/>
                </a:lnTo>
                <a:close/>
                <a:moveTo>
                  <a:pt x="119063" y="23812"/>
                </a:moveTo>
                <a:cubicBezTo>
                  <a:pt x="119063" y="17227"/>
                  <a:pt x="124383" y="11906"/>
                  <a:pt x="130969" y="11906"/>
                </a:cubicBezTo>
                <a:lnTo>
                  <a:pt x="142875" y="11906"/>
                </a:lnTo>
                <a:cubicBezTo>
                  <a:pt x="149461" y="11906"/>
                  <a:pt x="154781" y="17227"/>
                  <a:pt x="154781" y="23812"/>
                </a:cubicBezTo>
                <a:lnTo>
                  <a:pt x="154781" y="35719"/>
                </a:lnTo>
                <a:lnTo>
                  <a:pt x="119063" y="35719"/>
                </a:lnTo>
                <a:lnTo>
                  <a:pt x="119063" y="23812"/>
                </a:lnTo>
                <a:close/>
                <a:moveTo>
                  <a:pt x="107156" y="47625"/>
                </a:moveTo>
                <a:lnTo>
                  <a:pt x="107156" y="107156"/>
                </a:lnTo>
                <a:lnTo>
                  <a:pt x="83344" y="107156"/>
                </a:lnTo>
                <a:lnTo>
                  <a:pt x="83344" y="47625"/>
                </a:lnTo>
                <a:lnTo>
                  <a:pt x="107156" y="47625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9" name="Text 7"/>
          <p:cNvSpPr/>
          <p:nvPr/>
        </p:nvSpPr>
        <p:spPr>
          <a:xfrm>
            <a:off x="984250" y="1301750"/>
            <a:ext cx="2932741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Connector记录了每一次呼吸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000" y="1714500"/>
            <a:ext cx="7318375" cy="4683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在分布式系统中，</a:t>
            </a:r>
            <a:r>
              <a:rPr lang="en-US" sz="1125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可观测性</a:t>
            </a:r>
            <a:r>
              <a:rPr lang="en-US" sz="1125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是排查问题、优化性能的关键。Connector提供了全链路的监控能力，让每一次请求都清晰可见，拒绝黑盒操作，让问题定位变得简单高效。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146" y="2467240"/>
            <a:ext cx="2442104" cy="1783292"/>
          </a:xfrm>
          <a:custGeom>
            <a:avLst/>
            <a:gdLst/>
            <a:ahLst/>
            <a:cxnLst/>
            <a:rect l="l" t="t" r="r" b="b"/>
            <a:pathLst>
              <a:path w="2442104" h="1783292">
                <a:moveTo>
                  <a:pt x="95246" y="0"/>
                </a:moveTo>
                <a:lnTo>
                  <a:pt x="2346859" y="0"/>
                </a:lnTo>
                <a:cubicBezTo>
                  <a:pt x="2399461" y="0"/>
                  <a:pt x="2442104" y="42643"/>
                  <a:pt x="2442104" y="95246"/>
                </a:cubicBezTo>
                <a:lnTo>
                  <a:pt x="2442104" y="1688046"/>
                </a:lnTo>
                <a:cubicBezTo>
                  <a:pt x="2442104" y="1740649"/>
                  <a:pt x="2399461" y="1783292"/>
                  <a:pt x="2346859" y="1783292"/>
                </a:cubicBezTo>
                <a:lnTo>
                  <a:pt x="95246" y="1783292"/>
                </a:lnTo>
                <a:cubicBezTo>
                  <a:pt x="42643" y="1783292"/>
                  <a:pt x="0" y="1740649"/>
                  <a:pt x="0" y="1688046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  <a:ln w="8467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792" y="25968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49010" y="267626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37207" y="79375"/>
                </a:moveTo>
                <a:cubicBezTo>
                  <a:pt x="33083" y="79375"/>
                  <a:pt x="29766" y="82693"/>
                  <a:pt x="29766" y="86816"/>
                </a:cubicBezTo>
                <a:cubicBezTo>
                  <a:pt x="29766" y="90940"/>
                  <a:pt x="33083" y="94258"/>
                  <a:pt x="37207" y="94258"/>
                </a:cubicBezTo>
                <a:lnTo>
                  <a:pt x="81855" y="94258"/>
                </a:lnTo>
                <a:cubicBezTo>
                  <a:pt x="85979" y="94258"/>
                  <a:pt x="89297" y="90940"/>
                  <a:pt x="89297" y="86816"/>
                </a:cubicBezTo>
                <a:cubicBezTo>
                  <a:pt x="89297" y="82693"/>
                  <a:pt x="85979" y="79375"/>
                  <a:pt x="81855" y="79375"/>
                </a:cubicBezTo>
                <a:lnTo>
                  <a:pt x="37207" y="79375"/>
                </a:lnTo>
                <a:close/>
                <a:moveTo>
                  <a:pt x="37207" y="109141"/>
                </a:moveTo>
                <a:cubicBezTo>
                  <a:pt x="33083" y="109141"/>
                  <a:pt x="29766" y="112458"/>
                  <a:pt x="29766" y="116582"/>
                </a:cubicBezTo>
                <a:cubicBezTo>
                  <a:pt x="29766" y="120706"/>
                  <a:pt x="33083" y="124023"/>
                  <a:pt x="37207" y="124023"/>
                </a:cubicBezTo>
                <a:lnTo>
                  <a:pt x="81855" y="124023"/>
                </a:lnTo>
                <a:cubicBezTo>
                  <a:pt x="85979" y="124023"/>
                  <a:pt x="89297" y="120706"/>
                  <a:pt x="89297" y="116582"/>
                </a:cubicBezTo>
                <a:cubicBezTo>
                  <a:pt x="89297" y="112458"/>
                  <a:pt x="85979" y="109141"/>
                  <a:pt x="81855" y="109141"/>
                </a:cubicBezTo>
                <a:lnTo>
                  <a:pt x="37207" y="109141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14" name="Text 12"/>
          <p:cNvSpPr/>
          <p:nvPr/>
        </p:nvSpPr>
        <p:spPr>
          <a:xfrm>
            <a:off x="830792" y="2644513"/>
            <a:ext cx="845344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请求日志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792" y="3009638"/>
            <a:ext cx="2246313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详细记录</a:t>
            </a:r>
            <a:r>
              <a:rPr lang="en-US" sz="100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请求头、请求体、响应数据、耗时、HTTP状态码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2612" y="3541451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17" name="Text 15"/>
          <p:cNvSpPr/>
          <p:nvPr/>
        </p:nvSpPr>
        <p:spPr>
          <a:xfrm>
            <a:off x="620448" y="3517638"/>
            <a:ext cx="1563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完整的Request/Response记录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2612" y="3763701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9" name="Text 17"/>
          <p:cNvSpPr/>
          <p:nvPr/>
        </p:nvSpPr>
        <p:spPr>
          <a:xfrm>
            <a:off x="620448" y="3739888"/>
            <a:ext cx="1055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请求耗时精确到毫秒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2612" y="3985951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21" name="Text 19"/>
          <p:cNvSpPr/>
          <p:nvPr/>
        </p:nvSpPr>
        <p:spPr>
          <a:xfrm>
            <a:off x="620448" y="3962138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异常堆栈跟踪信息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94376" y="2467240"/>
            <a:ext cx="2442104" cy="1783292"/>
          </a:xfrm>
          <a:custGeom>
            <a:avLst/>
            <a:gdLst/>
            <a:ahLst/>
            <a:cxnLst/>
            <a:rect l="l" t="t" r="r" b="b"/>
            <a:pathLst>
              <a:path w="2442104" h="1783292">
                <a:moveTo>
                  <a:pt x="95246" y="0"/>
                </a:moveTo>
                <a:lnTo>
                  <a:pt x="2346859" y="0"/>
                </a:lnTo>
                <a:cubicBezTo>
                  <a:pt x="2399461" y="0"/>
                  <a:pt x="2442104" y="42643"/>
                  <a:pt x="2442104" y="95246"/>
                </a:cubicBezTo>
                <a:lnTo>
                  <a:pt x="2442104" y="1688046"/>
                </a:lnTo>
                <a:cubicBezTo>
                  <a:pt x="2442104" y="1740649"/>
                  <a:pt x="2399461" y="1783292"/>
                  <a:pt x="2346859" y="1783292"/>
                </a:cubicBezTo>
                <a:lnTo>
                  <a:pt x="95246" y="1783292"/>
                </a:lnTo>
                <a:cubicBezTo>
                  <a:pt x="42643" y="1783292"/>
                  <a:pt x="0" y="1740649"/>
                  <a:pt x="0" y="1688046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  <a:ln w="8467">
            <a:solidFill>
              <a:srgbClr val="E5A04C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24022" y="25968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3093475" y="26762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19844"/>
                </a:moveTo>
                <a:cubicBezTo>
                  <a:pt x="122163" y="19844"/>
                  <a:pt x="148828" y="46509"/>
                  <a:pt x="148828" y="79375"/>
                </a:cubicBezTo>
                <a:cubicBezTo>
                  <a:pt x="148828" y="112241"/>
                  <a:pt x="122163" y="138906"/>
                  <a:pt x="89297" y="138906"/>
                </a:cubicBezTo>
                <a:cubicBezTo>
                  <a:pt x="69081" y="138906"/>
                  <a:pt x="51191" y="128829"/>
                  <a:pt x="40432" y="113388"/>
                </a:cubicBezTo>
                <a:cubicBezTo>
                  <a:pt x="37300" y="108893"/>
                  <a:pt x="31099" y="107807"/>
                  <a:pt x="26603" y="110939"/>
                </a:cubicBezTo>
                <a:cubicBezTo>
                  <a:pt x="22107" y="114071"/>
                  <a:pt x="21022" y="120272"/>
                  <a:pt x="24154" y="124768"/>
                </a:cubicBezTo>
                <a:cubicBezTo>
                  <a:pt x="38478" y="145293"/>
                  <a:pt x="62322" y="158750"/>
                  <a:pt x="89297" y="158750"/>
                </a:cubicBezTo>
                <a:cubicBezTo>
                  <a:pt x="133139" y="158750"/>
                  <a:pt x="168672" y="123217"/>
                  <a:pt x="168672" y="79375"/>
                </a:cubicBezTo>
                <a:cubicBezTo>
                  <a:pt x="168672" y="35533"/>
                  <a:pt x="133139" y="0"/>
                  <a:pt x="89297" y="0"/>
                </a:cubicBezTo>
                <a:cubicBezTo>
                  <a:pt x="62725" y="0"/>
                  <a:pt x="39222" y="13053"/>
                  <a:pt x="24805" y="33083"/>
                </a:cubicBezTo>
                <a:lnTo>
                  <a:pt x="24805" y="24805"/>
                </a:lnTo>
                <a:cubicBezTo>
                  <a:pt x="24805" y="19317"/>
                  <a:pt x="20371" y="14883"/>
                  <a:pt x="14883" y="14883"/>
                </a:cubicBezTo>
                <a:cubicBezTo>
                  <a:pt x="9395" y="14883"/>
                  <a:pt x="4961" y="19317"/>
                  <a:pt x="4961" y="24805"/>
                </a:cubicBezTo>
                <a:lnTo>
                  <a:pt x="4961" y="59531"/>
                </a:lnTo>
                <a:cubicBezTo>
                  <a:pt x="4961" y="65019"/>
                  <a:pt x="9395" y="69453"/>
                  <a:pt x="14883" y="69453"/>
                </a:cubicBezTo>
                <a:lnTo>
                  <a:pt x="22510" y="69453"/>
                </a:lnTo>
                <a:cubicBezTo>
                  <a:pt x="22665" y="69453"/>
                  <a:pt x="22820" y="69453"/>
                  <a:pt x="22975" y="69453"/>
                </a:cubicBezTo>
                <a:lnTo>
                  <a:pt x="49640" y="69453"/>
                </a:lnTo>
                <a:cubicBezTo>
                  <a:pt x="55128" y="69453"/>
                  <a:pt x="59562" y="65019"/>
                  <a:pt x="59562" y="59531"/>
                </a:cubicBezTo>
                <a:cubicBezTo>
                  <a:pt x="59562" y="54043"/>
                  <a:pt x="55128" y="49609"/>
                  <a:pt x="49640" y="49609"/>
                </a:cubicBezTo>
                <a:lnTo>
                  <a:pt x="37765" y="49609"/>
                </a:lnTo>
                <a:cubicBezTo>
                  <a:pt x="48028" y="31812"/>
                  <a:pt x="67283" y="19844"/>
                  <a:pt x="89297" y="19844"/>
                </a:cubicBezTo>
                <a:close/>
                <a:moveTo>
                  <a:pt x="96738" y="47129"/>
                </a:moveTo>
                <a:cubicBezTo>
                  <a:pt x="96738" y="43005"/>
                  <a:pt x="93421" y="39688"/>
                  <a:pt x="89297" y="39688"/>
                </a:cubicBezTo>
                <a:cubicBezTo>
                  <a:pt x="85173" y="39688"/>
                  <a:pt x="81855" y="43005"/>
                  <a:pt x="81855" y="47129"/>
                </a:cubicBezTo>
                <a:lnTo>
                  <a:pt x="81855" y="79375"/>
                </a:lnTo>
                <a:cubicBezTo>
                  <a:pt x="81855" y="81359"/>
                  <a:pt x="82631" y="83251"/>
                  <a:pt x="84026" y="84646"/>
                </a:cubicBezTo>
                <a:lnTo>
                  <a:pt x="106350" y="106970"/>
                </a:lnTo>
                <a:cubicBezTo>
                  <a:pt x="109265" y="109885"/>
                  <a:pt x="113978" y="109885"/>
                  <a:pt x="116861" y="106970"/>
                </a:cubicBezTo>
                <a:cubicBezTo>
                  <a:pt x="119745" y="104056"/>
                  <a:pt x="119776" y="99343"/>
                  <a:pt x="116861" y="96459"/>
                </a:cubicBezTo>
                <a:lnTo>
                  <a:pt x="96707" y="76305"/>
                </a:lnTo>
                <a:lnTo>
                  <a:pt x="96707" y="47129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25" name="Text 23"/>
          <p:cNvSpPr/>
          <p:nvPr/>
        </p:nvSpPr>
        <p:spPr>
          <a:xfrm>
            <a:off x="3405022" y="2644513"/>
            <a:ext cx="9985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配置时光机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024022" y="3009638"/>
            <a:ext cx="2246313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谁在什么时候</a:t>
            </a:r>
            <a:r>
              <a:rPr lang="en-US" sz="100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修改了路由规则？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46843" y="333507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8" name="Text 26"/>
          <p:cNvSpPr/>
          <p:nvPr/>
        </p:nvSpPr>
        <p:spPr>
          <a:xfrm>
            <a:off x="3194679" y="3311263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变更历史一目了然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046843" y="355732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30" name="Text 28"/>
          <p:cNvSpPr/>
          <p:nvPr/>
        </p:nvSpPr>
        <p:spPr>
          <a:xfrm>
            <a:off x="3194679" y="3533513"/>
            <a:ext cx="722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支持配置回溯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46843" y="377957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2" name="Text 30"/>
          <p:cNvSpPr/>
          <p:nvPr/>
        </p:nvSpPr>
        <p:spPr>
          <a:xfrm>
            <a:off x="3194679" y="3755763"/>
            <a:ext cx="722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操作审计追踪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68607" y="2467240"/>
            <a:ext cx="2442104" cy="1783292"/>
          </a:xfrm>
          <a:custGeom>
            <a:avLst/>
            <a:gdLst/>
            <a:ahLst/>
            <a:cxnLst/>
            <a:rect l="l" t="t" r="r" b="b"/>
            <a:pathLst>
              <a:path w="2442104" h="1783292">
                <a:moveTo>
                  <a:pt x="95246" y="0"/>
                </a:moveTo>
                <a:lnTo>
                  <a:pt x="2346859" y="0"/>
                </a:lnTo>
                <a:cubicBezTo>
                  <a:pt x="2399461" y="0"/>
                  <a:pt x="2442104" y="42643"/>
                  <a:pt x="2442104" y="95246"/>
                </a:cubicBezTo>
                <a:lnTo>
                  <a:pt x="2442104" y="1688046"/>
                </a:lnTo>
                <a:cubicBezTo>
                  <a:pt x="2442104" y="1740649"/>
                  <a:pt x="2399461" y="1783292"/>
                  <a:pt x="2346859" y="1783292"/>
                </a:cubicBezTo>
                <a:lnTo>
                  <a:pt x="95246" y="1783292"/>
                </a:lnTo>
                <a:cubicBezTo>
                  <a:pt x="42643" y="1783292"/>
                  <a:pt x="0" y="1740649"/>
                  <a:pt x="0" y="1688046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  <a:ln w="8467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98253" y="25968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5677628" y="26762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36" name="Text 34"/>
          <p:cNvSpPr/>
          <p:nvPr/>
        </p:nvSpPr>
        <p:spPr>
          <a:xfrm>
            <a:off x="5979253" y="2644513"/>
            <a:ext cx="82392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健康大盘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98253" y="3009638"/>
            <a:ext cx="2246313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实时监控</a:t>
            </a:r>
            <a:r>
              <a:rPr lang="en-US" sz="100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路由的调用频率</a:t>
            </a:r>
            <a:r>
              <a:rPr lang="en-US" sz="100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00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成功率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21073" y="333507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39" name="Text 37"/>
          <p:cNvSpPr/>
          <p:nvPr/>
        </p:nvSpPr>
        <p:spPr>
          <a:xfrm>
            <a:off x="5768909" y="3311263"/>
            <a:ext cx="960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Stats API实时监控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21073" y="355732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41" name="Text 39"/>
          <p:cNvSpPr/>
          <p:nvPr/>
        </p:nvSpPr>
        <p:spPr>
          <a:xfrm>
            <a:off x="5768909" y="3533513"/>
            <a:ext cx="83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可视化图表展示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21073" y="377957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43" name="Text 41"/>
          <p:cNvSpPr/>
          <p:nvPr/>
        </p:nvSpPr>
        <p:spPr>
          <a:xfrm>
            <a:off x="5768909" y="3755763"/>
            <a:ext cx="722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异常告警机制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0146" y="4382820"/>
            <a:ext cx="7593542" cy="1211792"/>
          </a:xfrm>
          <a:custGeom>
            <a:avLst/>
            <a:gdLst/>
            <a:ahLst/>
            <a:cxnLst/>
            <a:rect l="l" t="t" r="r" b="b"/>
            <a:pathLst>
              <a:path w="7593542" h="1211792">
                <a:moveTo>
                  <a:pt x="95247" y="0"/>
                </a:moveTo>
                <a:lnTo>
                  <a:pt x="7498295" y="0"/>
                </a:lnTo>
                <a:cubicBezTo>
                  <a:pt x="7550898" y="0"/>
                  <a:pt x="7593542" y="42643"/>
                  <a:pt x="7593542" y="95247"/>
                </a:cubicBezTo>
                <a:lnTo>
                  <a:pt x="7593542" y="1116545"/>
                </a:lnTo>
                <a:cubicBezTo>
                  <a:pt x="7593542" y="1169148"/>
                  <a:pt x="7550898" y="1211792"/>
                  <a:pt x="7498295" y="1211792"/>
                </a:cubicBezTo>
                <a:lnTo>
                  <a:pt x="95247" y="1211792"/>
                </a:lnTo>
                <a:cubicBezTo>
                  <a:pt x="42643" y="1211792"/>
                  <a:pt x="0" y="1169148"/>
                  <a:pt x="0" y="1116545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9635" y="455215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13869" y="8930"/>
                  <a:pt x="17859" y="12920"/>
                  <a:pt x="17859" y="17859"/>
                </a:cubicBez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22324" y="133945"/>
                </a:lnTo>
                <a:cubicBezTo>
                  <a:pt x="9990" y="133945"/>
                  <a:pt x="0" y="123955"/>
                  <a:pt x="0" y="111621"/>
                </a:cubicBezTo>
                <a:lnTo>
                  <a:pt x="0" y="17859"/>
                </a:lnTo>
                <a:cubicBezTo>
                  <a:pt x="0" y="12920"/>
                  <a:pt x="3990" y="8930"/>
                  <a:pt x="8930" y="8930"/>
                </a:cubicBezTo>
                <a:close/>
                <a:moveTo>
                  <a:pt x="35719" y="26789"/>
                </a:moveTo>
                <a:cubicBezTo>
                  <a:pt x="35719" y="21850"/>
                  <a:pt x="39709" y="17859"/>
                  <a:pt x="44648" y="17859"/>
                </a:cubicBezTo>
                <a:lnTo>
                  <a:pt x="98227" y="17859"/>
                </a:lnTo>
                <a:cubicBezTo>
                  <a:pt x="103166" y="17859"/>
                  <a:pt x="107156" y="21850"/>
                  <a:pt x="107156" y="26789"/>
                </a:cubicBezTo>
                <a:cubicBezTo>
                  <a:pt x="107156" y="31728"/>
                  <a:pt x="103166" y="35719"/>
                  <a:pt x="98227" y="35719"/>
                </a:cubicBezTo>
                <a:lnTo>
                  <a:pt x="44648" y="35719"/>
                </a:lnTo>
                <a:cubicBezTo>
                  <a:pt x="39709" y="35719"/>
                  <a:pt x="35719" y="31728"/>
                  <a:pt x="35719" y="26789"/>
                </a:cubicBezTo>
                <a:close/>
                <a:moveTo>
                  <a:pt x="44648" y="49113"/>
                </a:moveTo>
                <a:lnTo>
                  <a:pt x="80367" y="49113"/>
                </a:lnTo>
                <a:cubicBezTo>
                  <a:pt x="85306" y="49113"/>
                  <a:pt x="89297" y="53104"/>
                  <a:pt x="89297" y="58043"/>
                </a:cubicBezTo>
                <a:cubicBezTo>
                  <a:pt x="89297" y="62982"/>
                  <a:pt x="85306" y="66973"/>
                  <a:pt x="80367" y="66973"/>
                </a:cubicBezTo>
                <a:lnTo>
                  <a:pt x="44648" y="66973"/>
                </a:lnTo>
                <a:cubicBezTo>
                  <a:pt x="39709" y="66973"/>
                  <a:pt x="35719" y="62982"/>
                  <a:pt x="35719" y="58043"/>
                </a:cubicBezTo>
                <a:cubicBezTo>
                  <a:pt x="35719" y="53104"/>
                  <a:pt x="39709" y="49113"/>
                  <a:pt x="44648" y="49113"/>
                </a:cubicBezTo>
                <a:close/>
                <a:moveTo>
                  <a:pt x="44648" y="80367"/>
                </a:moveTo>
                <a:lnTo>
                  <a:pt x="116086" y="80367"/>
                </a:lnTo>
                <a:cubicBezTo>
                  <a:pt x="121025" y="80367"/>
                  <a:pt x="125016" y="84358"/>
                  <a:pt x="125016" y="89297"/>
                </a:cubicBezTo>
                <a:cubicBezTo>
                  <a:pt x="125016" y="94236"/>
                  <a:pt x="121025" y="98227"/>
                  <a:pt x="116086" y="98227"/>
                </a:cubicBezTo>
                <a:lnTo>
                  <a:pt x="44648" y="98227"/>
                </a:lnTo>
                <a:cubicBezTo>
                  <a:pt x="39709" y="98227"/>
                  <a:pt x="35719" y="94236"/>
                  <a:pt x="35719" y="89297"/>
                </a:cubicBezTo>
                <a:cubicBezTo>
                  <a:pt x="35719" y="84358"/>
                  <a:pt x="39709" y="80367"/>
                  <a:pt x="44648" y="80367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46" name="Text 44"/>
          <p:cNvSpPr/>
          <p:nvPr/>
        </p:nvSpPr>
        <p:spPr>
          <a:xfrm>
            <a:off x="632354" y="4512469"/>
            <a:ext cx="7223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核心监控指标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9792" y="4829969"/>
            <a:ext cx="1762125" cy="635000"/>
          </a:xfrm>
          <a:custGeom>
            <a:avLst/>
            <a:gdLst/>
            <a:ahLst/>
            <a:cxnLst/>
            <a:rect l="l" t="t" r="r" b="b"/>
            <a:pathLst>
              <a:path w="1762125" h="635000">
                <a:moveTo>
                  <a:pt x="63500" y="0"/>
                </a:moveTo>
                <a:lnTo>
                  <a:pt x="1698625" y="0"/>
                </a:lnTo>
                <a:cubicBezTo>
                  <a:pt x="1733672" y="0"/>
                  <a:pt x="1762125" y="28453"/>
                  <a:pt x="1762125" y="63500"/>
                </a:cubicBezTo>
                <a:lnTo>
                  <a:pt x="1762125" y="571500"/>
                </a:lnTo>
                <a:cubicBezTo>
                  <a:pt x="1762125" y="606547"/>
                  <a:pt x="1733672" y="635000"/>
                  <a:pt x="16986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497417" y="4925219"/>
            <a:ext cx="16668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5A04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99.9%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17260" y="5210969"/>
            <a:ext cx="1627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成功率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306340" y="4829969"/>
            <a:ext cx="1762125" cy="635000"/>
          </a:xfrm>
          <a:custGeom>
            <a:avLst/>
            <a:gdLst/>
            <a:ahLst/>
            <a:cxnLst/>
            <a:rect l="l" t="t" r="r" b="b"/>
            <a:pathLst>
              <a:path w="1762125" h="635000">
                <a:moveTo>
                  <a:pt x="63500" y="0"/>
                </a:moveTo>
                <a:lnTo>
                  <a:pt x="1698625" y="0"/>
                </a:lnTo>
                <a:cubicBezTo>
                  <a:pt x="1733672" y="0"/>
                  <a:pt x="1762125" y="28453"/>
                  <a:pt x="1762125" y="63500"/>
                </a:cubicBezTo>
                <a:lnTo>
                  <a:pt x="1762125" y="571500"/>
                </a:lnTo>
                <a:cubicBezTo>
                  <a:pt x="1762125" y="606547"/>
                  <a:pt x="1733672" y="635000"/>
                  <a:pt x="16986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2353965" y="4925219"/>
            <a:ext cx="16668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C808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&lt;50ms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373809" y="5210969"/>
            <a:ext cx="1627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P99延迟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162971" y="4829969"/>
            <a:ext cx="1762125" cy="635000"/>
          </a:xfrm>
          <a:custGeom>
            <a:avLst/>
            <a:gdLst/>
            <a:ahLst/>
            <a:cxnLst/>
            <a:rect l="l" t="t" r="r" b="b"/>
            <a:pathLst>
              <a:path w="1762125" h="635000">
                <a:moveTo>
                  <a:pt x="63500" y="0"/>
                </a:moveTo>
                <a:lnTo>
                  <a:pt x="1698625" y="0"/>
                </a:lnTo>
                <a:cubicBezTo>
                  <a:pt x="1733672" y="0"/>
                  <a:pt x="1762125" y="28453"/>
                  <a:pt x="1762125" y="63500"/>
                </a:cubicBezTo>
                <a:lnTo>
                  <a:pt x="1762125" y="571500"/>
                </a:lnTo>
                <a:cubicBezTo>
                  <a:pt x="1762125" y="606547"/>
                  <a:pt x="1733672" y="635000"/>
                  <a:pt x="16986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4210596" y="4925219"/>
            <a:ext cx="16668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5A04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1000+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230439" y="5210969"/>
            <a:ext cx="1627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QPS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019602" y="4829969"/>
            <a:ext cx="1762125" cy="635000"/>
          </a:xfrm>
          <a:custGeom>
            <a:avLst/>
            <a:gdLst/>
            <a:ahLst/>
            <a:cxnLst/>
            <a:rect l="l" t="t" r="r" b="b"/>
            <a:pathLst>
              <a:path w="1762125" h="635000">
                <a:moveTo>
                  <a:pt x="63500" y="0"/>
                </a:moveTo>
                <a:lnTo>
                  <a:pt x="1698625" y="0"/>
                </a:lnTo>
                <a:cubicBezTo>
                  <a:pt x="1733672" y="0"/>
                  <a:pt x="1762125" y="28453"/>
                  <a:pt x="1762125" y="63500"/>
                </a:cubicBezTo>
                <a:lnTo>
                  <a:pt x="1762125" y="571500"/>
                </a:lnTo>
                <a:cubicBezTo>
                  <a:pt x="1762125" y="606547"/>
                  <a:pt x="1733672" y="635000"/>
                  <a:pt x="16986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6067227" y="4925219"/>
            <a:ext cx="16668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C80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7天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087070" y="5210969"/>
            <a:ext cx="1627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日志保留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074660" y="1082040"/>
            <a:ext cx="3799205" cy="5816600"/>
          </a:xfrm>
          <a:custGeom>
            <a:avLst/>
            <a:gdLst/>
            <a:ahLst/>
            <a:cxnLst/>
            <a:rect l="l" t="t" r="r" b="b"/>
            <a:pathLst>
              <a:path w="3799417" h="7077604">
                <a:moveTo>
                  <a:pt x="95251" y="0"/>
                </a:moveTo>
                <a:lnTo>
                  <a:pt x="3704165" y="0"/>
                </a:lnTo>
                <a:cubicBezTo>
                  <a:pt x="3756771" y="0"/>
                  <a:pt x="3799417" y="42645"/>
                  <a:pt x="3799417" y="95251"/>
                </a:cubicBezTo>
                <a:lnTo>
                  <a:pt x="3799417" y="6982353"/>
                </a:lnTo>
                <a:cubicBezTo>
                  <a:pt x="3799417" y="7034959"/>
                  <a:pt x="3756771" y="7077604"/>
                  <a:pt x="3704165" y="7077604"/>
                </a:cubicBezTo>
                <a:lnTo>
                  <a:pt x="95251" y="7077604"/>
                </a:lnTo>
                <a:cubicBezTo>
                  <a:pt x="42645" y="7077604"/>
                  <a:pt x="0" y="7034959"/>
                  <a:pt x="0" y="6982353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8467">
            <a:solidFill>
              <a:srgbClr val="4A5462">
                <a:alpha val="5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55910" y="127529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8899" y="19844"/>
                  <a:pt x="0" y="28742"/>
                  <a:pt x="0" y="39688"/>
                </a:cubicBezTo>
                <a:lnTo>
                  <a:pt x="0" y="119062"/>
                </a:lnTo>
                <a:cubicBezTo>
                  <a:pt x="0" y="130008"/>
                  <a:pt x="8899" y="138906"/>
                  <a:pt x="19844" y="138906"/>
                </a:cubicBezTo>
                <a:lnTo>
                  <a:pt x="138906" y="138906"/>
                </a:lnTo>
                <a:cubicBezTo>
                  <a:pt x="149851" y="138906"/>
                  <a:pt x="158750" y="130008"/>
                  <a:pt x="158750" y="119062"/>
                </a:cubicBezTo>
                <a:lnTo>
                  <a:pt x="158750" y="39688"/>
                </a:lnTo>
                <a:cubicBezTo>
                  <a:pt x="158750" y="28742"/>
                  <a:pt x="149851" y="19844"/>
                  <a:pt x="138906" y="19844"/>
                </a:cubicBezTo>
                <a:lnTo>
                  <a:pt x="19844" y="19844"/>
                </a:lnTo>
                <a:close/>
                <a:moveTo>
                  <a:pt x="49609" y="99219"/>
                </a:moveTo>
                <a:cubicBezTo>
                  <a:pt x="49609" y="104695"/>
                  <a:pt x="45164" y="109141"/>
                  <a:pt x="39688" y="109141"/>
                </a:cubicBezTo>
                <a:cubicBezTo>
                  <a:pt x="34211" y="109141"/>
                  <a:pt x="29766" y="104695"/>
                  <a:pt x="29766" y="99219"/>
                </a:cubicBezTo>
                <a:cubicBezTo>
                  <a:pt x="29766" y="93743"/>
                  <a:pt x="34211" y="89297"/>
                  <a:pt x="39688" y="89297"/>
                </a:cubicBezTo>
                <a:cubicBezTo>
                  <a:pt x="45164" y="89297"/>
                  <a:pt x="49609" y="93743"/>
                  <a:pt x="49609" y="99219"/>
                </a:cubicBezTo>
                <a:close/>
                <a:moveTo>
                  <a:pt x="39688" y="69453"/>
                </a:moveTo>
                <a:cubicBezTo>
                  <a:pt x="34211" y="69453"/>
                  <a:pt x="29766" y="65007"/>
                  <a:pt x="29766" y="59531"/>
                </a:cubicBezTo>
                <a:cubicBezTo>
                  <a:pt x="29766" y="54055"/>
                  <a:pt x="34211" y="49609"/>
                  <a:pt x="39688" y="49609"/>
                </a:cubicBezTo>
                <a:cubicBezTo>
                  <a:pt x="45164" y="49609"/>
                  <a:pt x="49609" y="54055"/>
                  <a:pt x="49609" y="59531"/>
                </a:cubicBezTo>
                <a:cubicBezTo>
                  <a:pt x="49609" y="65007"/>
                  <a:pt x="45164" y="69453"/>
                  <a:pt x="39688" y="69453"/>
                </a:cubicBezTo>
                <a:close/>
                <a:moveTo>
                  <a:pt x="76895" y="52090"/>
                </a:moveTo>
                <a:lnTo>
                  <a:pt x="121543" y="52090"/>
                </a:lnTo>
                <a:cubicBezTo>
                  <a:pt x="125667" y="52090"/>
                  <a:pt x="128984" y="55407"/>
                  <a:pt x="128984" y="59531"/>
                </a:cubicBezTo>
                <a:cubicBezTo>
                  <a:pt x="128984" y="63655"/>
                  <a:pt x="125667" y="66973"/>
                  <a:pt x="121543" y="66973"/>
                </a:cubicBezTo>
                <a:lnTo>
                  <a:pt x="76895" y="66973"/>
                </a:lnTo>
                <a:cubicBezTo>
                  <a:pt x="72771" y="66973"/>
                  <a:pt x="69453" y="63655"/>
                  <a:pt x="69453" y="59531"/>
                </a:cubicBezTo>
                <a:cubicBezTo>
                  <a:pt x="69453" y="55407"/>
                  <a:pt x="72771" y="52090"/>
                  <a:pt x="76895" y="52090"/>
                </a:cubicBezTo>
                <a:close/>
                <a:moveTo>
                  <a:pt x="76895" y="91777"/>
                </a:moveTo>
                <a:lnTo>
                  <a:pt x="121543" y="91777"/>
                </a:lnTo>
                <a:cubicBezTo>
                  <a:pt x="125667" y="91777"/>
                  <a:pt x="128984" y="95095"/>
                  <a:pt x="128984" y="99219"/>
                </a:cubicBezTo>
                <a:cubicBezTo>
                  <a:pt x="128984" y="103343"/>
                  <a:pt x="125667" y="106660"/>
                  <a:pt x="121543" y="106660"/>
                </a:cubicBezTo>
                <a:lnTo>
                  <a:pt x="76895" y="106660"/>
                </a:lnTo>
                <a:cubicBezTo>
                  <a:pt x="72771" y="106660"/>
                  <a:pt x="69453" y="103343"/>
                  <a:pt x="69453" y="99219"/>
                </a:cubicBezTo>
                <a:cubicBezTo>
                  <a:pt x="69453" y="95095"/>
                  <a:pt x="72771" y="91777"/>
                  <a:pt x="76895" y="91777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61" name="Text 59"/>
          <p:cNvSpPr/>
          <p:nvPr/>
        </p:nvSpPr>
        <p:spPr>
          <a:xfrm>
            <a:off x="8434504" y="1243544"/>
            <a:ext cx="3357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请求日志详情示意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38712" y="1595440"/>
            <a:ext cx="3466042" cy="989542"/>
          </a:xfrm>
          <a:custGeom>
            <a:avLst/>
            <a:gdLst/>
            <a:ahLst/>
            <a:cxnLst/>
            <a:rect l="l" t="t" r="r" b="b"/>
            <a:pathLst>
              <a:path w="3466042" h="989542">
                <a:moveTo>
                  <a:pt x="63499" y="0"/>
                </a:moveTo>
                <a:lnTo>
                  <a:pt x="3402543" y="0"/>
                </a:lnTo>
                <a:cubicBezTo>
                  <a:pt x="3437612" y="0"/>
                  <a:pt x="3466042" y="28429"/>
                  <a:pt x="3466042" y="63499"/>
                </a:cubicBezTo>
                <a:lnTo>
                  <a:pt x="3466042" y="926043"/>
                </a:lnTo>
                <a:cubicBezTo>
                  <a:pt x="3466042" y="961112"/>
                  <a:pt x="3437612" y="989542"/>
                  <a:pt x="3402543" y="989542"/>
                </a:cubicBezTo>
                <a:lnTo>
                  <a:pt x="63499" y="989542"/>
                </a:lnTo>
                <a:cubicBezTo>
                  <a:pt x="28429" y="989542"/>
                  <a:pt x="0" y="961112"/>
                  <a:pt x="0" y="926043"/>
                </a:cubicBezTo>
                <a:lnTo>
                  <a:pt x="0" y="63499"/>
                </a:lnTo>
                <a:cubicBezTo>
                  <a:pt x="0" y="28429"/>
                  <a:pt x="28429" y="0"/>
                  <a:pt x="634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36607" y="1693331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请求信息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1126804" y="1693331"/>
            <a:ext cx="484187" cy="190500"/>
          </a:xfrm>
          <a:custGeom>
            <a:avLst/>
            <a:gdLst/>
            <a:ahLst/>
            <a:cxnLst/>
            <a:rect l="l" t="t" r="r" b="b"/>
            <a:pathLst>
              <a:path w="484187" h="190500">
                <a:moveTo>
                  <a:pt x="95250" y="0"/>
                </a:moveTo>
                <a:lnTo>
                  <a:pt x="388938" y="0"/>
                </a:lnTo>
                <a:cubicBezTo>
                  <a:pt x="441507" y="0"/>
                  <a:pt x="484187" y="42680"/>
                  <a:pt x="484187" y="95250"/>
                </a:cubicBezTo>
                <a:lnTo>
                  <a:pt x="484187" y="95250"/>
                </a:lnTo>
                <a:cubicBezTo>
                  <a:pt x="484187" y="147820"/>
                  <a:pt x="441507" y="190500"/>
                  <a:pt x="388938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C8082">
              <a:alpha val="50196"/>
            </a:srgbClr>
          </a:solidFill>
        </p:spPr>
      </p:sp>
      <p:sp>
        <p:nvSpPr>
          <p:cNvPr id="65" name="Text 63"/>
          <p:cNvSpPr/>
          <p:nvPr/>
        </p:nvSpPr>
        <p:spPr>
          <a:xfrm>
            <a:off x="11126804" y="1693331"/>
            <a:ext cx="531813" cy="19050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Success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52482" y="19685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86228" y="0"/>
                  <a:pt x="111125" y="24897"/>
                  <a:pt x="111125" y="55563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ubicBezTo>
                  <a:pt x="0" y="24897"/>
                  <a:pt x="24897" y="0"/>
                  <a:pt x="55562" y="0"/>
                </a:cubicBezTo>
                <a:close/>
                <a:moveTo>
                  <a:pt x="50354" y="26045"/>
                </a:moveTo>
                <a:lnTo>
                  <a:pt x="50354" y="55563"/>
                </a:lnTo>
                <a:cubicBezTo>
                  <a:pt x="50354" y="57299"/>
                  <a:pt x="51222" y="58927"/>
                  <a:pt x="52676" y="59903"/>
                </a:cubicBezTo>
                <a:lnTo>
                  <a:pt x="73512" y="73794"/>
                </a:lnTo>
                <a:cubicBezTo>
                  <a:pt x="75899" y="75400"/>
                  <a:pt x="79133" y="74749"/>
                  <a:pt x="80739" y="72340"/>
                </a:cubicBezTo>
                <a:cubicBezTo>
                  <a:pt x="82345" y="69931"/>
                  <a:pt x="81694" y="66718"/>
                  <a:pt x="79285" y="65112"/>
                </a:cubicBezTo>
                <a:lnTo>
                  <a:pt x="60771" y="52784"/>
                </a:lnTo>
                <a:lnTo>
                  <a:pt x="60771" y="26045"/>
                </a:lnTo>
                <a:cubicBezTo>
                  <a:pt x="60771" y="23158"/>
                  <a:pt x="58449" y="20836"/>
                  <a:pt x="55563" y="20836"/>
                </a:cubicBezTo>
                <a:cubicBezTo>
                  <a:pt x="52676" y="20836"/>
                  <a:pt x="50354" y="23158"/>
                  <a:pt x="50354" y="26045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67" name="Text 65"/>
          <p:cNvSpPr/>
          <p:nvPr/>
        </p:nvSpPr>
        <p:spPr>
          <a:xfrm>
            <a:off x="8499326" y="1947331"/>
            <a:ext cx="3163094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2025-01-22 10:30:15.234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52482" y="21590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69" name="Text 67"/>
          <p:cNvSpPr/>
          <p:nvPr/>
        </p:nvSpPr>
        <p:spPr>
          <a:xfrm>
            <a:off x="8499326" y="2137831"/>
            <a:ext cx="3163094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POST /proxy/user/login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352482" y="23495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040" y="50657"/>
                </a:moveTo>
                <a:cubicBezTo>
                  <a:pt x="-673" y="53370"/>
                  <a:pt x="-673" y="57776"/>
                  <a:pt x="2040" y="60489"/>
                </a:cubicBezTo>
                <a:lnTo>
                  <a:pt x="36767" y="95216"/>
                </a:lnTo>
                <a:cubicBezTo>
                  <a:pt x="39480" y="97929"/>
                  <a:pt x="43886" y="97929"/>
                  <a:pt x="46599" y="95216"/>
                </a:cubicBezTo>
                <a:cubicBezTo>
                  <a:pt x="49312" y="92503"/>
                  <a:pt x="49312" y="88097"/>
                  <a:pt x="46599" y="85384"/>
                </a:cubicBezTo>
                <a:lnTo>
                  <a:pt x="23723" y="62508"/>
                </a:lnTo>
                <a:lnTo>
                  <a:pt x="104180" y="62508"/>
                </a:lnTo>
                <a:cubicBezTo>
                  <a:pt x="108021" y="62508"/>
                  <a:pt x="111125" y="59404"/>
                  <a:pt x="111125" y="55563"/>
                </a:cubicBezTo>
                <a:cubicBezTo>
                  <a:pt x="111125" y="51721"/>
                  <a:pt x="108021" y="48617"/>
                  <a:pt x="104180" y="48617"/>
                </a:cubicBezTo>
                <a:lnTo>
                  <a:pt x="23723" y="48617"/>
                </a:lnTo>
                <a:lnTo>
                  <a:pt x="46599" y="25741"/>
                </a:lnTo>
                <a:cubicBezTo>
                  <a:pt x="49312" y="23028"/>
                  <a:pt x="49312" y="18622"/>
                  <a:pt x="46599" y="15909"/>
                </a:cubicBezTo>
                <a:cubicBezTo>
                  <a:pt x="43886" y="13196"/>
                  <a:pt x="39480" y="13196"/>
                  <a:pt x="36767" y="15909"/>
                </a:cubicBezTo>
                <a:lnTo>
                  <a:pt x="2040" y="50636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71" name="Text 69"/>
          <p:cNvSpPr/>
          <p:nvPr/>
        </p:nvSpPr>
        <p:spPr>
          <a:xfrm>
            <a:off x="8499326" y="2328331"/>
            <a:ext cx="3163094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200 OK (耗时: 25ms)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38712" y="2685521"/>
            <a:ext cx="3466042" cy="1195917"/>
          </a:xfrm>
          <a:custGeom>
            <a:avLst/>
            <a:gdLst/>
            <a:ahLst/>
            <a:cxnLst/>
            <a:rect l="l" t="t" r="r" b="b"/>
            <a:pathLst>
              <a:path w="3466042" h="1195917">
                <a:moveTo>
                  <a:pt x="63503" y="0"/>
                </a:moveTo>
                <a:lnTo>
                  <a:pt x="3402538" y="0"/>
                </a:lnTo>
                <a:cubicBezTo>
                  <a:pt x="3437610" y="0"/>
                  <a:pt x="3466042" y="28431"/>
                  <a:pt x="3466042" y="63503"/>
                </a:cubicBezTo>
                <a:lnTo>
                  <a:pt x="3466042" y="1132413"/>
                </a:lnTo>
                <a:cubicBezTo>
                  <a:pt x="3466042" y="1167485"/>
                  <a:pt x="3437610" y="1195917"/>
                  <a:pt x="3402538" y="1195917"/>
                </a:cubicBezTo>
                <a:lnTo>
                  <a:pt x="63503" y="1195917"/>
                </a:lnTo>
                <a:cubicBezTo>
                  <a:pt x="28431" y="1195917"/>
                  <a:pt x="0" y="1167485"/>
                  <a:pt x="0" y="1132413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E5A04C">
                <a:alpha val="4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36607" y="2783419"/>
            <a:ext cx="53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Request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1459105" y="28151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75" name="Shape 73"/>
          <p:cNvSpPr/>
          <p:nvPr/>
        </p:nvSpPr>
        <p:spPr>
          <a:xfrm>
            <a:off x="8336607" y="3037419"/>
            <a:ext cx="3270250" cy="746125"/>
          </a:xfrm>
          <a:custGeom>
            <a:avLst/>
            <a:gdLst/>
            <a:ahLst/>
            <a:cxnLst/>
            <a:rect l="l" t="t" r="r" b="b"/>
            <a:pathLst>
              <a:path w="3270250" h="746125">
                <a:moveTo>
                  <a:pt x="31748" y="0"/>
                </a:moveTo>
                <a:lnTo>
                  <a:pt x="3238502" y="0"/>
                </a:lnTo>
                <a:cubicBezTo>
                  <a:pt x="3256036" y="0"/>
                  <a:pt x="3270250" y="14214"/>
                  <a:pt x="3270250" y="31748"/>
                </a:cubicBezTo>
                <a:lnTo>
                  <a:pt x="3270250" y="714377"/>
                </a:lnTo>
                <a:cubicBezTo>
                  <a:pt x="3270250" y="731911"/>
                  <a:pt x="3256036" y="746125"/>
                  <a:pt x="3238502" y="746125"/>
                </a:cubicBezTo>
                <a:lnTo>
                  <a:pt x="31748" y="746125"/>
                </a:lnTo>
                <a:cubicBezTo>
                  <a:pt x="14214" y="746125"/>
                  <a:pt x="0" y="731911"/>
                  <a:pt x="0" y="714377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76" name="Text 74"/>
          <p:cNvSpPr/>
          <p:nvPr/>
        </p:nvSpPr>
        <p:spPr>
          <a:xfrm>
            <a:off x="8336607" y="3037419"/>
            <a:ext cx="3317875" cy="746125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"username": "admin",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"password": "***"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38712" y="3981977"/>
            <a:ext cx="3466042" cy="1505479"/>
          </a:xfrm>
          <a:custGeom>
            <a:avLst/>
            <a:gdLst/>
            <a:ahLst/>
            <a:cxnLst/>
            <a:rect l="l" t="t" r="r" b="b"/>
            <a:pathLst>
              <a:path w="3466042" h="1505479">
                <a:moveTo>
                  <a:pt x="63501" y="0"/>
                </a:moveTo>
                <a:lnTo>
                  <a:pt x="3402541" y="0"/>
                </a:lnTo>
                <a:cubicBezTo>
                  <a:pt x="3437611" y="0"/>
                  <a:pt x="3466042" y="28430"/>
                  <a:pt x="3466042" y="63501"/>
                </a:cubicBezTo>
                <a:lnTo>
                  <a:pt x="3466042" y="1441978"/>
                </a:lnTo>
                <a:cubicBezTo>
                  <a:pt x="3466042" y="1477049"/>
                  <a:pt x="3437611" y="1505479"/>
                  <a:pt x="3402541" y="1505479"/>
                </a:cubicBezTo>
                <a:lnTo>
                  <a:pt x="63501" y="1505479"/>
                </a:lnTo>
                <a:cubicBezTo>
                  <a:pt x="28430" y="1505479"/>
                  <a:pt x="0" y="1477049"/>
                  <a:pt x="0" y="1441978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36607" y="4079875"/>
            <a:ext cx="627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1459105" y="411162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80" name="Shape 78"/>
          <p:cNvSpPr/>
          <p:nvPr/>
        </p:nvSpPr>
        <p:spPr>
          <a:xfrm>
            <a:off x="8336607" y="4333875"/>
            <a:ext cx="3270250" cy="1055688"/>
          </a:xfrm>
          <a:custGeom>
            <a:avLst/>
            <a:gdLst/>
            <a:ahLst/>
            <a:cxnLst/>
            <a:rect l="l" t="t" r="r" b="b"/>
            <a:pathLst>
              <a:path w="3270250" h="1055688">
                <a:moveTo>
                  <a:pt x="31755" y="0"/>
                </a:moveTo>
                <a:lnTo>
                  <a:pt x="3238495" y="0"/>
                </a:lnTo>
                <a:cubicBezTo>
                  <a:pt x="3256033" y="0"/>
                  <a:pt x="3270250" y="14217"/>
                  <a:pt x="3270250" y="31755"/>
                </a:cubicBezTo>
                <a:lnTo>
                  <a:pt x="3270250" y="1023932"/>
                </a:lnTo>
                <a:cubicBezTo>
                  <a:pt x="3270250" y="1041470"/>
                  <a:pt x="3256033" y="1055688"/>
                  <a:pt x="3238495" y="1055687"/>
                </a:cubicBezTo>
                <a:lnTo>
                  <a:pt x="31755" y="1055688"/>
                </a:lnTo>
                <a:cubicBezTo>
                  <a:pt x="14217" y="1055687"/>
                  <a:pt x="0" y="1041470"/>
                  <a:pt x="0" y="1023932"/>
                </a:cubicBezTo>
                <a:lnTo>
                  <a:pt x="0" y="31755"/>
                </a:lnTo>
                <a:cubicBezTo>
                  <a:pt x="0" y="14229"/>
                  <a:pt x="14229" y="0"/>
                  <a:pt x="31755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81" name="Text 79"/>
          <p:cNvSpPr/>
          <p:nvPr/>
        </p:nvSpPr>
        <p:spPr>
          <a:xfrm>
            <a:off x="8336607" y="4333875"/>
            <a:ext cx="3317875" cy="105568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"code": 200,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"data":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"token": "jwt_token"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238712" y="5619753"/>
            <a:ext cx="3466042" cy="1275292"/>
          </a:xfrm>
          <a:custGeom>
            <a:avLst/>
            <a:gdLst/>
            <a:ahLst/>
            <a:cxnLst/>
            <a:rect l="l" t="t" r="r" b="b"/>
            <a:pathLst>
              <a:path w="3466042" h="1275292">
                <a:moveTo>
                  <a:pt x="63497" y="0"/>
                </a:moveTo>
                <a:lnTo>
                  <a:pt x="3402545" y="0"/>
                </a:lnTo>
                <a:cubicBezTo>
                  <a:pt x="3437590" y="0"/>
                  <a:pt x="3466042" y="28452"/>
                  <a:pt x="3466042" y="63497"/>
                </a:cubicBezTo>
                <a:lnTo>
                  <a:pt x="3466042" y="1211795"/>
                </a:lnTo>
                <a:cubicBezTo>
                  <a:pt x="3466042" y="1246840"/>
                  <a:pt x="3437590" y="1275292"/>
                  <a:pt x="3402545" y="1275292"/>
                </a:cubicBezTo>
                <a:lnTo>
                  <a:pt x="63497" y="1275292"/>
                </a:lnTo>
                <a:cubicBezTo>
                  <a:pt x="28452" y="1275292"/>
                  <a:pt x="0" y="1246840"/>
                  <a:pt x="0" y="1211795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E5A04C">
              <a:alpha val="10196"/>
            </a:srgbClr>
          </a:solidFill>
          <a:ln w="8467">
            <a:solidFill>
              <a:srgbClr val="E5A04C">
                <a:alpha val="4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52482" y="574939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188" y="51594"/>
                </a:moveTo>
                <a:cubicBezTo>
                  <a:pt x="103188" y="62979"/>
                  <a:pt x="99492" y="73496"/>
                  <a:pt x="93266" y="82029"/>
                </a:cubicBezTo>
                <a:lnTo>
                  <a:pt x="124668" y="113457"/>
                </a:lnTo>
                <a:cubicBezTo>
                  <a:pt x="127769" y="116557"/>
                  <a:pt x="127769" y="121593"/>
                  <a:pt x="124668" y="124693"/>
                </a:cubicBezTo>
                <a:cubicBezTo>
                  <a:pt x="121568" y="127794"/>
                  <a:pt x="116532" y="127794"/>
                  <a:pt x="113432" y="124693"/>
                </a:cubicBezTo>
                <a:lnTo>
                  <a:pt x="82029" y="93266"/>
                </a:lnTo>
                <a:cubicBezTo>
                  <a:pt x="73496" y="99492"/>
                  <a:pt x="62979" y="103188"/>
                  <a:pt x="51594" y="103188"/>
                </a:cubicBezTo>
                <a:cubicBezTo>
                  <a:pt x="23093" y="103188"/>
                  <a:pt x="0" y="80094"/>
                  <a:pt x="0" y="51594"/>
                </a:cubicBezTo>
                <a:cubicBezTo>
                  <a:pt x="0" y="23093"/>
                  <a:pt x="23093" y="0"/>
                  <a:pt x="51594" y="0"/>
                </a:cubicBezTo>
                <a:cubicBezTo>
                  <a:pt x="80094" y="0"/>
                  <a:pt x="103188" y="23093"/>
                  <a:pt x="103188" y="51594"/>
                </a:cubicBezTo>
                <a:close/>
                <a:moveTo>
                  <a:pt x="51594" y="87313"/>
                </a:moveTo>
                <a:cubicBezTo>
                  <a:pt x="71307" y="87313"/>
                  <a:pt x="87313" y="71307"/>
                  <a:pt x="87313" y="51594"/>
                </a:cubicBezTo>
                <a:cubicBezTo>
                  <a:pt x="87313" y="31880"/>
                  <a:pt x="71307" y="15875"/>
                  <a:pt x="51594" y="15875"/>
                </a:cubicBezTo>
                <a:cubicBezTo>
                  <a:pt x="31880" y="15875"/>
                  <a:pt x="15875" y="31880"/>
                  <a:pt x="15875" y="51594"/>
                </a:cubicBezTo>
                <a:cubicBezTo>
                  <a:pt x="15875" y="71307"/>
                  <a:pt x="31880" y="87313"/>
                  <a:pt x="51594" y="8731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84" name="Text 82"/>
          <p:cNvSpPr/>
          <p:nvPr/>
        </p:nvSpPr>
        <p:spPr>
          <a:xfrm>
            <a:off x="8558857" y="5717643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日志查询功能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352482" y="599545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6945" y="13891"/>
                </a:moveTo>
                <a:cubicBezTo>
                  <a:pt x="4145" y="13891"/>
                  <a:pt x="1606" y="15584"/>
                  <a:pt x="521" y="18188"/>
                </a:cubicBezTo>
                <a:cubicBezTo>
                  <a:pt x="-564" y="20793"/>
                  <a:pt x="43" y="23766"/>
                  <a:pt x="2040" y="25741"/>
                </a:cubicBezTo>
                <a:lnTo>
                  <a:pt x="41672" y="65394"/>
                </a:lnTo>
                <a:lnTo>
                  <a:pt x="41672" y="90289"/>
                </a:lnTo>
                <a:cubicBezTo>
                  <a:pt x="41672" y="92134"/>
                  <a:pt x="42410" y="93892"/>
                  <a:pt x="43712" y="95194"/>
                </a:cubicBezTo>
                <a:lnTo>
                  <a:pt x="57603" y="109085"/>
                </a:lnTo>
                <a:cubicBezTo>
                  <a:pt x="59599" y="111082"/>
                  <a:pt x="62573" y="111668"/>
                  <a:pt x="65177" y="110582"/>
                </a:cubicBezTo>
                <a:cubicBezTo>
                  <a:pt x="67782" y="109497"/>
                  <a:pt x="69453" y="106980"/>
                  <a:pt x="69453" y="104180"/>
                </a:cubicBezTo>
                <a:lnTo>
                  <a:pt x="69453" y="65394"/>
                </a:lnTo>
                <a:lnTo>
                  <a:pt x="109085" y="25763"/>
                </a:lnTo>
                <a:cubicBezTo>
                  <a:pt x="111082" y="23766"/>
                  <a:pt x="111668" y="20793"/>
                  <a:pt x="110582" y="18188"/>
                </a:cubicBezTo>
                <a:cubicBezTo>
                  <a:pt x="109497" y="15584"/>
                  <a:pt x="106980" y="13891"/>
                  <a:pt x="104180" y="13891"/>
                </a:cubicBezTo>
                <a:lnTo>
                  <a:pt x="6945" y="13891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86" name="Text 84"/>
          <p:cNvSpPr/>
          <p:nvPr/>
        </p:nvSpPr>
        <p:spPr>
          <a:xfrm>
            <a:off x="8507264" y="5971643"/>
            <a:ext cx="83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按时间范围筛选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352482" y="621770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6945" y="13891"/>
                </a:moveTo>
                <a:cubicBezTo>
                  <a:pt x="4145" y="13891"/>
                  <a:pt x="1606" y="15584"/>
                  <a:pt x="521" y="18188"/>
                </a:cubicBezTo>
                <a:cubicBezTo>
                  <a:pt x="-564" y="20793"/>
                  <a:pt x="43" y="23766"/>
                  <a:pt x="2040" y="25741"/>
                </a:cubicBezTo>
                <a:lnTo>
                  <a:pt x="41672" y="65394"/>
                </a:lnTo>
                <a:lnTo>
                  <a:pt x="41672" y="90289"/>
                </a:lnTo>
                <a:cubicBezTo>
                  <a:pt x="41672" y="92134"/>
                  <a:pt x="42410" y="93892"/>
                  <a:pt x="43712" y="95194"/>
                </a:cubicBezTo>
                <a:lnTo>
                  <a:pt x="57603" y="109085"/>
                </a:lnTo>
                <a:cubicBezTo>
                  <a:pt x="59599" y="111082"/>
                  <a:pt x="62573" y="111668"/>
                  <a:pt x="65177" y="110582"/>
                </a:cubicBezTo>
                <a:cubicBezTo>
                  <a:pt x="67782" y="109497"/>
                  <a:pt x="69453" y="106980"/>
                  <a:pt x="69453" y="104180"/>
                </a:cubicBezTo>
                <a:lnTo>
                  <a:pt x="69453" y="65394"/>
                </a:lnTo>
                <a:lnTo>
                  <a:pt x="109085" y="25763"/>
                </a:lnTo>
                <a:cubicBezTo>
                  <a:pt x="111082" y="23766"/>
                  <a:pt x="111668" y="20793"/>
                  <a:pt x="110582" y="18188"/>
                </a:cubicBezTo>
                <a:cubicBezTo>
                  <a:pt x="109497" y="15584"/>
                  <a:pt x="106980" y="13891"/>
                  <a:pt x="104180" y="13891"/>
                </a:cubicBezTo>
                <a:lnTo>
                  <a:pt x="6945" y="13891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88" name="Text 86"/>
          <p:cNvSpPr/>
          <p:nvPr/>
        </p:nvSpPr>
        <p:spPr>
          <a:xfrm>
            <a:off x="8507264" y="6193893"/>
            <a:ext cx="83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按路由路径筛选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352482" y="643995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6945" y="13891"/>
                </a:moveTo>
                <a:cubicBezTo>
                  <a:pt x="4145" y="13891"/>
                  <a:pt x="1606" y="15584"/>
                  <a:pt x="521" y="18188"/>
                </a:cubicBezTo>
                <a:cubicBezTo>
                  <a:pt x="-564" y="20793"/>
                  <a:pt x="43" y="23766"/>
                  <a:pt x="2040" y="25741"/>
                </a:cubicBezTo>
                <a:lnTo>
                  <a:pt x="41672" y="65394"/>
                </a:lnTo>
                <a:lnTo>
                  <a:pt x="41672" y="90289"/>
                </a:lnTo>
                <a:cubicBezTo>
                  <a:pt x="41672" y="92134"/>
                  <a:pt x="42410" y="93892"/>
                  <a:pt x="43712" y="95194"/>
                </a:cubicBezTo>
                <a:lnTo>
                  <a:pt x="57603" y="109085"/>
                </a:lnTo>
                <a:cubicBezTo>
                  <a:pt x="59599" y="111082"/>
                  <a:pt x="62573" y="111668"/>
                  <a:pt x="65177" y="110582"/>
                </a:cubicBezTo>
                <a:cubicBezTo>
                  <a:pt x="67782" y="109497"/>
                  <a:pt x="69453" y="106980"/>
                  <a:pt x="69453" y="104180"/>
                </a:cubicBezTo>
                <a:lnTo>
                  <a:pt x="69453" y="65394"/>
                </a:lnTo>
                <a:lnTo>
                  <a:pt x="109085" y="25763"/>
                </a:lnTo>
                <a:cubicBezTo>
                  <a:pt x="111082" y="23766"/>
                  <a:pt x="111668" y="20793"/>
                  <a:pt x="110582" y="18188"/>
                </a:cubicBezTo>
                <a:cubicBezTo>
                  <a:pt x="109497" y="15584"/>
                  <a:pt x="106980" y="13891"/>
                  <a:pt x="104180" y="13891"/>
                </a:cubicBezTo>
                <a:lnTo>
                  <a:pt x="6945" y="13891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90" name="Text 88"/>
          <p:cNvSpPr/>
          <p:nvPr/>
        </p:nvSpPr>
        <p:spPr>
          <a:xfrm>
            <a:off x="8507264" y="6416143"/>
            <a:ext cx="722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按状态码筛选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352482" y="666220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6945" y="13891"/>
                </a:moveTo>
                <a:cubicBezTo>
                  <a:pt x="4145" y="13891"/>
                  <a:pt x="1606" y="15584"/>
                  <a:pt x="521" y="18188"/>
                </a:cubicBezTo>
                <a:cubicBezTo>
                  <a:pt x="-564" y="20793"/>
                  <a:pt x="43" y="23766"/>
                  <a:pt x="2040" y="25741"/>
                </a:cubicBezTo>
                <a:lnTo>
                  <a:pt x="41672" y="65394"/>
                </a:lnTo>
                <a:lnTo>
                  <a:pt x="41672" y="90289"/>
                </a:lnTo>
                <a:cubicBezTo>
                  <a:pt x="41672" y="92134"/>
                  <a:pt x="42410" y="93892"/>
                  <a:pt x="43712" y="95194"/>
                </a:cubicBezTo>
                <a:lnTo>
                  <a:pt x="57603" y="109085"/>
                </a:lnTo>
                <a:cubicBezTo>
                  <a:pt x="59599" y="111082"/>
                  <a:pt x="62573" y="111668"/>
                  <a:pt x="65177" y="110582"/>
                </a:cubicBezTo>
                <a:cubicBezTo>
                  <a:pt x="67782" y="109497"/>
                  <a:pt x="69453" y="106980"/>
                  <a:pt x="69453" y="104180"/>
                </a:cubicBezTo>
                <a:lnTo>
                  <a:pt x="69453" y="65394"/>
                </a:lnTo>
                <a:lnTo>
                  <a:pt x="109085" y="25763"/>
                </a:lnTo>
                <a:cubicBezTo>
                  <a:pt x="111082" y="23766"/>
                  <a:pt x="111668" y="20793"/>
                  <a:pt x="110582" y="18188"/>
                </a:cubicBezTo>
                <a:cubicBezTo>
                  <a:pt x="109497" y="15584"/>
                  <a:pt x="106980" y="13891"/>
                  <a:pt x="104180" y="13891"/>
                </a:cubicBezTo>
                <a:lnTo>
                  <a:pt x="6945" y="13891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92" name="Text 90"/>
          <p:cNvSpPr/>
          <p:nvPr/>
        </p:nvSpPr>
        <p:spPr>
          <a:xfrm>
            <a:off x="8507264" y="6638393"/>
            <a:ext cx="83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按耗时范围筛选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6099" y="336099"/>
            <a:ext cx="33610" cy="336099"/>
          </a:xfrm>
          <a:custGeom>
            <a:avLst/>
            <a:gdLst/>
            <a:ahLst/>
            <a:cxnLst/>
            <a:rect l="l" t="t" r="r" b="b"/>
            <a:pathLst>
              <a:path w="33610" h="336099">
                <a:moveTo>
                  <a:pt x="16805" y="0"/>
                </a:moveTo>
                <a:lnTo>
                  <a:pt x="16805" y="0"/>
                </a:lnTo>
                <a:cubicBezTo>
                  <a:pt x="26086" y="0"/>
                  <a:pt x="33610" y="7524"/>
                  <a:pt x="33610" y="16805"/>
                </a:cubicBezTo>
                <a:lnTo>
                  <a:pt x="33610" y="319294"/>
                </a:lnTo>
                <a:cubicBezTo>
                  <a:pt x="33610" y="328575"/>
                  <a:pt x="26086" y="336099"/>
                  <a:pt x="16805" y="336099"/>
                </a:cubicBezTo>
                <a:lnTo>
                  <a:pt x="16805" y="336099"/>
                </a:lnTo>
                <a:cubicBezTo>
                  <a:pt x="7524" y="336099"/>
                  <a:pt x="0" y="328575"/>
                  <a:pt x="0" y="319294"/>
                </a:cubicBezTo>
                <a:lnTo>
                  <a:pt x="0" y="16805"/>
                </a:lnTo>
                <a:cubicBezTo>
                  <a:pt x="0" y="7524"/>
                  <a:pt x="7524" y="0"/>
                  <a:pt x="16805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" name="Text 1"/>
          <p:cNvSpPr/>
          <p:nvPr/>
        </p:nvSpPr>
        <p:spPr>
          <a:xfrm>
            <a:off x="470539" y="336099"/>
            <a:ext cx="4520623" cy="3360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开发者友好套件：Mock服务中心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4149" y="739418"/>
            <a:ext cx="11427374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Developer-Friendly Kit: Mock Service Center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904" y="1142737"/>
            <a:ext cx="7545428" cy="1335994"/>
          </a:xfrm>
          <a:custGeom>
            <a:avLst/>
            <a:gdLst/>
            <a:ahLst/>
            <a:cxnLst/>
            <a:rect l="l" t="t" r="r" b="b"/>
            <a:pathLst>
              <a:path w="7545428" h="1335994">
                <a:moveTo>
                  <a:pt x="33610" y="0"/>
                </a:moveTo>
                <a:lnTo>
                  <a:pt x="7444600" y="0"/>
                </a:lnTo>
                <a:cubicBezTo>
                  <a:pt x="7500286" y="0"/>
                  <a:pt x="7545428" y="45142"/>
                  <a:pt x="7545428" y="100828"/>
                </a:cubicBezTo>
                <a:lnTo>
                  <a:pt x="7545428" y="1235167"/>
                </a:lnTo>
                <a:cubicBezTo>
                  <a:pt x="7545428" y="1290852"/>
                  <a:pt x="7500286" y="1335994"/>
                  <a:pt x="7444600" y="1335994"/>
                </a:cubicBezTo>
                <a:lnTo>
                  <a:pt x="33610" y="1335994"/>
                </a:lnTo>
                <a:cubicBezTo>
                  <a:pt x="15048" y="1335994"/>
                  <a:pt x="0" y="1320947"/>
                  <a:pt x="0" y="1302385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352904" y="1142737"/>
            <a:ext cx="33610" cy="1335994"/>
          </a:xfrm>
          <a:custGeom>
            <a:avLst/>
            <a:gdLst/>
            <a:ahLst/>
            <a:cxnLst/>
            <a:rect l="l" t="t" r="r" b="b"/>
            <a:pathLst>
              <a:path w="33610" h="1335994">
                <a:moveTo>
                  <a:pt x="33610" y="0"/>
                </a:moveTo>
                <a:lnTo>
                  <a:pt x="33610" y="0"/>
                </a:lnTo>
                <a:lnTo>
                  <a:pt x="33610" y="1335994"/>
                </a:lnTo>
                <a:lnTo>
                  <a:pt x="33610" y="1335994"/>
                </a:lnTo>
                <a:cubicBezTo>
                  <a:pt x="15048" y="1335994"/>
                  <a:pt x="0" y="1320947"/>
                  <a:pt x="0" y="1302385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7" name="Shape 5"/>
          <p:cNvSpPr/>
          <p:nvPr/>
        </p:nvSpPr>
        <p:spPr>
          <a:xfrm>
            <a:off x="537759" y="1310787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67221" y="0"/>
                </a:moveTo>
                <a:lnTo>
                  <a:pt x="336098" y="0"/>
                </a:lnTo>
                <a:cubicBezTo>
                  <a:pt x="373198" y="0"/>
                  <a:pt x="403319" y="30121"/>
                  <a:pt x="403319" y="67221"/>
                </a:cubicBezTo>
                <a:lnTo>
                  <a:pt x="403319" y="336098"/>
                </a:lnTo>
                <a:cubicBezTo>
                  <a:pt x="403319" y="373198"/>
                  <a:pt x="373198" y="403319"/>
                  <a:pt x="336098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25985" y="1411617"/>
            <a:ext cx="226867" cy="201660"/>
          </a:xfrm>
          <a:custGeom>
            <a:avLst/>
            <a:gdLst/>
            <a:ahLst/>
            <a:cxnLst/>
            <a:rect l="l" t="t" r="r" b="b"/>
            <a:pathLst>
              <a:path w="226867" h="201660">
                <a:moveTo>
                  <a:pt x="88265" y="38244"/>
                </a:moveTo>
                <a:lnTo>
                  <a:pt x="88265" y="57780"/>
                </a:lnTo>
                <a:lnTo>
                  <a:pt x="88462" y="57977"/>
                </a:lnTo>
                <a:cubicBezTo>
                  <a:pt x="91023" y="25523"/>
                  <a:pt x="118160" y="0"/>
                  <a:pt x="151284" y="0"/>
                </a:cubicBezTo>
                <a:cubicBezTo>
                  <a:pt x="159201" y="0"/>
                  <a:pt x="166802" y="1457"/>
                  <a:pt x="173774" y="4136"/>
                </a:cubicBezTo>
                <a:cubicBezTo>
                  <a:pt x="177712" y="5632"/>
                  <a:pt x="178421" y="10634"/>
                  <a:pt x="175467" y="13628"/>
                </a:cubicBezTo>
                <a:lnTo>
                  <a:pt x="140531" y="48564"/>
                </a:lnTo>
                <a:cubicBezTo>
                  <a:pt x="139350" y="49745"/>
                  <a:pt x="138680" y="51360"/>
                  <a:pt x="138680" y="53014"/>
                </a:cubicBezTo>
                <a:lnTo>
                  <a:pt x="138680" y="69320"/>
                </a:lnTo>
                <a:cubicBezTo>
                  <a:pt x="138680" y="72786"/>
                  <a:pt x="141516" y="75622"/>
                  <a:pt x="144982" y="75622"/>
                </a:cubicBezTo>
                <a:lnTo>
                  <a:pt x="161288" y="75622"/>
                </a:lnTo>
                <a:cubicBezTo>
                  <a:pt x="162942" y="75622"/>
                  <a:pt x="164557" y="74953"/>
                  <a:pt x="165739" y="73771"/>
                </a:cubicBezTo>
                <a:lnTo>
                  <a:pt x="200675" y="38835"/>
                </a:lnTo>
                <a:cubicBezTo>
                  <a:pt x="203668" y="35842"/>
                  <a:pt x="208670" y="36590"/>
                  <a:pt x="210167" y="40529"/>
                </a:cubicBezTo>
                <a:cubicBezTo>
                  <a:pt x="212845" y="47500"/>
                  <a:pt x="214303" y="55102"/>
                  <a:pt x="214303" y="63019"/>
                </a:cubicBezTo>
                <a:cubicBezTo>
                  <a:pt x="214303" y="86887"/>
                  <a:pt x="201029" y="107683"/>
                  <a:pt x="181415" y="118357"/>
                </a:cubicBezTo>
                <a:lnTo>
                  <a:pt x="213515" y="150457"/>
                </a:lnTo>
                <a:cubicBezTo>
                  <a:pt x="220880" y="157822"/>
                  <a:pt x="220880" y="169796"/>
                  <a:pt x="213515" y="177200"/>
                </a:cubicBezTo>
                <a:lnTo>
                  <a:pt x="189844" y="200872"/>
                </a:lnTo>
                <a:cubicBezTo>
                  <a:pt x="182478" y="208237"/>
                  <a:pt x="170505" y="208237"/>
                  <a:pt x="163100" y="200872"/>
                </a:cubicBezTo>
                <a:lnTo>
                  <a:pt x="113473" y="151245"/>
                </a:lnTo>
                <a:cubicBezTo>
                  <a:pt x="102681" y="140453"/>
                  <a:pt x="100239" y="124501"/>
                  <a:pt x="106186" y="111346"/>
                </a:cubicBezTo>
                <a:lnTo>
                  <a:pt x="70463" y="75622"/>
                </a:lnTo>
                <a:lnTo>
                  <a:pt x="50927" y="75622"/>
                </a:lnTo>
                <a:cubicBezTo>
                  <a:pt x="46713" y="75622"/>
                  <a:pt x="42774" y="73535"/>
                  <a:pt x="40450" y="70029"/>
                </a:cubicBezTo>
                <a:lnTo>
                  <a:pt x="9216" y="23199"/>
                </a:lnTo>
                <a:cubicBezTo>
                  <a:pt x="7562" y="20717"/>
                  <a:pt x="7877" y="17370"/>
                  <a:pt x="10004" y="15243"/>
                </a:cubicBezTo>
                <a:lnTo>
                  <a:pt x="27886" y="-2639"/>
                </a:lnTo>
                <a:cubicBezTo>
                  <a:pt x="30013" y="-4766"/>
                  <a:pt x="33321" y="-5081"/>
                  <a:pt x="35842" y="-3427"/>
                </a:cubicBezTo>
                <a:lnTo>
                  <a:pt x="82673" y="27768"/>
                </a:lnTo>
                <a:cubicBezTo>
                  <a:pt x="86178" y="30091"/>
                  <a:pt x="88265" y="34030"/>
                  <a:pt x="88265" y="38244"/>
                </a:cubicBezTo>
                <a:close/>
                <a:moveTo>
                  <a:pt x="84918" y="116821"/>
                </a:moveTo>
                <a:cubicBezTo>
                  <a:pt x="82436" y="131394"/>
                  <a:pt x="85863" y="146794"/>
                  <a:pt x="95316" y="159122"/>
                </a:cubicBezTo>
                <a:lnTo>
                  <a:pt x="57898" y="196500"/>
                </a:lnTo>
                <a:cubicBezTo>
                  <a:pt x="46831" y="207568"/>
                  <a:pt x="28870" y="207568"/>
                  <a:pt x="17803" y="196500"/>
                </a:cubicBezTo>
                <a:cubicBezTo>
                  <a:pt x="6735" y="185432"/>
                  <a:pt x="6735" y="167472"/>
                  <a:pt x="17803" y="156404"/>
                </a:cubicBezTo>
                <a:lnTo>
                  <a:pt x="71132" y="103075"/>
                </a:lnTo>
                <a:lnTo>
                  <a:pt x="84918" y="116860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9" name="Text 7"/>
          <p:cNvSpPr/>
          <p:nvPr/>
        </p:nvSpPr>
        <p:spPr>
          <a:xfrm>
            <a:off x="1041908" y="1378007"/>
            <a:ext cx="1973708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让集成测试更简单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7759" y="1814936"/>
            <a:ext cx="7268146" cy="4957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为了让</a:t>
            </a:r>
            <a:r>
              <a:rPr lang="en-US" sz="119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集成测试</a:t>
            </a:r>
            <a:r>
              <a:rPr lang="en-US" sz="119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19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前后端协作</a:t>
            </a:r>
            <a:r>
              <a:rPr lang="en-US" sz="119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更加顺畅，Connector内置了强大的Mock服务中心。开发者无需依赖外部工具，即可进行接口调试、联调和性能测试，大幅提升开发效率。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2904" y="2608970"/>
            <a:ext cx="3697092" cy="2411512"/>
          </a:xfrm>
          <a:custGeom>
            <a:avLst/>
            <a:gdLst/>
            <a:ahLst/>
            <a:cxnLst/>
            <a:rect l="l" t="t" r="r" b="b"/>
            <a:pathLst>
              <a:path w="3697092" h="2411512">
                <a:moveTo>
                  <a:pt x="33610" y="0"/>
                </a:moveTo>
                <a:lnTo>
                  <a:pt x="3596266" y="0"/>
                </a:lnTo>
                <a:cubicBezTo>
                  <a:pt x="3651951" y="0"/>
                  <a:pt x="3697092" y="45141"/>
                  <a:pt x="3697092" y="100825"/>
                </a:cubicBezTo>
                <a:lnTo>
                  <a:pt x="3697092" y="2310687"/>
                </a:lnTo>
                <a:cubicBezTo>
                  <a:pt x="3697092" y="2366371"/>
                  <a:pt x="3651951" y="2411512"/>
                  <a:pt x="3596266" y="2411512"/>
                </a:cubicBezTo>
                <a:lnTo>
                  <a:pt x="33610" y="2411512"/>
                </a:lnTo>
                <a:cubicBezTo>
                  <a:pt x="15048" y="2411512"/>
                  <a:pt x="0" y="2396464"/>
                  <a:pt x="0" y="2377902"/>
                </a:cubicBezTo>
                <a:lnTo>
                  <a:pt x="0" y="33610"/>
                </a:lnTo>
                <a:cubicBezTo>
                  <a:pt x="0" y="15060"/>
                  <a:pt x="15060" y="0"/>
                  <a:pt x="3361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352904" y="2608970"/>
            <a:ext cx="33610" cy="2411512"/>
          </a:xfrm>
          <a:custGeom>
            <a:avLst/>
            <a:gdLst/>
            <a:ahLst/>
            <a:cxnLst/>
            <a:rect l="l" t="t" r="r" b="b"/>
            <a:pathLst>
              <a:path w="33610" h="2411512">
                <a:moveTo>
                  <a:pt x="33610" y="0"/>
                </a:moveTo>
                <a:lnTo>
                  <a:pt x="33610" y="0"/>
                </a:lnTo>
                <a:lnTo>
                  <a:pt x="33610" y="2411512"/>
                </a:lnTo>
                <a:lnTo>
                  <a:pt x="33610" y="2411512"/>
                </a:lnTo>
                <a:cubicBezTo>
                  <a:pt x="15048" y="2411512"/>
                  <a:pt x="0" y="2396464"/>
                  <a:pt x="0" y="2377902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13" name="Shape 11"/>
          <p:cNvSpPr/>
          <p:nvPr/>
        </p:nvSpPr>
        <p:spPr>
          <a:xfrm>
            <a:off x="537759" y="2777020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100832" y="0"/>
                </a:moveTo>
                <a:lnTo>
                  <a:pt x="369707" y="0"/>
                </a:lnTo>
                <a:cubicBezTo>
                  <a:pt x="425358" y="0"/>
                  <a:pt x="470539" y="45181"/>
                  <a:pt x="470539" y="100832"/>
                </a:cubicBezTo>
                <a:lnTo>
                  <a:pt x="470539" y="369707"/>
                </a:lnTo>
                <a:cubicBezTo>
                  <a:pt x="470539" y="425358"/>
                  <a:pt x="425358" y="470539"/>
                  <a:pt x="369707" y="470539"/>
                </a:cubicBezTo>
                <a:lnTo>
                  <a:pt x="100832" y="470539"/>
                </a:lnTo>
                <a:cubicBezTo>
                  <a:pt x="45181" y="470539"/>
                  <a:pt x="0" y="425358"/>
                  <a:pt x="0" y="369707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672198" y="2911460"/>
            <a:ext cx="201660" cy="201660"/>
          </a:xfrm>
          <a:custGeom>
            <a:avLst/>
            <a:gdLst/>
            <a:ahLst/>
            <a:cxnLst/>
            <a:rect l="l" t="t" r="r" b="b"/>
            <a:pathLst>
              <a:path w="201660" h="201660">
                <a:moveTo>
                  <a:pt x="25956" y="89998"/>
                </a:moveTo>
                <a:cubicBezTo>
                  <a:pt x="31194" y="53369"/>
                  <a:pt x="62743" y="25207"/>
                  <a:pt x="100830" y="25207"/>
                </a:cubicBezTo>
                <a:cubicBezTo>
                  <a:pt x="121705" y="25207"/>
                  <a:pt x="140610" y="33676"/>
                  <a:pt x="154317" y="47343"/>
                </a:cubicBezTo>
                <a:cubicBezTo>
                  <a:pt x="154396" y="47422"/>
                  <a:pt x="154474" y="47500"/>
                  <a:pt x="154553" y="47579"/>
                </a:cubicBezTo>
                <a:lnTo>
                  <a:pt x="157547" y="50415"/>
                </a:lnTo>
                <a:lnTo>
                  <a:pt x="138680" y="50415"/>
                </a:lnTo>
                <a:cubicBezTo>
                  <a:pt x="131709" y="50415"/>
                  <a:pt x="126077" y="56047"/>
                  <a:pt x="126077" y="63019"/>
                </a:cubicBezTo>
                <a:cubicBezTo>
                  <a:pt x="126077" y="69990"/>
                  <a:pt x="131709" y="75622"/>
                  <a:pt x="138680" y="75622"/>
                </a:cubicBezTo>
                <a:lnTo>
                  <a:pt x="189095" y="75622"/>
                </a:lnTo>
                <a:cubicBezTo>
                  <a:pt x="196067" y="75622"/>
                  <a:pt x="201699" y="69990"/>
                  <a:pt x="201699" y="63019"/>
                </a:cubicBezTo>
                <a:lnTo>
                  <a:pt x="201699" y="12604"/>
                </a:lnTo>
                <a:cubicBezTo>
                  <a:pt x="201699" y="5632"/>
                  <a:pt x="196067" y="0"/>
                  <a:pt x="189095" y="0"/>
                </a:cubicBezTo>
                <a:cubicBezTo>
                  <a:pt x="182124" y="0"/>
                  <a:pt x="176491" y="5632"/>
                  <a:pt x="176491" y="12604"/>
                </a:cubicBezTo>
                <a:lnTo>
                  <a:pt x="176491" y="33636"/>
                </a:lnTo>
                <a:lnTo>
                  <a:pt x="172041" y="29422"/>
                </a:lnTo>
                <a:cubicBezTo>
                  <a:pt x="153805" y="11265"/>
                  <a:pt x="128597" y="0"/>
                  <a:pt x="100830" y="0"/>
                </a:cubicBezTo>
                <a:cubicBezTo>
                  <a:pt x="50021" y="0"/>
                  <a:pt x="7995" y="37575"/>
                  <a:pt x="1024" y="86454"/>
                </a:cubicBezTo>
                <a:cubicBezTo>
                  <a:pt x="39" y="93346"/>
                  <a:pt x="4805" y="99727"/>
                  <a:pt x="11698" y="100712"/>
                </a:cubicBezTo>
                <a:cubicBezTo>
                  <a:pt x="18590" y="101696"/>
                  <a:pt x="24971" y="96891"/>
                  <a:pt x="25956" y="90038"/>
                </a:cubicBezTo>
                <a:close/>
                <a:moveTo>
                  <a:pt x="200635" y="115206"/>
                </a:moveTo>
                <a:cubicBezTo>
                  <a:pt x="201620" y="108313"/>
                  <a:pt x="196815" y="101933"/>
                  <a:pt x="189962" y="100948"/>
                </a:cubicBezTo>
                <a:cubicBezTo>
                  <a:pt x="183108" y="99963"/>
                  <a:pt x="176688" y="104768"/>
                  <a:pt x="175704" y="111622"/>
                </a:cubicBezTo>
                <a:cubicBezTo>
                  <a:pt x="170465" y="148251"/>
                  <a:pt x="138917" y="176413"/>
                  <a:pt x="100830" y="176413"/>
                </a:cubicBezTo>
                <a:cubicBezTo>
                  <a:pt x="79955" y="176413"/>
                  <a:pt x="61049" y="167945"/>
                  <a:pt x="47343" y="154277"/>
                </a:cubicBezTo>
                <a:cubicBezTo>
                  <a:pt x="47264" y="154199"/>
                  <a:pt x="47185" y="154120"/>
                  <a:pt x="47106" y="154041"/>
                </a:cubicBezTo>
                <a:lnTo>
                  <a:pt x="44113" y="151205"/>
                </a:lnTo>
                <a:lnTo>
                  <a:pt x="62979" y="151205"/>
                </a:lnTo>
                <a:cubicBezTo>
                  <a:pt x="69951" y="151205"/>
                  <a:pt x="75583" y="145573"/>
                  <a:pt x="75583" y="138602"/>
                </a:cubicBezTo>
                <a:cubicBezTo>
                  <a:pt x="75583" y="131630"/>
                  <a:pt x="69951" y="125998"/>
                  <a:pt x="62979" y="125998"/>
                </a:cubicBezTo>
                <a:lnTo>
                  <a:pt x="12604" y="126037"/>
                </a:lnTo>
                <a:cubicBezTo>
                  <a:pt x="9256" y="126037"/>
                  <a:pt x="6026" y="127376"/>
                  <a:pt x="3663" y="129779"/>
                </a:cubicBezTo>
                <a:cubicBezTo>
                  <a:pt x="1300" y="132182"/>
                  <a:pt x="-39" y="135372"/>
                  <a:pt x="0" y="138759"/>
                </a:cubicBezTo>
                <a:lnTo>
                  <a:pt x="394" y="188780"/>
                </a:lnTo>
                <a:cubicBezTo>
                  <a:pt x="433" y="195752"/>
                  <a:pt x="6144" y="201344"/>
                  <a:pt x="13116" y="201266"/>
                </a:cubicBezTo>
                <a:cubicBezTo>
                  <a:pt x="20087" y="201187"/>
                  <a:pt x="25680" y="195515"/>
                  <a:pt x="25601" y="188544"/>
                </a:cubicBezTo>
                <a:lnTo>
                  <a:pt x="25444" y="168260"/>
                </a:lnTo>
                <a:lnTo>
                  <a:pt x="29658" y="172238"/>
                </a:lnTo>
                <a:cubicBezTo>
                  <a:pt x="47894" y="190395"/>
                  <a:pt x="73062" y="201660"/>
                  <a:pt x="100830" y="201660"/>
                </a:cubicBezTo>
                <a:cubicBezTo>
                  <a:pt x="151639" y="201660"/>
                  <a:pt x="193664" y="164085"/>
                  <a:pt x="200635" y="115206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5" name="Text 13"/>
          <p:cNvSpPr/>
          <p:nvPr/>
        </p:nvSpPr>
        <p:spPr>
          <a:xfrm>
            <a:off x="1142737" y="2777020"/>
            <a:ext cx="2840039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Echo 回显服务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2737" y="3146729"/>
            <a:ext cx="2814831" cy="4957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发送什么返回什么</a:t>
            </a:r>
            <a:r>
              <a:rPr lang="en-US" sz="119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，用于调试网络连通性和参数传递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2737" y="3739104"/>
            <a:ext cx="2739209" cy="1109127"/>
          </a:xfrm>
          <a:custGeom>
            <a:avLst/>
            <a:gdLst/>
            <a:ahLst/>
            <a:cxnLst/>
            <a:rect l="l" t="t" r="r" b="b"/>
            <a:pathLst>
              <a:path w="2739209" h="1109127">
                <a:moveTo>
                  <a:pt x="67224" y="0"/>
                </a:moveTo>
                <a:lnTo>
                  <a:pt x="2671985" y="0"/>
                </a:lnTo>
                <a:cubicBezTo>
                  <a:pt x="2709112" y="0"/>
                  <a:pt x="2739209" y="30097"/>
                  <a:pt x="2739209" y="67224"/>
                </a:cubicBezTo>
                <a:lnTo>
                  <a:pt x="2739209" y="1041903"/>
                </a:lnTo>
                <a:cubicBezTo>
                  <a:pt x="2739209" y="1079030"/>
                  <a:pt x="2709112" y="1109127"/>
                  <a:pt x="2671985" y="1109127"/>
                </a:cubicBezTo>
                <a:lnTo>
                  <a:pt x="67224" y="1109127"/>
                </a:lnTo>
                <a:cubicBezTo>
                  <a:pt x="30097" y="1109127"/>
                  <a:pt x="0" y="1079030"/>
                  <a:pt x="0" y="1041903"/>
                </a:cubicBezTo>
                <a:lnTo>
                  <a:pt x="0" y="67224"/>
                </a:lnTo>
                <a:cubicBezTo>
                  <a:pt x="0" y="30122"/>
                  <a:pt x="30122" y="0"/>
                  <a:pt x="6722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243567" y="3839934"/>
            <a:ext cx="2596367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使用场景: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68775" y="4108813"/>
            <a:ext cx="117635" cy="134440"/>
          </a:xfrm>
          <a:custGeom>
            <a:avLst/>
            <a:gdLst/>
            <a:ahLst/>
            <a:cxnLst/>
            <a:rect l="l" t="t" r="r" b="b"/>
            <a:pathLst>
              <a:path w="117635" h="134440">
                <a:moveTo>
                  <a:pt x="114169" y="18407"/>
                </a:moveTo>
                <a:cubicBezTo>
                  <a:pt x="117924" y="21137"/>
                  <a:pt x="118764" y="26389"/>
                  <a:pt x="116033" y="30144"/>
                </a:cubicBezTo>
                <a:lnTo>
                  <a:pt x="48813" y="122571"/>
                </a:lnTo>
                <a:cubicBezTo>
                  <a:pt x="47369" y="124567"/>
                  <a:pt x="45137" y="125801"/>
                  <a:pt x="42669" y="126011"/>
                </a:cubicBezTo>
                <a:cubicBezTo>
                  <a:pt x="40201" y="126221"/>
                  <a:pt x="37811" y="125302"/>
                  <a:pt x="36078" y="123569"/>
                </a:cubicBezTo>
                <a:lnTo>
                  <a:pt x="2468" y="89959"/>
                </a:lnTo>
                <a:cubicBezTo>
                  <a:pt x="-814" y="86677"/>
                  <a:pt x="-814" y="81347"/>
                  <a:pt x="2468" y="78064"/>
                </a:cubicBezTo>
                <a:cubicBezTo>
                  <a:pt x="5750" y="74782"/>
                  <a:pt x="11081" y="74782"/>
                  <a:pt x="14363" y="78064"/>
                </a:cubicBezTo>
                <a:lnTo>
                  <a:pt x="41015" y="104716"/>
                </a:lnTo>
                <a:lnTo>
                  <a:pt x="102458" y="20245"/>
                </a:lnTo>
                <a:cubicBezTo>
                  <a:pt x="105189" y="16490"/>
                  <a:pt x="110440" y="15650"/>
                  <a:pt x="114195" y="1838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20" name="Text 18"/>
          <p:cNvSpPr/>
          <p:nvPr/>
        </p:nvSpPr>
        <p:spPr>
          <a:xfrm>
            <a:off x="1478837" y="4075203"/>
            <a:ext cx="1008298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验证请求头传递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68775" y="4344083"/>
            <a:ext cx="117635" cy="134440"/>
          </a:xfrm>
          <a:custGeom>
            <a:avLst/>
            <a:gdLst/>
            <a:ahLst/>
            <a:cxnLst/>
            <a:rect l="l" t="t" r="r" b="b"/>
            <a:pathLst>
              <a:path w="117635" h="134440">
                <a:moveTo>
                  <a:pt x="114169" y="18407"/>
                </a:moveTo>
                <a:cubicBezTo>
                  <a:pt x="117924" y="21137"/>
                  <a:pt x="118764" y="26389"/>
                  <a:pt x="116033" y="30144"/>
                </a:cubicBezTo>
                <a:lnTo>
                  <a:pt x="48813" y="122571"/>
                </a:lnTo>
                <a:cubicBezTo>
                  <a:pt x="47369" y="124567"/>
                  <a:pt x="45137" y="125801"/>
                  <a:pt x="42669" y="126011"/>
                </a:cubicBezTo>
                <a:cubicBezTo>
                  <a:pt x="40201" y="126221"/>
                  <a:pt x="37811" y="125302"/>
                  <a:pt x="36078" y="123569"/>
                </a:cubicBezTo>
                <a:lnTo>
                  <a:pt x="2468" y="89959"/>
                </a:lnTo>
                <a:cubicBezTo>
                  <a:pt x="-814" y="86677"/>
                  <a:pt x="-814" y="81347"/>
                  <a:pt x="2468" y="78064"/>
                </a:cubicBezTo>
                <a:cubicBezTo>
                  <a:pt x="5750" y="74782"/>
                  <a:pt x="11081" y="74782"/>
                  <a:pt x="14363" y="78064"/>
                </a:cubicBezTo>
                <a:lnTo>
                  <a:pt x="41015" y="104716"/>
                </a:lnTo>
                <a:lnTo>
                  <a:pt x="102458" y="20245"/>
                </a:lnTo>
                <a:cubicBezTo>
                  <a:pt x="105189" y="16490"/>
                  <a:pt x="110440" y="15650"/>
                  <a:pt x="114195" y="1838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2" name="Text 20"/>
          <p:cNvSpPr/>
          <p:nvPr/>
        </p:nvSpPr>
        <p:spPr>
          <a:xfrm>
            <a:off x="1478837" y="4310473"/>
            <a:ext cx="873858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测试参数编码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68775" y="4579352"/>
            <a:ext cx="117635" cy="134440"/>
          </a:xfrm>
          <a:custGeom>
            <a:avLst/>
            <a:gdLst/>
            <a:ahLst/>
            <a:cxnLst/>
            <a:rect l="l" t="t" r="r" b="b"/>
            <a:pathLst>
              <a:path w="117635" h="134440">
                <a:moveTo>
                  <a:pt x="114169" y="18407"/>
                </a:moveTo>
                <a:cubicBezTo>
                  <a:pt x="117924" y="21137"/>
                  <a:pt x="118764" y="26389"/>
                  <a:pt x="116033" y="30144"/>
                </a:cubicBezTo>
                <a:lnTo>
                  <a:pt x="48813" y="122571"/>
                </a:lnTo>
                <a:cubicBezTo>
                  <a:pt x="47369" y="124567"/>
                  <a:pt x="45137" y="125801"/>
                  <a:pt x="42669" y="126011"/>
                </a:cubicBezTo>
                <a:cubicBezTo>
                  <a:pt x="40201" y="126221"/>
                  <a:pt x="37811" y="125302"/>
                  <a:pt x="36078" y="123569"/>
                </a:cubicBezTo>
                <a:lnTo>
                  <a:pt x="2468" y="89959"/>
                </a:lnTo>
                <a:cubicBezTo>
                  <a:pt x="-814" y="86677"/>
                  <a:pt x="-814" y="81347"/>
                  <a:pt x="2468" y="78064"/>
                </a:cubicBezTo>
                <a:cubicBezTo>
                  <a:pt x="5750" y="74782"/>
                  <a:pt x="11081" y="74782"/>
                  <a:pt x="14363" y="78064"/>
                </a:cubicBezTo>
                <a:lnTo>
                  <a:pt x="41015" y="104716"/>
                </a:lnTo>
                <a:lnTo>
                  <a:pt x="102458" y="20245"/>
                </a:lnTo>
                <a:cubicBezTo>
                  <a:pt x="105189" y="16490"/>
                  <a:pt x="110440" y="15650"/>
                  <a:pt x="114195" y="1838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24" name="Text 22"/>
          <p:cNvSpPr/>
          <p:nvPr/>
        </p:nvSpPr>
        <p:spPr>
          <a:xfrm>
            <a:off x="1478837" y="4545742"/>
            <a:ext cx="873858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排查网络问题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01328" y="2608970"/>
            <a:ext cx="3697092" cy="2411512"/>
          </a:xfrm>
          <a:custGeom>
            <a:avLst/>
            <a:gdLst/>
            <a:ahLst/>
            <a:cxnLst/>
            <a:rect l="l" t="t" r="r" b="b"/>
            <a:pathLst>
              <a:path w="3697092" h="2411512">
                <a:moveTo>
                  <a:pt x="33610" y="0"/>
                </a:moveTo>
                <a:lnTo>
                  <a:pt x="3596266" y="0"/>
                </a:lnTo>
                <a:cubicBezTo>
                  <a:pt x="3651951" y="0"/>
                  <a:pt x="3697092" y="45141"/>
                  <a:pt x="3697092" y="100825"/>
                </a:cubicBezTo>
                <a:lnTo>
                  <a:pt x="3697092" y="2310687"/>
                </a:lnTo>
                <a:cubicBezTo>
                  <a:pt x="3697092" y="2366371"/>
                  <a:pt x="3651951" y="2411512"/>
                  <a:pt x="3596266" y="2411512"/>
                </a:cubicBezTo>
                <a:lnTo>
                  <a:pt x="33610" y="2411512"/>
                </a:lnTo>
                <a:cubicBezTo>
                  <a:pt x="15048" y="2411512"/>
                  <a:pt x="0" y="2396464"/>
                  <a:pt x="0" y="2377902"/>
                </a:cubicBezTo>
                <a:lnTo>
                  <a:pt x="0" y="33610"/>
                </a:lnTo>
                <a:cubicBezTo>
                  <a:pt x="0" y="15060"/>
                  <a:pt x="15060" y="0"/>
                  <a:pt x="33610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4201328" y="2608970"/>
            <a:ext cx="33610" cy="2411512"/>
          </a:xfrm>
          <a:custGeom>
            <a:avLst/>
            <a:gdLst/>
            <a:ahLst/>
            <a:cxnLst/>
            <a:rect l="l" t="t" r="r" b="b"/>
            <a:pathLst>
              <a:path w="33610" h="2411512">
                <a:moveTo>
                  <a:pt x="33610" y="0"/>
                </a:moveTo>
                <a:lnTo>
                  <a:pt x="33610" y="0"/>
                </a:lnTo>
                <a:lnTo>
                  <a:pt x="33610" y="2411512"/>
                </a:lnTo>
                <a:lnTo>
                  <a:pt x="33610" y="2411512"/>
                </a:lnTo>
                <a:cubicBezTo>
                  <a:pt x="15048" y="2411512"/>
                  <a:pt x="0" y="2396464"/>
                  <a:pt x="0" y="2377902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7" name="Shape 25"/>
          <p:cNvSpPr/>
          <p:nvPr/>
        </p:nvSpPr>
        <p:spPr>
          <a:xfrm>
            <a:off x="4386183" y="2777020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100832" y="0"/>
                </a:moveTo>
                <a:lnTo>
                  <a:pt x="369707" y="0"/>
                </a:lnTo>
                <a:cubicBezTo>
                  <a:pt x="425358" y="0"/>
                  <a:pt x="470539" y="45181"/>
                  <a:pt x="470539" y="100832"/>
                </a:cubicBezTo>
                <a:lnTo>
                  <a:pt x="470539" y="369707"/>
                </a:lnTo>
                <a:cubicBezTo>
                  <a:pt x="470539" y="425358"/>
                  <a:pt x="425358" y="470539"/>
                  <a:pt x="369707" y="470539"/>
                </a:cubicBezTo>
                <a:lnTo>
                  <a:pt x="100832" y="470539"/>
                </a:lnTo>
                <a:cubicBezTo>
                  <a:pt x="45181" y="470539"/>
                  <a:pt x="0" y="425358"/>
                  <a:pt x="0" y="369707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4495415" y="2911460"/>
            <a:ext cx="252074" cy="201660"/>
          </a:xfrm>
          <a:custGeom>
            <a:avLst/>
            <a:gdLst/>
            <a:ahLst/>
            <a:cxnLst/>
            <a:rect l="l" t="t" r="r" b="b"/>
            <a:pathLst>
              <a:path w="252074" h="201660">
                <a:moveTo>
                  <a:pt x="9453" y="-6302"/>
                </a:moveTo>
                <a:cubicBezTo>
                  <a:pt x="4214" y="-6302"/>
                  <a:pt x="0" y="-2087"/>
                  <a:pt x="0" y="3151"/>
                </a:cubicBezTo>
                <a:cubicBezTo>
                  <a:pt x="0" y="8389"/>
                  <a:pt x="4214" y="12604"/>
                  <a:pt x="9453" y="12604"/>
                </a:cubicBezTo>
                <a:lnTo>
                  <a:pt x="27295" y="12604"/>
                </a:lnTo>
                <a:cubicBezTo>
                  <a:pt x="28831" y="12604"/>
                  <a:pt x="30131" y="13707"/>
                  <a:pt x="30406" y="15203"/>
                </a:cubicBezTo>
                <a:lnTo>
                  <a:pt x="50927" y="127967"/>
                </a:lnTo>
                <a:cubicBezTo>
                  <a:pt x="53369" y="141437"/>
                  <a:pt x="65106" y="151245"/>
                  <a:pt x="78813" y="151245"/>
                </a:cubicBezTo>
                <a:lnTo>
                  <a:pt x="179603" y="151245"/>
                </a:lnTo>
                <a:cubicBezTo>
                  <a:pt x="184841" y="151245"/>
                  <a:pt x="189056" y="147030"/>
                  <a:pt x="189056" y="141792"/>
                </a:cubicBezTo>
                <a:cubicBezTo>
                  <a:pt x="189056" y="136553"/>
                  <a:pt x="184841" y="132339"/>
                  <a:pt x="179603" y="132339"/>
                </a:cubicBezTo>
                <a:lnTo>
                  <a:pt x="78813" y="132339"/>
                </a:lnTo>
                <a:cubicBezTo>
                  <a:pt x="74244" y="132339"/>
                  <a:pt x="70345" y="129070"/>
                  <a:pt x="69517" y="124580"/>
                </a:cubicBezTo>
                <a:lnTo>
                  <a:pt x="67509" y="113433"/>
                </a:lnTo>
                <a:lnTo>
                  <a:pt x="187086" y="113433"/>
                </a:lnTo>
                <a:cubicBezTo>
                  <a:pt x="199218" y="113433"/>
                  <a:pt x="209616" y="104808"/>
                  <a:pt x="211861" y="92874"/>
                </a:cubicBezTo>
                <a:lnTo>
                  <a:pt x="224071" y="27531"/>
                </a:lnTo>
                <a:cubicBezTo>
                  <a:pt x="225528" y="19772"/>
                  <a:pt x="219580" y="12604"/>
                  <a:pt x="211664" y="12604"/>
                </a:cubicBezTo>
                <a:lnTo>
                  <a:pt x="49115" y="12604"/>
                </a:lnTo>
                <a:lnTo>
                  <a:pt x="48958" y="11816"/>
                </a:lnTo>
                <a:cubicBezTo>
                  <a:pt x="47067" y="1339"/>
                  <a:pt x="37929" y="-6302"/>
                  <a:pt x="27256" y="-6302"/>
                </a:cubicBezTo>
                <a:lnTo>
                  <a:pt x="9453" y="-6302"/>
                </a:lnTo>
                <a:close/>
                <a:moveTo>
                  <a:pt x="81924" y="201660"/>
                </a:moveTo>
                <a:cubicBezTo>
                  <a:pt x="92358" y="201660"/>
                  <a:pt x="100830" y="193188"/>
                  <a:pt x="100830" y="182754"/>
                </a:cubicBezTo>
                <a:cubicBezTo>
                  <a:pt x="100830" y="172320"/>
                  <a:pt x="92358" y="163848"/>
                  <a:pt x="81924" y="163848"/>
                </a:cubicBezTo>
                <a:cubicBezTo>
                  <a:pt x="71490" y="163848"/>
                  <a:pt x="63019" y="172320"/>
                  <a:pt x="63019" y="182754"/>
                </a:cubicBezTo>
                <a:cubicBezTo>
                  <a:pt x="63019" y="193188"/>
                  <a:pt x="71490" y="201660"/>
                  <a:pt x="81924" y="201660"/>
                </a:cubicBezTo>
                <a:close/>
                <a:moveTo>
                  <a:pt x="170150" y="201660"/>
                </a:moveTo>
                <a:cubicBezTo>
                  <a:pt x="180585" y="201660"/>
                  <a:pt x="189056" y="193188"/>
                  <a:pt x="189056" y="182754"/>
                </a:cubicBezTo>
                <a:cubicBezTo>
                  <a:pt x="189056" y="172320"/>
                  <a:pt x="180585" y="163848"/>
                  <a:pt x="170150" y="163848"/>
                </a:cubicBezTo>
                <a:cubicBezTo>
                  <a:pt x="159716" y="163848"/>
                  <a:pt x="151245" y="172320"/>
                  <a:pt x="151245" y="182754"/>
                </a:cubicBezTo>
                <a:cubicBezTo>
                  <a:pt x="151245" y="193188"/>
                  <a:pt x="159716" y="201660"/>
                  <a:pt x="170150" y="20166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9" name="Text 27"/>
          <p:cNvSpPr/>
          <p:nvPr/>
        </p:nvSpPr>
        <p:spPr>
          <a:xfrm>
            <a:off x="4991161" y="2777020"/>
            <a:ext cx="2840039" cy="268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Mock 订单服务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91161" y="3146729"/>
            <a:ext cx="2814831" cy="243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</a:t>
            </a:r>
            <a:r>
              <a:rPr lang="en-US" sz="119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真实的业务接口</a:t>
            </a:r>
            <a:r>
              <a:rPr lang="en-US" sz="119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延迟和响应结构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91161" y="3493331"/>
            <a:ext cx="2739209" cy="1109127"/>
          </a:xfrm>
          <a:custGeom>
            <a:avLst/>
            <a:gdLst/>
            <a:ahLst/>
            <a:cxnLst/>
            <a:rect l="l" t="t" r="r" b="b"/>
            <a:pathLst>
              <a:path w="2739209" h="1109127">
                <a:moveTo>
                  <a:pt x="67224" y="0"/>
                </a:moveTo>
                <a:lnTo>
                  <a:pt x="2671985" y="0"/>
                </a:lnTo>
                <a:cubicBezTo>
                  <a:pt x="2709112" y="0"/>
                  <a:pt x="2739209" y="30097"/>
                  <a:pt x="2739209" y="67224"/>
                </a:cubicBezTo>
                <a:lnTo>
                  <a:pt x="2739209" y="1041903"/>
                </a:lnTo>
                <a:cubicBezTo>
                  <a:pt x="2739209" y="1079030"/>
                  <a:pt x="2709112" y="1109127"/>
                  <a:pt x="2671985" y="1109127"/>
                </a:cubicBezTo>
                <a:lnTo>
                  <a:pt x="67224" y="1109127"/>
                </a:lnTo>
                <a:cubicBezTo>
                  <a:pt x="30097" y="1109127"/>
                  <a:pt x="0" y="1079030"/>
                  <a:pt x="0" y="1041903"/>
                </a:cubicBezTo>
                <a:lnTo>
                  <a:pt x="0" y="67224"/>
                </a:lnTo>
                <a:cubicBezTo>
                  <a:pt x="0" y="30122"/>
                  <a:pt x="30122" y="0"/>
                  <a:pt x="6722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5091991" y="3594161"/>
            <a:ext cx="2596367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核心特性: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17199" y="3863041"/>
            <a:ext cx="117635" cy="134440"/>
          </a:xfrm>
          <a:custGeom>
            <a:avLst/>
            <a:gdLst/>
            <a:ahLst/>
            <a:cxnLst/>
            <a:rect l="l" t="t" r="r" b="b"/>
            <a:pathLst>
              <a:path w="117635" h="134440">
                <a:moveTo>
                  <a:pt x="114169" y="18407"/>
                </a:moveTo>
                <a:cubicBezTo>
                  <a:pt x="117924" y="21137"/>
                  <a:pt x="118764" y="26389"/>
                  <a:pt x="116033" y="30144"/>
                </a:cubicBezTo>
                <a:lnTo>
                  <a:pt x="48813" y="122571"/>
                </a:lnTo>
                <a:cubicBezTo>
                  <a:pt x="47369" y="124567"/>
                  <a:pt x="45137" y="125801"/>
                  <a:pt x="42669" y="126011"/>
                </a:cubicBezTo>
                <a:cubicBezTo>
                  <a:pt x="40201" y="126221"/>
                  <a:pt x="37811" y="125302"/>
                  <a:pt x="36078" y="123569"/>
                </a:cubicBezTo>
                <a:lnTo>
                  <a:pt x="2468" y="89959"/>
                </a:lnTo>
                <a:cubicBezTo>
                  <a:pt x="-814" y="86677"/>
                  <a:pt x="-814" y="81347"/>
                  <a:pt x="2468" y="78064"/>
                </a:cubicBezTo>
                <a:cubicBezTo>
                  <a:pt x="5750" y="74782"/>
                  <a:pt x="11081" y="74782"/>
                  <a:pt x="14363" y="78064"/>
                </a:cubicBezTo>
                <a:lnTo>
                  <a:pt x="41015" y="104716"/>
                </a:lnTo>
                <a:lnTo>
                  <a:pt x="102458" y="20245"/>
                </a:lnTo>
                <a:cubicBezTo>
                  <a:pt x="105189" y="16490"/>
                  <a:pt x="110440" y="15650"/>
                  <a:pt x="114195" y="1838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4" name="Text 32"/>
          <p:cNvSpPr/>
          <p:nvPr/>
        </p:nvSpPr>
        <p:spPr>
          <a:xfrm>
            <a:off x="5327261" y="3829431"/>
            <a:ext cx="1142737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真实业务数据格式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17199" y="4098310"/>
            <a:ext cx="117635" cy="134440"/>
          </a:xfrm>
          <a:custGeom>
            <a:avLst/>
            <a:gdLst/>
            <a:ahLst/>
            <a:cxnLst/>
            <a:rect l="l" t="t" r="r" b="b"/>
            <a:pathLst>
              <a:path w="117635" h="134440">
                <a:moveTo>
                  <a:pt x="114169" y="18407"/>
                </a:moveTo>
                <a:cubicBezTo>
                  <a:pt x="117924" y="21137"/>
                  <a:pt x="118764" y="26389"/>
                  <a:pt x="116033" y="30144"/>
                </a:cubicBezTo>
                <a:lnTo>
                  <a:pt x="48813" y="122571"/>
                </a:lnTo>
                <a:cubicBezTo>
                  <a:pt x="47369" y="124567"/>
                  <a:pt x="45137" y="125801"/>
                  <a:pt x="42669" y="126011"/>
                </a:cubicBezTo>
                <a:cubicBezTo>
                  <a:pt x="40201" y="126221"/>
                  <a:pt x="37811" y="125302"/>
                  <a:pt x="36078" y="123569"/>
                </a:cubicBezTo>
                <a:lnTo>
                  <a:pt x="2468" y="89959"/>
                </a:lnTo>
                <a:cubicBezTo>
                  <a:pt x="-814" y="86677"/>
                  <a:pt x="-814" y="81347"/>
                  <a:pt x="2468" y="78064"/>
                </a:cubicBezTo>
                <a:cubicBezTo>
                  <a:pt x="5750" y="74782"/>
                  <a:pt x="11081" y="74782"/>
                  <a:pt x="14363" y="78064"/>
                </a:cubicBezTo>
                <a:lnTo>
                  <a:pt x="41015" y="104716"/>
                </a:lnTo>
                <a:lnTo>
                  <a:pt x="102458" y="20245"/>
                </a:lnTo>
                <a:cubicBezTo>
                  <a:pt x="105189" y="16490"/>
                  <a:pt x="110440" y="15650"/>
                  <a:pt x="114195" y="1838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36" name="Text 34"/>
          <p:cNvSpPr/>
          <p:nvPr/>
        </p:nvSpPr>
        <p:spPr>
          <a:xfrm>
            <a:off x="5327261" y="4064700"/>
            <a:ext cx="1008298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可配置响应延迟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17199" y="4333580"/>
            <a:ext cx="117635" cy="134440"/>
          </a:xfrm>
          <a:custGeom>
            <a:avLst/>
            <a:gdLst/>
            <a:ahLst/>
            <a:cxnLst/>
            <a:rect l="l" t="t" r="r" b="b"/>
            <a:pathLst>
              <a:path w="117635" h="134440">
                <a:moveTo>
                  <a:pt x="114169" y="18407"/>
                </a:moveTo>
                <a:cubicBezTo>
                  <a:pt x="117924" y="21137"/>
                  <a:pt x="118764" y="26389"/>
                  <a:pt x="116033" y="30144"/>
                </a:cubicBezTo>
                <a:lnTo>
                  <a:pt x="48813" y="122571"/>
                </a:lnTo>
                <a:cubicBezTo>
                  <a:pt x="47369" y="124567"/>
                  <a:pt x="45137" y="125801"/>
                  <a:pt x="42669" y="126011"/>
                </a:cubicBezTo>
                <a:cubicBezTo>
                  <a:pt x="40201" y="126221"/>
                  <a:pt x="37811" y="125302"/>
                  <a:pt x="36078" y="123569"/>
                </a:cubicBezTo>
                <a:lnTo>
                  <a:pt x="2468" y="89959"/>
                </a:lnTo>
                <a:cubicBezTo>
                  <a:pt x="-814" y="86677"/>
                  <a:pt x="-814" y="81347"/>
                  <a:pt x="2468" y="78064"/>
                </a:cubicBezTo>
                <a:cubicBezTo>
                  <a:pt x="5750" y="74782"/>
                  <a:pt x="11081" y="74782"/>
                  <a:pt x="14363" y="78064"/>
                </a:cubicBezTo>
                <a:lnTo>
                  <a:pt x="41015" y="104716"/>
                </a:lnTo>
                <a:lnTo>
                  <a:pt x="102458" y="20245"/>
                </a:lnTo>
                <a:cubicBezTo>
                  <a:pt x="105189" y="16490"/>
                  <a:pt x="110440" y="15650"/>
                  <a:pt x="114195" y="1838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8" name="Text 36"/>
          <p:cNvSpPr/>
          <p:nvPr/>
        </p:nvSpPr>
        <p:spPr>
          <a:xfrm>
            <a:off x="5327261" y="4299970"/>
            <a:ext cx="1008298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支持错误码模拟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38900" y="5153522"/>
            <a:ext cx="7559432" cy="1534853"/>
          </a:xfrm>
          <a:custGeom>
            <a:avLst/>
            <a:gdLst/>
            <a:ahLst/>
            <a:cxnLst/>
            <a:rect l="l" t="t" r="r" b="b"/>
            <a:pathLst>
              <a:path w="7559432" h="1534853">
                <a:moveTo>
                  <a:pt x="100825" y="0"/>
                </a:moveTo>
                <a:lnTo>
                  <a:pt x="7458608" y="0"/>
                </a:lnTo>
                <a:cubicBezTo>
                  <a:pt x="7514291" y="0"/>
                  <a:pt x="7559432" y="45141"/>
                  <a:pt x="7559432" y="100825"/>
                </a:cubicBezTo>
                <a:lnTo>
                  <a:pt x="7559432" y="1434029"/>
                </a:lnTo>
                <a:cubicBezTo>
                  <a:pt x="7559432" y="1489713"/>
                  <a:pt x="7514291" y="1534853"/>
                  <a:pt x="7458608" y="1534853"/>
                </a:cubicBezTo>
                <a:lnTo>
                  <a:pt x="100825" y="1534853"/>
                </a:lnTo>
                <a:cubicBezTo>
                  <a:pt x="45141" y="1534853"/>
                  <a:pt x="0" y="1489713"/>
                  <a:pt x="0" y="1434029"/>
                </a:cubicBezTo>
                <a:lnTo>
                  <a:pt x="0" y="100825"/>
                </a:lnTo>
                <a:cubicBezTo>
                  <a:pt x="0" y="45141"/>
                  <a:pt x="45141" y="0"/>
                  <a:pt x="10082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7147" y="5332777"/>
            <a:ext cx="151245" cy="151245"/>
          </a:xfrm>
          <a:custGeom>
            <a:avLst/>
            <a:gdLst/>
            <a:ahLst/>
            <a:cxnLst/>
            <a:rect l="l" t="t" r="r" b="b"/>
            <a:pathLst>
              <a:path w="151245" h="151245">
                <a:moveTo>
                  <a:pt x="37811" y="94528"/>
                </a:moveTo>
                <a:lnTo>
                  <a:pt x="7237" y="94528"/>
                </a:lnTo>
                <a:cubicBezTo>
                  <a:pt x="-118" y="94528"/>
                  <a:pt x="-4638" y="86523"/>
                  <a:pt x="-857" y="80201"/>
                </a:cubicBezTo>
                <a:lnTo>
                  <a:pt x="14770" y="54147"/>
                </a:lnTo>
                <a:cubicBezTo>
                  <a:pt x="17340" y="49863"/>
                  <a:pt x="21948" y="47264"/>
                  <a:pt x="26940" y="47264"/>
                </a:cubicBezTo>
                <a:lnTo>
                  <a:pt x="55003" y="47264"/>
                </a:lnTo>
                <a:cubicBezTo>
                  <a:pt x="77483" y="9187"/>
                  <a:pt x="111011" y="7267"/>
                  <a:pt x="133432" y="10546"/>
                </a:cubicBezTo>
                <a:cubicBezTo>
                  <a:pt x="137213" y="11107"/>
                  <a:pt x="140167" y="14061"/>
                  <a:pt x="140699" y="17813"/>
                </a:cubicBezTo>
                <a:cubicBezTo>
                  <a:pt x="143978" y="40233"/>
                  <a:pt x="142058" y="73761"/>
                  <a:pt x="103981" y="96241"/>
                </a:cubicBezTo>
                <a:lnTo>
                  <a:pt x="103981" y="124304"/>
                </a:lnTo>
                <a:cubicBezTo>
                  <a:pt x="103981" y="129296"/>
                  <a:pt x="101381" y="133905"/>
                  <a:pt x="97098" y="136475"/>
                </a:cubicBezTo>
                <a:lnTo>
                  <a:pt x="71044" y="152101"/>
                </a:lnTo>
                <a:cubicBezTo>
                  <a:pt x="64752" y="155882"/>
                  <a:pt x="56717" y="151333"/>
                  <a:pt x="56717" y="144007"/>
                </a:cubicBezTo>
                <a:lnTo>
                  <a:pt x="56717" y="113433"/>
                </a:lnTo>
                <a:cubicBezTo>
                  <a:pt x="56717" y="103006"/>
                  <a:pt x="48239" y="94528"/>
                  <a:pt x="37811" y="94528"/>
                </a:cubicBezTo>
                <a:lnTo>
                  <a:pt x="37782" y="94528"/>
                </a:lnTo>
                <a:close/>
                <a:moveTo>
                  <a:pt x="118160" y="47264"/>
                </a:moveTo>
                <a:cubicBezTo>
                  <a:pt x="118160" y="39438"/>
                  <a:pt x="111806" y="33085"/>
                  <a:pt x="103981" y="33085"/>
                </a:cubicBezTo>
                <a:cubicBezTo>
                  <a:pt x="96155" y="33085"/>
                  <a:pt x="89802" y="39438"/>
                  <a:pt x="89802" y="47264"/>
                </a:cubicBezTo>
                <a:cubicBezTo>
                  <a:pt x="89802" y="55090"/>
                  <a:pt x="96155" y="61443"/>
                  <a:pt x="103981" y="61443"/>
                </a:cubicBezTo>
                <a:cubicBezTo>
                  <a:pt x="111806" y="61443"/>
                  <a:pt x="118160" y="55090"/>
                  <a:pt x="118160" y="47264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41" name="Text 39"/>
          <p:cNvSpPr/>
          <p:nvPr/>
        </p:nvSpPr>
        <p:spPr>
          <a:xfrm>
            <a:off x="669398" y="5290765"/>
            <a:ext cx="7167316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Mock服务带来的价值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76141" y="5626864"/>
            <a:ext cx="2335890" cy="924273"/>
          </a:xfrm>
          <a:custGeom>
            <a:avLst/>
            <a:gdLst/>
            <a:ahLst/>
            <a:cxnLst/>
            <a:rect l="l" t="t" r="r" b="b"/>
            <a:pathLst>
              <a:path w="2335890" h="924273">
                <a:moveTo>
                  <a:pt x="67222" y="0"/>
                </a:moveTo>
                <a:lnTo>
                  <a:pt x="2268667" y="0"/>
                </a:lnTo>
                <a:cubicBezTo>
                  <a:pt x="2305793" y="0"/>
                  <a:pt x="2335890" y="30096"/>
                  <a:pt x="2335890" y="67222"/>
                </a:cubicBezTo>
                <a:lnTo>
                  <a:pt x="2335890" y="857051"/>
                </a:lnTo>
                <a:cubicBezTo>
                  <a:pt x="2335890" y="894176"/>
                  <a:pt x="2305793" y="924273"/>
                  <a:pt x="2268667" y="924273"/>
                </a:cubicBezTo>
                <a:lnTo>
                  <a:pt x="67222" y="924273"/>
                </a:lnTo>
                <a:cubicBezTo>
                  <a:pt x="30121" y="924273"/>
                  <a:pt x="0" y="894152"/>
                  <a:pt x="0" y="857051"/>
                </a:cubicBezTo>
                <a:lnTo>
                  <a:pt x="0" y="67222"/>
                </a:lnTo>
                <a:cubicBezTo>
                  <a:pt x="0" y="30096"/>
                  <a:pt x="30096" y="0"/>
                  <a:pt x="6722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1521112" y="5727694"/>
            <a:ext cx="252074" cy="252074"/>
          </a:xfrm>
          <a:custGeom>
            <a:avLst/>
            <a:gdLst/>
            <a:ahLst/>
            <a:cxnLst/>
            <a:rect l="l" t="t" r="r" b="b"/>
            <a:pathLst>
              <a:path w="252074" h="252074">
                <a:moveTo>
                  <a:pt x="0" y="126037"/>
                </a:moveTo>
                <a:cubicBezTo>
                  <a:pt x="0" y="56475"/>
                  <a:pt x="56475" y="0"/>
                  <a:pt x="126037" y="0"/>
                </a:cubicBezTo>
                <a:cubicBezTo>
                  <a:pt x="195599" y="0"/>
                  <a:pt x="252074" y="56475"/>
                  <a:pt x="252074" y="126037"/>
                </a:cubicBezTo>
                <a:cubicBezTo>
                  <a:pt x="252074" y="195599"/>
                  <a:pt x="195599" y="252074"/>
                  <a:pt x="126037" y="252074"/>
                </a:cubicBezTo>
                <a:cubicBezTo>
                  <a:pt x="56475" y="252074"/>
                  <a:pt x="0" y="195599"/>
                  <a:pt x="0" y="126037"/>
                </a:cubicBezTo>
                <a:close/>
                <a:moveTo>
                  <a:pt x="141792" y="47264"/>
                </a:moveTo>
                <a:cubicBezTo>
                  <a:pt x="141792" y="38569"/>
                  <a:pt x="134732" y="31509"/>
                  <a:pt x="126037" y="31509"/>
                </a:cubicBezTo>
                <a:cubicBezTo>
                  <a:pt x="117342" y="31509"/>
                  <a:pt x="110283" y="38569"/>
                  <a:pt x="110283" y="47264"/>
                </a:cubicBezTo>
                <a:cubicBezTo>
                  <a:pt x="110283" y="55959"/>
                  <a:pt x="117342" y="63019"/>
                  <a:pt x="126037" y="63019"/>
                </a:cubicBezTo>
                <a:cubicBezTo>
                  <a:pt x="134732" y="63019"/>
                  <a:pt x="141792" y="55959"/>
                  <a:pt x="141792" y="47264"/>
                </a:cubicBezTo>
                <a:close/>
                <a:moveTo>
                  <a:pt x="126037" y="204810"/>
                </a:moveTo>
                <a:cubicBezTo>
                  <a:pt x="143417" y="204810"/>
                  <a:pt x="157547" y="190681"/>
                  <a:pt x="157547" y="173301"/>
                </a:cubicBezTo>
                <a:cubicBezTo>
                  <a:pt x="157547" y="165325"/>
                  <a:pt x="154593" y="157990"/>
                  <a:pt x="149669" y="152475"/>
                </a:cubicBezTo>
                <a:lnTo>
                  <a:pt x="183886" y="84090"/>
                </a:lnTo>
                <a:cubicBezTo>
                  <a:pt x="186791" y="78232"/>
                  <a:pt x="184428" y="71142"/>
                  <a:pt x="178618" y="68237"/>
                </a:cubicBezTo>
                <a:cubicBezTo>
                  <a:pt x="172809" y="65333"/>
                  <a:pt x="165670" y="67696"/>
                  <a:pt x="162765" y="73505"/>
                </a:cubicBezTo>
                <a:lnTo>
                  <a:pt x="128548" y="141890"/>
                </a:lnTo>
                <a:cubicBezTo>
                  <a:pt x="127711" y="141841"/>
                  <a:pt x="126874" y="141792"/>
                  <a:pt x="126037" y="141792"/>
                </a:cubicBezTo>
                <a:cubicBezTo>
                  <a:pt x="108658" y="141792"/>
                  <a:pt x="94528" y="155922"/>
                  <a:pt x="94528" y="173301"/>
                </a:cubicBezTo>
                <a:cubicBezTo>
                  <a:pt x="94528" y="190681"/>
                  <a:pt x="108658" y="204810"/>
                  <a:pt x="126037" y="204810"/>
                </a:cubicBezTo>
                <a:close/>
                <a:moveTo>
                  <a:pt x="86651" y="70896"/>
                </a:moveTo>
                <a:cubicBezTo>
                  <a:pt x="86651" y="62201"/>
                  <a:pt x="79591" y="55141"/>
                  <a:pt x="70896" y="55141"/>
                </a:cubicBezTo>
                <a:cubicBezTo>
                  <a:pt x="62201" y="55141"/>
                  <a:pt x="55141" y="62201"/>
                  <a:pt x="55141" y="70896"/>
                </a:cubicBezTo>
                <a:cubicBezTo>
                  <a:pt x="55141" y="79591"/>
                  <a:pt x="62201" y="86651"/>
                  <a:pt x="70896" y="86651"/>
                </a:cubicBezTo>
                <a:cubicBezTo>
                  <a:pt x="79591" y="86651"/>
                  <a:pt x="86651" y="79591"/>
                  <a:pt x="86651" y="70896"/>
                </a:cubicBezTo>
                <a:close/>
                <a:moveTo>
                  <a:pt x="47264" y="141792"/>
                </a:moveTo>
                <a:cubicBezTo>
                  <a:pt x="55959" y="141792"/>
                  <a:pt x="63019" y="134732"/>
                  <a:pt x="63019" y="126037"/>
                </a:cubicBezTo>
                <a:cubicBezTo>
                  <a:pt x="63019" y="117342"/>
                  <a:pt x="55959" y="110283"/>
                  <a:pt x="47264" y="110283"/>
                </a:cubicBezTo>
                <a:cubicBezTo>
                  <a:pt x="38569" y="110283"/>
                  <a:pt x="31509" y="117342"/>
                  <a:pt x="31509" y="126037"/>
                </a:cubicBezTo>
                <a:cubicBezTo>
                  <a:pt x="31509" y="134732"/>
                  <a:pt x="38569" y="141792"/>
                  <a:pt x="47264" y="141792"/>
                </a:cubicBezTo>
                <a:close/>
                <a:moveTo>
                  <a:pt x="220565" y="126037"/>
                </a:moveTo>
                <a:cubicBezTo>
                  <a:pt x="220565" y="117342"/>
                  <a:pt x="213506" y="110283"/>
                  <a:pt x="204810" y="110283"/>
                </a:cubicBezTo>
                <a:cubicBezTo>
                  <a:pt x="196115" y="110283"/>
                  <a:pt x="189056" y="117342"/>
                  <a:pt x="189056" y="126037"/>
                </a:cubicBezTo>
                <a:cubicBezTo>
                  <a:pt x="189056" y="134732"/>
                  <a:pt x="196115" y="141792"/>
                  <a:pt x="204810" y="141792"/>
                </a:cubicBezTo>
                <a:cubicBezTo>
                  <a:pt x="213506" y="141792"/>
                  <a:pt x="220565" y="134732"/>
                  <a:pt x="220565" y="126037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44" name="Text 42"/>
          <p:cNvSpPr/>
          <p:nvPr/>
        </p:nvSpPr>
        <p:spPr>
          <a:xfrm>
            <a:off x="543360" y="6046988"/>
            <a:ext cx="2201450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并行开发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7562" y="6282258"/>
            <a:ext cx="2193048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前后端并行开发，不再相互阻塞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948396" y="5626864"/>
            <a:ext cx="2335890" cy="924273"/>
          </a:xfrm>
          <a:custGeom>
            <a:avLst/>
            <a:gdLst/>
            <a:ahLst/>
            <a:cxnLst/>
            <a:rect l="l" t="t" r="r" b="b"/>
            <a:pathLst>
              <a:path w="2335890" h="924273">
                <a:moveTo>
                  <a:pt x="67222" y="0"/>
                </a:moveTo>
                <a:lnTo>
                  <a:pt x="2268667" y="0"/>
                </a:lnTo>
                <a:cubicBezTo>
                  <a:pt x="2305793" y="0"/>
                  <a:pt x="2335890" y="30096"/>
                  <a:pt x="2335890" y="67222"/>
                </a:cubicBezTo>
                <a:lnTo>
                  <a:pt x="2335890" y="857051"/>
                </a:lnTo>
                <a:cubicBezTo>
                  <a:pt x="2335890" y="894176"/>
                  <a:pt x="2305793" y="924273"/>
                  <a:pt x="2268667" y="924273"/>
                </a:cubicBezTo>
                <a:lnTo>
                  <a:pt x="67222" y="924273"/>
                </a:lnTo>
                <a:cubicBezTo>
                  <a:pt x="30121" y="924273"/>
                  <a:pt x="0" y="894152"/>
                  <a:pt x="0" y="857051"/>
                </a:cubicBezTo>
                <a:lnTo>
                  <a:pt x="0" y="67222"/>
                </a:lnTo>
                <a:cubicBezTo>
                  <a:pt x="0" y="30096"/>
                  <a:pt x="30096" y="0"/>
                  <a:pt x="6722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3993367" y="5727694"/>
            <a:ext cx="252074" cy="252074"/>
          </a:xfrm>
          <a:custGeom>
            <a:avLst/>
            <a:gdLst/>
            <a:ahLst/>
            <a:cxnLst/>
            <a:rect l="l" t="t" r="r" b="b"/>
            <a:pathLst>
              <a:path w="252074" h="252074">
                <a:moveTo>
                  <a:pt x="168673" y="4628"/>
                </a:moveTo>
                <a:cubicBezTo>
                  <a:pt x="162519" y="-1526"/>
                  <a:pt x="152525" y="-1526"/>
                  <a:pt x="146371" y="4628"/>
                </a:cubicBezTo>
                <a:cubicBezTo>
                  <a:pt x="140216" y="10782"/>
                  <a:pt x="140216" y="20776"/>
                  <a:pt x="146371" y="26931"/>
                </a:cubicBezTo>
                <a:lnTo>
                  <a:pt x="150998" y="31509"/>
                </a:lnTo>
                <a:lnTo>
                  <a:pt x="13835" y="168673"/>
                </a:lnTo>
                <a:cubicBezTo>
                  <a:pt x="4973" y="177535"/>
                  <a:pt x="0" y="189548"/>
                  <a:pt x="0" y="202103"/>
                </a:cubicBezTo>
                <a:lnTo>
                  <a:pt x="0" y="204810"/>
                </a:lnTo>
                <a:cubicBezTo>
                  <a:pt x="0" y="230904"/>
                  <a:pt x="21170" y="252074"/>
                  <a:pt x="47264" y="252074"/>
                </a:cubicBezTo>
                <a:lnTo>
                  <a:pt x="49972" y="252074"/>
                </a:lnTo>
                <a:cubicBezTo>
                  <a:pt x="62526" y="252074"/>
                  <a:pt x="74539" y="247102"/>
                  <a:pt x="83401" y="238240"/>
                </a:cubicBezTo>
                <a:lnTo>
                  <a:pt x="220565" y="101076"/>
                </a:lnTo>
                <a:lnTo>
                  <a:pt x="225193" y="105704"/>
                </a:lnTo>
                <a:cubicBezTo>
                  <a:pt x="231347" y="111858"/>
                  <a:pt x="241342" y="111858"/>
                  <a:pt x="247496" y="105704"/>
                </a:cubicBezTo>
                <a:cubicBezTo>
                  <a:pt x="253650" y="99550"/>
                  <a:pt x="253650" y="89555"/>
                  <a:pt x="247496" y="83401"/>
                </a:cubicBezTo>
                <a:lnTo>
                  <a:pt x="168722" y="4628"/>
                </a:lnTo>
                <a:close/>
                <a:moveTo>
                  <a:pt x="101076" y="126037"/>
                </a:moveTo>
                <a:lnTo>
                  <a:pt x="173301" y="53812"/>
                </a:lnTo>
                <a:lnTo>
                  <a:pt x="198262" y="78773"/>
                </a:lnTo>
                <a:lnTo>
                  <a:pt x="150998" y="126037"/>
                </a:lnTo>
                <a:lnTo>
                  <a:pt x="101027" y="126037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48" name="Text 46"/>
          <p:cNvSpPr/>
          <p:nvPr/>
        </p:nvSpPr>
        <p:spPr>
          <a:xfrm>
            <a:off x="3015616" y="6046988"/>
            <a:ext cx="2201450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接口测试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019817" y="6282258"/>
            <a:ext cx="2193048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提供稳定的测试环境，支持自动化测试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420651" y="5626864"/>
            <a:ext cx="2335890" cy="924273"/>
          </a:xfrm>
          <a:custGeom>
            <a:avLst/>
            <a:gdLst/>
            <a:ahLst/>
            <a:cxnLst/>
            <a:rect l="l" t="t" r="r" b="b"/>
            <a:pathLst>
              <a:path w="2335890" h="924273">
                <a:moveTo>
                  <a:pt x="67222" y="0"/>
                </a:moveTo>
                <a:lnTo>
                  <a:pt x="2268667" y="0"/>
                </a:lnTo>
                <a:cubicBezTo>
                  <a:pt x="2305793" y="0"/>
                  <a:pt x="2335890" y="30096"/>
                  <a:pt x="2335890" y="67222"/>
                </a:cubicBezTo>
                <a:lnTo>
                  <a:pt x="2335890" y="857051"/>
                </a:lnTo>
                <a:cubicBezTo>
                  <a:pt x="2335890" y="894176"/>
                  <a:pt x="2305793" y="924273"/>
                  <a:pt x="2268667" y="924273"/>
                </a:cubicBezTo>
                <a:lnTo>
                  <a:pt x="67222" y="924273"/>
                </a:lnTo>
                <a:cubicBezTo>
                  <a:pt x="30121" y="924273"/>
                  <a:pt x="0" y="894152"/>
                  <a:pt x="0" y="857051"/>
                </a:cubicBezTo>
                <a:lnTo>
                  <a:pt x="0" y="67222"/>
                </a:lnTo>
                <a:cubicBezTo>
                  <a:pt x="0" y="30096"/>
                  <a:pt x="30096" y="0"/>
                  <a:pt x="6722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6449867" y="5727694"/>
            <a:ext cx="283584" cy="252074"/>
          </a:xfrm>
          <a:custGeom>
            <a:avLst/>
            <a:gdLst/>
            <a:ahLst/>
            <a:cxnLst/>
            <a:rect l="l" t="t" r="r" b="b"/>
            <a:pathLst>
              <a:path w="283584" h="252074">
                <a:moveTo>
                  <a:pt x="23632" y="96399"/>
                </a:moveTo>
                <a:lnTo>
                  <a:pt x="126628" y="138789"/>
                </a:lnTo>
                <a:cubicBezTo>
                  <a:pt x="131453" y="140758"/>
                  <a:pt x="136573" y="141792"/>
                  <a:pt x="141792" y="141792"/>
                </a:cubicBezTo>
                <a:cubicBezTo>
                  <a:pt x="147011" y="141792"/>
                  <a:pt x="152131" y="140758"/>
                  <a:pt x="156956" y="138789"/>
                </a:cubicBezTo>
                <a:lnTo>
                  <a:pt x="276297" y="89654"/>
                </a:lnTo>
                <a:cubicBezTo>
                  <a:pt x="280728" y="87832"/>
                  <a:pt x="283584" y="83549"/>
                  <a:pt x="283584" y="78773"/>
                </a:cubicBezTo>
                <a:cubicBezTo>
                  <a:pt x="283584" y="73998"/>
                  <a:pt x="280728" y="69714"/>
                  <a:pt x="276297" y="67893"/>
                </a:cubicBezTo>
                <a:lnTo>
                  <a:pt x="156956" y="18758"/>
                </a:lnTo>
                <a:cubicBezTo>
                  <a:pt x="152131" y="16789"/>
                  <a:pt x="147011" y="15755"/>
                  <a:pt x="141792" y="15755"/>
                </a:cubicBezTo>
                <a:cubicBezTo>
                  <a:pt x="136573" y="15755"/>
                  <a:pt x="131453" y="16789"/>
                  <a:pt x="126628" y="18758"/>
                </a:cubicBezTo>
                <a:lnTo>
                  <a:pt x="7287" y="67893"/>
                </a:lnTo>
                <a:cubicBezTo>
                  <a:pt x="2856" y="69714"/>
                  <a:pt x="0" y="73998"/>
                  <a:pt x="0" y="78773"/>
                </a:cubicBezTo>
                <a:lnTo>
                  <a:pt x="0" y="224504"/>
                </a:lnTo>
                <a:cubicBezTo>
                  <a:pt x="0" y="231052"/>
                  <a:pt x="5268" y="236320"/>
                  <a:pt x="11816" y="236320"/>
                </a:cubicBezTo>
                <a:cubicBezTo>
                  <a:pt x="18364" y="236320"/>
                  <a:pt x="23632" y="231052"/>
                  <a:pt x="23632" y="224504"/>
                </a:cubicBezTo>
                <a:lnTo>
                  <a:pt x="23632" y="96399"/>
                </a:lnTo>
                <a:close/>
                <a:moveTo>
                  <a:pt x="47264" y="131699"/>
                </a:moveTo>
                <a:lnTo>
                  <a:pt x="47264" y="189056"/>
                </a:lnTo>
                <a:cubicBezTo>
                  <a:pt x="47264" y="215149"/>
                  <a:pt x="89605" y="236320"/>
                  <a:pt x="141792" y="236320"/>
                </a:cubicBezTo>
                <a:cubicBezTo>
                  <a:pt x="193979" y="236320"/>
                  <a:pt x="236320" y="215149"/>
                  <a:pt x="236320" y="189056"/>
                </a:cubicBezTo>
                <a:lnTo>
                  <a:pt x="236320" y="131650"/>
                </a:lnTo>
                <a:lnTo>
                  <a:pt x="165965" y="160648"/>
                </a:lnTo>
                <a:cubicBezTo>
                  <a:pt x="158285" y="163799"/>
                  <a:pt x="150112" y="165424"/>
                  <a:pt x="141792" y="165424"/>
                </a:cubicBezTo>
                <a:cubicBezTo>
                  <a:pt x="133471" y="165424"/>
                  <a:pt x="125299" y="163799"/>
                  <a:pt x="117618" y="160648"/>
                </a:cubicBezTo>
                <a:lnTo>
                  <a:pt x="47264" y="131650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52" name="Text 50"/>
          <p:cNvSpPr/>
          <p:nvPr/>
        </p:nvSpPr>
        <p:spPr>
          <a:xfrm>
            <a:off x="5487870" y="6046988"/>
            <a:ext cx="2201450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学习成本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492072" y="6282258"/>
            <a:ext cx="2193048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降低新成员上手成本，快速理解接口规范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069580" y="1145540"/>
            <a:ext cx="3778250" cy="5542915"/>
          </a:xfrm>
          <a:custGeom>
            <a:avLst/>
            <a:gdLst/>
            <a:ahLst/>
            <a:cxnLst/>
            <a:rect l="l" t="t" r="r" b="b"/>
            <a:pathLst>
              <a:path w="3778316" h="6097400">
                <a:moveTo>
                  <a:pt x="100843" y="0"/>
                </a:moveTo>
                <a:lnTo>
                  <a:pt x="3677472" y="0"/>
                </a:lnTo>
                <a:cubicBezTo>
                  <a:pt x="3733167" y="0"/>
                  <a:pt x="3778316" y="45149"/>
                  <a:pt x="3778316" y="100843"/>
                </a:cubicBezTo>
                <a:lnTo>
                  <a:pt x="3778316" y="5996557"/>
                </a:lnTo>
                <a:cubicBezTo>
                  <a:pt x="3778316" y="6052251"/>
                  <a:pt x="3733167" y="6097400"/>
                  <a:pt x="3677472" y="6097400"/>
                </a:cubicBezTo>
                <a:lnTo>
                  <a:pt x="100843" y="6097400"/>
                </a:lnTo>
                <a:cubicBezTo>
                  <a:pt x="45149" y="6097400"/>
                  <a:pt x="0" y="6052251"/>
                  <a:pt x="0" y="5996557"/>
                </a:cubicBezTo>
                <a:lnTo>
                  <a:pt x="0" y="100843"/>
                </a:lnTo>
                <a:cubicBezTo>
                  <a:pt x="0" y="45186"/>
                  <a:pt x="45186" y="0"/>
                  <a:pt x="100843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8467">
            <a:solidFill>
              <a:srgbClr val="4A5462">
                <a:alpha val="5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61302" y="1350001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21006" y="10503"/>
                </a:moveTo>
                <a:cubicBezTo>
                  <a:pt x="9420" y="10503"/>
                  <a:pt x="0" y="19923"/>
                  <a:pt x="0" y="31509"/>
                </a:cubicBezTo>
                <a:lnTo>
                  <a:pt x="0" y="115534"/>
                </a:lnTo>
                <a:cubicBezTo>
                  <a:pt x="0" y="127120"/>
                  <a:pt x="9420" y="136540"/>
                  <a:pt x="21006" y="136540"/>
                </a:cubicBezTo>
                <a:lnTo>
                  <a:pt x="68270" y="136540"/>
                </a:lnTo>
                <a:lnTo>
                  <a:pt x="63019" y="152295"/>
                </a:lnTo>
                <a:lnTo>
                  <a:pt x="39387" y="152295"/>
                </a:lnTo>
                <a:cubicBezTo>
                  <a:pt x="35021" y="152295"/>
                  <a:pt x="31509" y="155807"/>
                  <a:pt x="31509" y="160172"/>
                </a:cubicBezTo>
                <a:cubicBezTo>
                  <a:pt x="31509" y="164538"/>
                  <a:pt x="35021" y="168050"/>
                  <a:pt x="39387" y="168050"/>
                </a:cubicBezTo>
                <a:lnTo>
                  <a:pt x="128663" y="168050"/>
                </a:lnTo>
                <a:cubicBezTo>
                  <a:pt x="133028" y="168050"/>
                  <a:pt x="136540" y="164538"/>
                  <a:pt x="136540" y="160172"/>
                </a:cubicBezTo>
                <a:cubicBezTo>
                  <a:pt x="136540" y="155807"/>
                  <a:pt x="133028" y="152295"/>
                  <a:pt x="128663" y="152295"/>
                </a:cubicBezTo>
                <a:lnTo>
                  <a:pt x="105031" y="152295"/>
                </a:lnTo>
                <a:lnTo>
                  <a:pt x="99779" y="136540"/>
                </a:lnTo>
                <a:lnTo>
                  <a:pt x="147043" y="136540"/>
                </a:lnTo>
                <a:cubicBezTo>
                  <a:pt x="158630" y="136540"/>
                  <a:pt x="168050" y="127120"/>
                  <a:pt x="168050" y="115534"/>
                </a:cubicBezTo>
                <a:lnTo>
                  <a:pt x="168050" y="31509"/>
                </a:lnTo>
                <a:cubicBezTo>
                  <a:pt x="168050" y="19923"/>
                  <a:pt x="158630" y="10503"/>
                  <a:pt x="147043" y="10503"/>
                </a:cubicBezTo>
                <a:lnTo>
                  <a:pt x="21006" y="10503"/>
                </a:lnTo>
                <a:close/>
                <a:moveTo>
                  <a:pt x="31509" y="31509"/>
                </a:moveTo>
                <a:lnTo>
                  <a:pt x="136540" y="31509"/>
                </a:lnTo>
                <a:cubicBezTo>
                  <a:pt x="142350" y="31509"/>
                  <a:pt x="147043" y="36203"/>
                  <a:pt x="147043" y="42012"/>
                </a:cubicBezTo>
                <a:lnTo>
                  <a:pt x="147043" y="94528"/>
                </a:lnTo>
                <a:cubicBezTo>
                  <a:pt x="147043" y="100337"/>
                  <a:pt x="142350" y="105031"/>
                  <a:pt x="136540" y="105031"/>
                </a:cubicBezTo>
                <a:lnTo>
                  <a:pt x="31509" y="105031"/>
                </a:lnTo>
                <a:cubicBezTo>
                  <a:pt x="25700" y="105031"/>
                  <a:pt x="21006" y="100337"/>
                  <a:pt x="21006" y="94528"/>
                </a:cubicBezTo>
                <a:lnTo>
                  <a:pt x="21006" y="42012"/>
                </a:lnTo>
                <a:cubicBezTo>
                  <a:pt x="21006" y="36203"/>
                  <a:pt x="25700" y="31509"/>
                  <a:pt x="31509" y="31509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6" name="Text 54"/>
          <p:cNvSpPr/>
          <p:nvPr/>
        </p:nvSpPr>
        <p:spPr>
          <a:xfrm>
            <a:off x="8450358" y="1316391"/>
            <a:ext cx="3310578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5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Mock服务/测试台示意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43097" y="1688901"/>
            <a:ext cx="3433814" cy="1618878"/>
          </a:xfrm>
          <a:custGeom>
            <a:avLst/>
            <a:gdLst/>
            <a:ahLst/>
            <a:cxnLst/>
            <a:rect l="l" t="t" r="r" b="b"/>
            <a:pathLst>
              <a:path w="3433814" h="1618878">
                <a:moveTo>
                  <a:pt x="67216" y="0"/>
                </a:moveTo>
                <a:lnTo>
                  <a:pt x="3366598" y="0"/>
                </a:lnTo>
                <a:cubicBezTo>
                  <a:pt x="3403720" y="0"/>
                  <a:pt x="3433814" y="30094"/>
                  <a:pt x="3433814" y="67216"/>
                </a:cubicBezTo>
                <a:lnTo>
                  <a:pt x="3433814" y="1551662"/>
                </a:lnTo>
                <a:cubicBezTo>
                  <a:pt x="3433814" y="1588784"/>
                  <a:pt x="3403720" y="1618878"/>
                  <a:pt x="3366598" y="1618878"/>
                </a:cubicBezTo>
                <a:lnTo>
                  <a:pt x="67216" y="1618878"/>
                </a:lnTo>
                <a:cubicBezTo>
                  <a:pt x="30094" y="1618878"/>
                  <a:pt x="0" y="1588784"/>
                  <a:pt x="0" y="1551662"/>
                </a:cubicBezTo>
                <a:lnTo>
                  <a:pt x="0" y="67216"/>
                </a:lnTo>
                <a:cubicBezTo>
                  <a:pt x="0" y="30118"/>
                  <a:pt x="30118" y="0"/>
                  <a:pt x="6721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46727" y="1792527"/>
            <a:ext cx="949480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Echo 服务测试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421773" y="1826136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0" y="67220"/>
                </a:moveTo>
                <a:cubicBezTo>
                  <a:pt x="0" y="30120"/>
                  <a:pt x="30120" y="0"/>
                  <a:pt x="67220" y="0"/>
                </a:cubicBezTo>
                <a:cubicBezTo>
                  <a:pt x="104319" y="0"/>
                  <a:pt x="134440" y="30120"/>
                  <a:pt x="134440" y="67220"/>
                </a:cubicBezTo>
                <a:cubicBezTo>
                  <a:pt x="134440" y="104319"/>
                  <a:pt x="104319" y="134440"/>
                  <a:pt x="67220" y="134440"/>
                </a:cubicBezTo>
                <a:cubicBezTo>
                  <a:pt x="30120" y="134440"/>
                  <a:pt x="0" y="104319"/>
                  <a:pt x="0" y="67220"/>
                </a:cubicBezTo>
                <a:close/>
                <a:moveTo>
                  <a:pt x="49443" y="38625"/>
                </a:moveTo>
                <a:cubicBezTo>
                  <a:pt x="47448" y="39728"/>
                  <a:pt x="46214" y="41855"/>
                  <a:pt x="46214" y="44113"/>
                </a:cubicBezTo>
                <a:lnTo>
                  <a:pt x="46214" y="90327"/>
                </a:lnTo>
                <a:cubicBezTo>
                  <a:pt x="46214" y="92611"/>
                  <a:pt x="47448" y="94712"/>
                  <a:pt x="49443" y="95815"/>
                </a:cubicBezTo>
                <a:cubicBezTo>
                  <a:pt x="51439" y="96917"/>
                  <a:pt x="53855" y="96891"/>
                  <a:pt x="55824" y="95683"/>
                </a:cubicBezTo>
                <a:lnTo>
                  <a:pt x="93635" y="72576"/>
                </a:lnTo>
                <a:cubicBezTo>
                  <a:pt x="95499" y="71421"/>
                  <a:pt x="96655" y="69399"/>
                  <a:pt x="96655" y="67194"/>
                </a:cubicBezTo>
                <a:cubicBezTo>
                  <a:pt x="96655" y="64988"/>
                  <a:pt x="95499" y="62966"/>
                  <a:pt x="93635" y="61811"/>
                </a:cubicBezTo>
                <a:lnTo>
                  <a:pt x="55824" y="38704"/>
                </a:lnTo>
                <a:cubicBezTo>
                  <a:pt x="53881" y="37522"/>
                  <a:pt x="51439" y="37470"/>
                  <a:pt x="49443" y="3857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60" name="Text 58"/>
          <p:cNvSpPr/>
          <p:nvPr/>
        </p:nvSpPr>
        <p:spPr>
          <a:xfrm>
            <a:off x="8346727" y="2067010"/>
            <a:ext cx="544673" cy="1568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请求URL: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46727" y="2263065"/>
            <a:ext cx="881998" cy="123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/connector/echo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46727" y="2470329"/>
            <a:ext cx="440255" cy="1568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请求体: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46727" y="2666385"/>
            <a:ext cx="937402" cy="123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{"msg": "Hello"}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46727" y="2873649"/>
            <a:ext cx="322620" cy="1568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响应: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46727" y="3069704"/>
            <a:ext cx="937402" cy="123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{"msg": "Hello"}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43097" y="3414208"/>
            <a:ext cx="3433814" cy="1450828"/>
          </a:xfrm>
          <a:custGeom>
            <a:avLst/>
            <a:gdLst/>
            <a:ahLst/>
            <a:cxnLst/>
            <a:rect l="l" t="t" r="r" b="b"/>
            <a:pathLst>
              <a:path w="3433814" h="1450828">
                <a:moveTo>
                  <a:pt x="67217" y="0"/>
                </a:moveTo>
                <a:lnTo>
                  <a:pt x="3366597" y="0"/>
                </a:lnTo>
                <a:cubicBezTo>
                  <a:pt x="3403720" y="0"/>
                  <a:pt x="3433814" y="30094"/>
                  <a:pt x="3433814" y="67217"/>
                </a:cubicBezTo>
                <a:lnTo>
                  <a:pt x="3433814" y="1383612"/>
                </a:lnTo>
                <a:cubicBezTo>
                  <a:pt x="3433814" y="1420734"/>
                  <a:pt x="3403720" y="1450828"/>
                  <a:pt x="3366597" y="1450828"/>
                </a:cubicBezTo>
                <a:lnTo>
                  <a:pt x="67217" y="1450828"/>
                </a:lnTo>
                <a:cubicBezTo>
                  <a:pt x="30094" y="1450828"/>
                  <a:pt x="0" y="1420734"/>
                  <a:pt x="0" y="1383612"/>
                </a:cubicBezTo>
                <a:lnTo>
                  <a:pt x="0" y="67217"/>
                </a:lnTo>
                <a:cubicBezTo>
                  <a:pt x="0" y="30119"/>
                  <a:pt x="30119" y="0"/>
                  <a:pt x="6721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E5A04C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46727" y="3517841"/>
            <a:ext cx="974688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Mock 订单服务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1421773" y="3551451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0" y="67220"/>
                </a:moveTo>
                <a:cubicBezTo>
                  <a:pt x="0" y="30120"/>
                  <a:pt x="30120" y="0"/>
                  <a:pt x="67220" y="0"/>
                </a:cubicBezTo>
                <a:cubicBezTo>
                  <a:pt x="104319" y="0"/>
                  <a:pt x="134440" y="30120"/>
                  <a:pt x="134440" y="67220"/>
                </a:cubicBezTo>
                <a:cubicBezTo>
                  <a:pt x="134440" y="104319"/>
                  <a:pt x="104319" y="134440"/>
                  <a:pt x="67220" y="134440"/>
                </a:cubicBezTo>
                <a:cubicBezTo>
                  <a:pt x="30120" y="134440"/>
                  <a:pt x="0" y="104319"/>
                  <a:pt x="0" y="67220"/>
                </a:cubicBezTo>
                <a:close/>
                <a:moveTo>
                  <a:pt x="49443" y="38625"/>
                </a:moveTo>
                <a:cubicBezTo>
                  <a:pt x="47448" y="39728"/>
                  <a:pt x="46214" y="41855"/>
                  <a:pt x="46214" y="44113"/>
                </a:cubicBezTo>
                <a:lnTo>
                  <a:pt x="46214" y="90327"/>
                </a:lnTo>
                <a:cubicBezTo>
                  <a:pt x="46214" y="92611"/>
                  <a:pt x="47448" y="94712"/>
                  <a:pt x="49443" y="95815"/>
                </a:cubicBezTo>
                <a:cubicBezTo>
                  <a:pt x="51439" y="96917"/>
                  <a:pt x="53855" y="96891"/>
                  <a:pt x="55824" y="95683"/>
                </a:cubicBezTo>
                <a:lnTo>
                  <a:pt x="93635" y="72576"/>
                </a:lnTo>
                <a:cubicBezTo>
                  <a:pt x="95499" y="71421"/>
                  <a:pt x="96655" y="69399"/>
                  <a:pt x="96655" y="67194"/>
                </a:cubicBezTo>
                <a:cubicBezTo>
                  <a:pt x="96655" y="64988"/>
                  <a:pt x="95499" y="62966"/>
                  <a:pt x="93635" y="61811"/>
                </a:cubicBezTo>
                <a:lnTo>
                  <a:pt x="55824" y="38704"/>
                </a:lnTo>
                <a:cubicBezTo>
                  <a:pt x="53881" y="37522"/>
                  <a:pt x="51439" y="37470"/>
                  <a:pt x="49443" y="3857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69" name="Text 67"/>
          <p:cNvSpPr/>
          <p:nvPr/>
        </p:nvSpPr>
        <p:spPr>
          <a:xfrm>
            <a:off x="8346727" y="3792317"/>
            <a:ext cx="544673" cy="1568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请求URL: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346727" y="3988380"/>
            <a:ext cx="1436387" cy="123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/connector/mock/order/123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46727" y="4195636"/>
            <a:ext cx="557890" cy="1568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响应延迟: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879847" y="4195636"/>
            <a:ext cx="407958" cy="1568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150ms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346727" y="4430906"/>
            <a:ext cx="557890" cy="1568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响应数据: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346727" y="4626969"/>
            <a:ext cx="1935284" cy="123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{"orderId": 123, "status": "PAID"}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43097" y="5005075"/>
            <a:ext cx="3433814" cy="1114729"/>
          </a:xfrm>
          <a:custGeom>
            <a:avLst/>
            <a:gdLst/>
            <a:ahLst/>
            <a:cxnLst/>
            <a:rect l="l" t="t" r="r" b="b"/>
            <a:pathLst>
              <a:path w="3433814" h="1114729">
                <a:moveTo>
                  <a:pt x="67218" y="0"/>
                </a:moveTo>
                <a:lnTo>
                  <a:pt x="3366596" y="0"/>
                </a:lnTo>
                <a:cubicBezTo>
                  <a:pt x="3403719" y="0"/>
                  <a:pt x="3433814" y="30095"/>
                  <a:pt x="3433814" y="67218"/>
                </a:cubicBezTo>
                <a:lnTo>
                  <a:pt x="3433814" y="1047511"/>
                </a:lnTo>
                <a:cubicBezTo>
                  <a:pt x="3433814" y="1084635"/>
                  <a:pt x="3403719" y="1114729"/>
                  <a:pt x="3366596" y="1114729"/>
                </a:cubicBezTo>
                <a:lnTo>
                  <a:pt x="67218" y="1114729"/>
                </a:lnTo>
                <a:cubicBezTo>
                  <a:pt x="30119" y="1114729"/>
                  <a:pt x="0" y="1084610"/>
                  <a:pt x="0" y="1047511"/>
                </a:cubicBezTo>
                <a:lnTo>
                  <a:pt x="0" y="67218"/>
                </a:lnTo>
                <a:cubicBezTo>
                  <a:pt x="0" y="30119"/>
                  <a:pt x="30119" y="0"/>
                  <a:pt x="67218" y="0"/>
                </a:cubicBezTo>
                <a:close/>
              </a:path>
            </a:pathLst>
          </a:custGeom>
          <a:solidFill>
            <a:srgbClr val="E5A04C">
              <a:alpha val="10196"/>
            </a:srgbClr>
          </a:solidFill>
          <a:ln w="8467">
            <a:solidFill>
              <a:srgbClr val="E5A04C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55130" y="5142318"/>
            <a:ext cx="151245" cy="134440"/>
          </a:xfrm>
          <a:custGeom>
            <a:avLst/>
            <a:gdLst/>
            <a:ahLst/>
            <a:cxnLst/>
            <a:rect l="l" t="t" r="r" b="b"/>
            <a:pathLst>
              <a:path w="151245" h="134440">
                <a:moveTo>
                  <a:pt x="133757" y="25890"/>
                </a:moveTo>
                <a:cubicBezTo>
                  <a:pt x="135753" y="23895"/>
                  <a:pt x="139087" y="24393"/>
                  <a:pt x="140085" y="27019"/>
                </a:cubicBezTo>
                <a:cubicBezTo>
                  <a:pt x="141871" y="31667"/>
                  <a:pt x="142842" y="36735"/>
                  <a:pt x="142842" y="42012"/>
                </a:cubicBezTo>
                <a:cubicBezTo>
                  <a:pt x="142842" y="65224"/>
                  <a:pt x="124042" y="84025"/>
                  <a:pt x="100830" y="84025"/>
                </a:cubicBezTo>
                <a:cubicBezTo>
                  <a:pt x="96235" y="84025"/>
                  <a:pt x="91797" y="83290"/>
                  <a:pt x="87648" y="81924"/>
                </a:cubicBezTo>
                <a:lnTo>
                  <a:pt x="38573" y="131000"/>
                </a:lnTo>
                <a:cubicBezTo>
                  <a:pt x="31194" y="138378"/>
                  <a:pt x="19221" y="138378"/>
                  <a:pt x="11842" y="131000"/>
                </a:cubicBezTo>
                <a:cubicBezTo>
                  <a:pt x="4464" y="123622"/>
                  <a:pt x="4464" y="111648"/>
                  <a:pt x="11842" y="104270"/>
                </a:cubicBezTo>
                <a:lnTo>
                  <a:pt x="60918" y="55194"/>
                </a:lnTo>
                <a:cubicBezTo>
                  <a:pt x="59553" y="51045"/>
                  <a:pt x="58817" y="46634"/>
                  <a:pt x="58817" y="42012"/>
                </a:cubicBezTo>
                <a:cubicBezTo>
                  <a:pt x="58817" y="18801"/>
                  <a:pt x="77618" y="0"/>
                  <a:pt x="100830" y="0"/>
                </a:cubicBezTo>
                <a:cubicBezTo>
                  <a:pt x="106108" y="0"/>
                  <a:pt x="111175" y="972"/>
                  <a:pt x="115823" y="2757"/>
                </a:cubicBezTo>
                <a:cubicBezTo>
                  <a:pt x="118449" y="3755"/>
                  <a:pt x="118921" y="7090"/>
                  <a:pt x="116952" y="9085"/>
                </a:cubicBezTo>
                <a:lnTo>
                  <a:pt x="93661" y="32376"/>
                </a:lnTo>
                <a:cubicBezTo>
                  <a:pt x="92874" y="33164"/>
                  <a:pt x="92427" y="34240"/>
                  <a:pt x="92427" y="35343"/>
                </a:cubicBezTo>
                <a:lnTo>
                  <a:pt x="92427" y="46214"/>
                </a:lnTo>
                <a:cubicBezTo>
                  <a:pt x="92427" y="48524"/>
                  <a:pt x="94318" y="50415"/>
                  <a:pt x="96629" y="50415"/>
                </a:cubicBezTo>
                <a:lnTo>
                  <a:pt x="107499" y="50415"/>
                </a:lnTo>
                <a:cubicBezTo>
                  <a:pt x="108602" y="50415"/>
                  <a:pt x="109679" y="49969"/>
                  <a:pt x="110466" y="49181"/>
                </a:cubicBezTo>
                <a:lnTo>
                  <a:pt x="133757" y="25890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77" name="Text 75"/>
          <p:cNvSpPr/>
          <p:nvPr/>
        </p:nvSpPr>
        <p:spPr>
          <a:xfrm>
            <a:off x="8581997" y="5108708"/>
            <a:ext cx="604979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测试工具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363532" y="5402795"/>
            <a:ext cx="117635" cy="117635"/>
          </a:xfrm>
          <a:custGeom>
            <a:avLst/>
            <a:gdLst/>
            <a:ahLst/>
            <a:cxnLst/>
            <a:rect l="l" t="t" r="r" b="b"/>
            <a:pathLst>
              <a:path w="117635" h="117635">
                <a:moveTo>
                  <a:pt x="2160" y="27249"/>
                </a:moveTo>
                <a:cubicBezTo>
                  <a:pt x="-712" y="24377"/>
                  <a:pt x="-712" y="19713"/>
                  <a:pt x="2160" y="16841"/>
                </a:cubicBezTo>
                <a:cubicBezTo>
                  <a:pt x="5032" y="13969"/>
                  <a:pt x="9696" y="13969"/>
                  <a:pt x="12568" y="16841"/>
                </a:cubicBezTo>
                <a:lnTo>
                  <a:pt x="49328" y="53602"/>
                </a:lnTo>
                <a:cubicBezTo>
                  <a:pt x="52200" y="56474"/>
                  <a:pt x="52200" y="61138"/>
                  <a:pt x="49328" y="64010"/>
                </a:cubicBezTo>
                <a:lnTo>
                  <a:pt x="12568" y="100771"/>
                </a:lnTo>
                <a:cubicBezTo>
                  <a:pt x="9696" y="103643"/>
                  <a:pt x="5032" y="103643"/>
                  <a:pt x="2160" y="100771"/>
                </a:cubicBezTo>
                <a:cubicBezTo>
                  <a:pt x="-712" y="97899"/>
                  <a:pt x="-712" y="93235"/>
                  <a:pt x="2160" y="90363"/>
                </a:cubicBezTo>
                <a:lnTo>
                  <a:pt x="33705" y="58817"/>
                </a:lnTo>
                <a:lnTo>
                  <a:pt x="2160" y="27249"/>
                </a:lnTo>
                <a:close/>
                <a:moveTo>
                  <a:pt x="51465" y="88226"/>
                </a:moveTo>
                <a:lnTo>
                  <a:pt x="110283" y="88226"/>
                </a:lnTo>
                <a:cubicBezTo>
                  <a:pt x="114349" y="88226"/>
                  <a:pt x="117635" y="91512"/>
                  <a:pt x="117635" y="95578"/>
                </a:cubicBezTo>
                <a:cubicBezTo>
                  <a:pt x="117635" y="99645"/>
                  <a:pt x="114349" y="102930"/>
                  <a:pt x="110283" y="102930"/>
                </a:cubicBezTo>
                <a:lnTo>
                  <a:pt x="51465" y="102930"/>
                </a:lnTo>
                <a:cubicBezTo>
                  <a:pt x="47399" y="102930"/>
                  <a:pt x="44113" y="99645"/>
                  <a:pt x="44113" y="95578"/>
                </a:cubicBezTo>
                <a:cubicBezTo>
                  <a:pt x="44113" y="91512"/>
                  <a:pt x="47399" y="88226"/>
                  <a:pt x="51465" y="88226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79" name="Text 77"/>
          <p:cNvSpPr/>
          <p:nvPr/>
        </p:nvSpPr>
        <p:spPr>
          <a:xfrm>
            <a:off x="8527381" y="5377588"/>
            <a:ext cx="764626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在线接口测试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356180" y="5638065"/>
            <a:ext cx="132339" cy="117635"/>
          </a:xfrm>
          <a:custGeom>
            <a:avLst/>
            <a:gdLst/>
            <a:ahLst/>
            <a:cxnLst/>
            <a:rect l="l" t="t" r="r" b="b"/>
            <a:pathLst>
              <a:path w="132339" h="117635">
                <a:moveTo>
                  <a:pt x="82896" y="276"/>
                </a:moveTo>
                <a:cubicBezTo>
                  <a:pt x="78990" y="-850"/>
                  <a:pt x="74923" y="1424"/>
                  <a:pt x="73797" y="5330"/>
                </a:cubicBezTo>
                <a:lnTo>
                  <a:pt x="44389" y="108261"/>
                </a:lnTo>
                <a:cubicBezTo>
                  <a:pt x="43263" y="112167"/>
                  <a:pt x="45538" y="116233"/>
                  <a:pt x="49443" y="117359"/>
                </a:cubicBezTo>
                <a:cubicBezTo>
                  <a:pt x="53349" y="118485"/>
                  <a:pt x="57416" y="116210"/>
                  <a:pt x="58542" y="112304"/>
                </a:cubicBezTo>
                <a:lnTo>
                  <a:pt x="87950" y="9374"/>
                </a:lnTo>
                <a:cubicBezTo>
                  <a:pt x="89076" y="5468"/>
                  <a:pt x="86802" y="1402"/>
                  <a:pt x="82896" y="276"/>
                </a:cubicBezTo>
                <a:close/>
                <a:moveTo>
                  <a:pt x="97738" y="31545"/>
                </a:moveTo>
                <a:cubicBezTo>
                  <a:pt x="94866" y="34417"/>
                  <a:pt x="94866" y="39081"/>
                  <a:pt x="97738" y="41953"/>
                </a:cubicBezTo>
                <a:lnTo>
                  <a:pt x="114602" y="58817"/>
                </a:lnTo>
                <a:lnTo>
                  <a:pt x="97738" y="75681"/>
                </a:lnTo>
                <a:cubicBezTo>
                  <a:pt x="94866" y="78553"/>
                  <a:pt x="94866" y="83217"/>
                  <a:pt x="97738" y="86089"/>
                </a:cubicBezTo>
                <a:cubicBezTo>
                  <a:pt x="100610" y="88961"/>
                  <a:pt x="105274" y="88961"/>
                  <a:pt x="108146" y="86089"/>
                </a:cubicBezTo>
                <a:lnTo>
                  <a:pt x="130202" y="64033"/>
                </a:lnTo>
                <a:cubicBezTo>
                  <a:pt x="133074" y="61161"/>
                  <a:pt x="133074" y="56497"/>
                  <a:pt x="130202" y="53625"/>
                </a:cubicBezTo>
                <a:lnTo>
                  <a:pt x="108146" y="31568"/>
                </a:lnTo>
                <a:cubicBezTo>
                  <a:pt x="105274" y="28696"/>
                  <a:pt x="100610" y="28696"/>
                  <a:pt x="97738" y="31568"/>
                </a:cubicBezTo>
                <a:close/>
                <a:moveTo>
                  <a:pt x="34624" y="31545"/>
                </a:moveTo>
                <a:cubicBezTo>
                  <a:pt x="31752" y="28673"/>
                  <a:pt x="27088" y="28673"/>
                  <a:pt x="24216" y="31545"/>
                </a:cubicBezTo>
                <a:lnTo>
                  <a:pt x="2160" y="53602"/>
                </a:lnTo>
                <a:cubicBezTo>
                  <a:pt x="-712" y="56474"/>
                  <a:pt x="-712" y="61138"/>
                  <a:pt x="2160" y="64010"/>
                </a:cubicBezTo>
                <a:lnTo>
                  <a:pt x="24216" y="86066"/>
                </a:lnTo>
                <a:cubicBezTo>
                  <a:pt x="27088" y="88938"/>
                  <a:pt x="31752" y="88938"/>
                  <a:pt x="34624" y="86066"/>
                </a:cubicBezTo>
                <a:cubicBezTo>
                  <a:pt x="37496" y="83194"/>
                  <a:pt x="37496" y="78530"/>
                  <a:pt x="34624" y="75658"/>
                </a:cubicBezTo>
                <a:lnTo>
                  <a:pt x="17760" y="58817"/>
                </a:lnTo>
                <a:lnTo>
                  <a:pt x="34601" y="41953"/>
                </a:lnTo>
                <a:cubicBezTo>
                  <a:pt x="37473" y="39081"/>
                  <a:pt x="37473" y="34417"/>
                  <a:pt x="34601" y="31545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81" name="Text 79"/>
          <p:cNvSpPr/>
          <p:nvPr/>
        </p:nvSpPr>
        <p:spPr>
          <a:xfrm>
            <a:off x="8527381" y="5612857"/>
            <a:ext cx="999895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自动生成测试用例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370885" y="5873334"/>
            <a:ext cx="102930" cy="117635"/>
          </a:xfrm>
          <a:custGeom>
            <a:avLst/>
            <a:gdLst/>
            <a:ahLst/>
            <a:cxnLst/>
            <a:rect l="l" t="t" r="r" b="b"/>
            <a:pathLst>
              <a:path w="102930" h="117635">
                <a:moveTo>
                  <a:pt x="58817" y="7352"/>
                </a:moveTo>
                <a:cubicBezTo>
                  <a:pt x="58817" y="3286"/>
                  <a:pt x="55532" y="0"/>
                  <a:pt x="51465" y="0"/>
                </a:cubicBezTo>
                <a:cubicBezTo>
                  <a:pt x="47399" y="0"/>
                  <a:pt x="44113" y="3286"/>
                  <a:pt x="44113" y="7352"/>
                </a:cubicBezTo>
                <a:lnTo>
                  <a:pt x="44113" y="55762"/>
                </a:lnTo>
                <a:lnTo>
                  <a:pt x="34601" y="46250"/>
                </a:lnTo>
                <a:cubicBezTo>
                  <a:pt x="31729" y="43378"/>
                  <a:pt x="27065" y="43378"/>
                  <a:pt x="24193" y="46250"/>
                </a:cubicBezTo>
                <a:cubicBezTo>
                  <a:pt x="21321" y="49122"/>
                  <a:pt x="21321" y="53786"/>
                  <a:pt x="24193" y="56658"/>
                </a:cubicBezTo>
                <a:lnTo>
                  <a:pt x="46250" y="78714"/>
                </a:lnTo>
                <a:cubicBezTo>
                  <a:pt x="49122" y="81586"/>
                  <a:pt x="53786" y="81586"/>
                  <a:pt x="56658" y="78714"/>
                </a:cubicBezTo>
                <a:lnTo>
                  <a:pt x="78714" y="56658"/>
                </a:lnTo>
                <a:cubicBezTo>
                  <a:pt x="81586" y="53786"/>
                  <a:pt x="81586" y="49122"/>
                  <a:pt x="78714" y="46250"/>
                </a:cubicBezTo>
                <a:cubicBezTo>
                  <a:pt x="75842" y="43378"/>
                  <a:pt x="71178" y="43378"/>
                  <a:pt x="68306" y="46250"/>
                </a:cubicBezTo>
                <a:lnTo>
                  <a:pt x="58817" y="55762"/>
                </a:lnTo>
                <a:lnTo>
                  <a:pt x="58817" y="7352"/>
                </a:lnTo>
                <a:close/>
                <a:moveTo>
                  <a:pt x="14704" y="73522"/>
                </a:moveTo>
                <a:cubicBezTo>
                  <a:pt x="6594" y="73522"/>
                  <a:pt x="0" y="80116"/>
                  <a:pt x="0" y="88226"/>
                </a:cubicBezTo>
                <a:lnTo>
                  <a:pt x="0" y="95578"/>
                </a:lnTo>
                <a:cubicBezTo>
                  <a:pt x="0" y="103689"/>
                  <a:pt x="6594" y="110283"/>
                  <a:pt x="14704" y="110283"/>
                </a:cubicBezTo>
                <a:lnTo>
                  <a:pt x="88226" y="110283"/>
                </a:lnTo>
                <a:cubicBezTo>
                  <a:pt x="96336" y="110283"/>
                  <a:pt x="102930" y="103689"/>
                  <a:pt x="102930" y="95578"/>
                </a:cubicBezTo>
                <a:lnTo>
                  <a:pt x="102930" y="88226"/>
                </a:lnTo>
                <a:cubicBezTo>
                  <a:pt x="102930" y="80116"/>
                  <a:pt x="96336" y="73522"/>
                  <a:pt x="88226" y="73522"/>
                </a:cubicBezTo>
                <a:lnTo>
                  <a:pt x="77451" y="73522"/>
                </a:lnTo>
                <a:lnTo>
                  <a:pt x="64446" y="86526"/>
                </a:lnTo>
                <a:cubicBezTo>
                  <a:pt x="57278" y="93694"/>
                  <a:pt x="45629" y="93694"/>
                  <a:pt x="38461" y="86526"/>
                </a:cubicBezTo>
                <a:lnTo>
                  <a:pt x="25480" y="73522"/>
                </a:lnTo>
                <a:lnTo>
                  <a:pt x="14704" y="73522"/>
                </a:lnTo>
                <a:close/>
                <a:moveTo>
                  <a:pt x="84550" y="86388"/>
                </a:moveTo>
                <a:cubicBezTo>
                  <a:pt x="87593" y="86388"/>
                  <a:pt x="90064" y="88859"/>
                  <a:pt x="90064" y="91902"/>
                </a:cubicBezTo>
                <a:cubicBezTo>
                  <a:pt x="90064" y="94945"/>
                  <a:pt x="87593" y="97416"/>
                  <a:pt x="84550" y="97416"/>
                </a:cubicBezTo>
                <a:cubicBezTo>
                  <a:pt x="81507" y="97416"/>
                  <a:pt x="79036" y="94945"/>
                  <a:pt x="79036" y="91902"/>
                </a:cubicBezTo>
                <a:cubicBezTo>
                  <a:pt x="79036" y="88859"/>
                  <a:pt x="81507" y="86388"/>
                  <a:pt x="84550" y="86388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83" name="Text 81"/>
          <p:cNvSpPr/>
          <p:nvPr/>
        </p:nvSpPr>
        <p:spPr>
          <a:xfrm>
            <a:off x="8527381" y="5848127"/>
            <a:ext cx="764626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导出测试报告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36760b82d8a30f6399ee0fbeb4127d813e1bb1d3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36" r="3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E5A04C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9182100" y="15331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" name="Shape 2"/>
          <p:cNvSpPr/>
          <p:nvPr/>
        </p:nvSpPr>
        <p:spPr>
          <a:xfrm>
            <a:off x="10896600" y="109497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5A04C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844610" y="1323575"/>
            <a:ext cx="7905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8199" y="2314175"/>
            <a:ext cx="796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快速开始与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E5A04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部署指南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48224" y="4333475"/>
            <a:ext cx="77628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25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从零到一运行Connector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99375" y="5258194"/>
            <a:ext cx="1149350" cy="501650"/>
          </a:xfrm>
          <a:custGeom>
            <a:avLst/>
            <a:gdLst/>
            <a:ahLst/>
            <a:cxnLst/>
            <a:rect l="l" t="t" r="r" b="b"/>
            <a:pathLst>
              <a:path w="1149350" h="501650">
                <a:moveTo>
                  <a:pt x="76201" y="0"/>
                </a:moveTo>
                <a:lnTo>
                  <a:pt x="1073149" y="0"/>
                </a:lnTo>
                <a:cubicBezTo>
                  <a:pt x="1115206" y="0"/>
                  <a:pt x="1149350" y="34144"/>
                  <a:pt x="1149350" y="76201"/>
                </a:cubicBezTo>
                <a:lnTo>
                  <a:pt x="1149350" y="425449"/>
                </a:lnTo>
                <a:cubicBezTo>
                  <a:pt x="1149350" y="467506"/>
                  <a:pt x="1115206" y="501650"/>
                  <a:pt x="1073149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E5A04C">
              <a:alpha val="40000"/>
            </a:srgbClr>
          </a:solidFill>
          <a:ln w="8467">
            <a:solidFill>
              <a:srgbClr val="E5A04C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45425" y="5394722"/>
            <a:ext cx="771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环境准备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007475" y="5258194"/>
            <a:ext cx="1492250" cy="501650"/>
          </a:xfrm>
          <a:custGeom>
            <a:avLst/>
            <a:gdLst/>
            <a:ahLst/>
            <a:cxnLst/>
            <a:rect l="l" t="t" r="r" b="b"/>
            <a:pathLst>
              <a:path w="1492250" h="501650">
                <a:moveTo>
                  <a:pt x="76201" y="0"/>
                </a:moveTo>
                <a:lnTo>
                  <a:pt x="1416049" y="0"/>
                </a:lnTo>
                <a:cubicBezTo>
                  <a:pt x="1458106" y="0"/>
                  <a:pt x="1492250" y="34144"/>
                  <a:pt x="1492250" y="76201"/>
                </a:cubicBezTo>
                <a:lnTo>
                  <a:pt x="1492250" y="425449"/>
                </a:lnTo>
                <a:cubicBezTo>
                  <a:pt x="1492250" y="467506"/>
                  <a:pt x="1458106" y="501650"/>
                  <a:pt x="1416049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C8082">
              <a:alpha val="40000"/>
            </a:srgbClr>
          </a:solidFill>
          <a:ln w="8467">
            <a:solidFill>
              <a:srgbClr val="3C8082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53525" y="5394722"/>
            <a:ext cx="1114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数据库初始化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658476" y="5258194"/>
            <a:ext cx="1149350" cy="501650"/>
          </a:xfrm>
          <a:custGeom>
            <a:avLst/>
            <a:gdLst/>
            <a:ahLst/>
            <a:cxnLst/>
            <a:rect l="l" t="t" r="r" b="b"/>
            <a:pathLst>
              <a:path w="1149350" h="501650">
                <a:moveTo>
                  <a:pt x="76201" y="0"/>
                </a:moveTo>
                <a:lnTo>
                  <a:pt x="1073149" y="0"/>
                </a:lnTo>
                <a:cubicBezTo>
                  <a:pt x="1115206" y="0"/>
                  <a:pt x="1149350" y="34144"/>
                  <a:pt x="1149350" y="76201"/>
                </a:cubicBezTo>
                <a:lnTo>
                  <a:pt x="1149350" y="425449"/>
                </a:lnTo>
                <a:cubicBezTo>
                  <a:pt x="1149350" y="467506"/>
                  <a:pt x="1115206" y="501650"/>
                  <a:pt x="1073149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5462">
              <a:alpha val="40000"/>
            </a:srgbClr>
          </a:solidFill>
          <a:ln w="8467">
            <a:solidFill>
              <a:srgbClr val="4A5462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04525" y="5394722"/>
            <a:ext cx="771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服务启动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42" y="333342"/>
            <a:ext cx="33334" cy="333342"/>
          </a:xfrm>
          <a:custGeom>
            <a:avLst/>
            <a:gdLst/>
            <a:ahLst/>
            <a:cxnLst/>
            <a:rect l="l" t="t" r="r" b="b"/>
            <a:pathLst>
              <a:path w="33334" h="333342">
                <a:moveTo>
                  <a:pt x="16667" y="0"/>
                </a:moveTo>
                <a:lnTo>
                  <a:pt x="16667" y="0"/>
                </a:lnTo>
                <a:cubicBezTo>
                  <a:pt x="25872" y="0"/>
                  <a:pt x="33334" y="7462"/>
                  <a:pt x="33334" y="16667"/>
                </a:cubicBezTo>
                <a:lnTo>
                  <a:pt x="33334" y="316675"/>
                </a:lnTo>
                <a:cubicBezTo>
                  <a:pt x="33334" y="325880"/>
                  <a:pt x="25872" y="333342"/>
                  <a:pt x="16667" y="333342"/>
                </a:cubicBezTo>
                <a:lnTo>
                  <a:pt x="16667" y="333342"/>
                </a:lnTo>
                <a:cubicBezTo>
                  <a:pt x="7462" y="333342"/>
                  <a:pt x="0" y="325880"/>
                  <a:pt x="0" y="316675"/>
                </a:cubicBezTo>
                <a:lnTo>
                  <a:pt x="0" y="16667"/>
                </a:lnTo>
                <a:cubicBezTo>
                  <a:pt x="0" y="7462"/>
                  <a:pt x="7462" y="0"/>
                  <a:pt x="16667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" name="Text 1"/>
          <p:cNvSpPr/>
          <p:nvPr/>
        </p:nvSpPr>
        <p:spPr>
          <a:xfrm>
            <a:off x="466679" y="333342"/>
            <a:ext cx="2918018" cy="333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环境准备与部署流程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0014" y="733353"/>
            <a:ext cx="11433646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Environment Setup &amp; Deployment Process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0010" y="1133364"/>
            <a:ext cx="3825105" cy="4325118"/>
          </a:xfrm>
          <a:custGeom>
            <a:avLst/>
            <a:gdLst/>
            <a:ahLst/>
            <a:cxnLst/>
            <a:rect l="l" t="t" r="r" b="b"/>
            <a:pathLst>
              <a:path w="3825105" h="4325118">
                <a:moveTo>
                  <a:pt x="33334" y="0"/>
                </a:moveTo>
                <a:lnTo>
                  <a:pt x="3725116" y="0"/>
                </a:lnTo>
                <a:cubicBezTo>
                  <a:pt x="3780338" y="0"/>
                  <a:pt x="3825105" y="44766"/>
                  <a:pt x="3825105" y="99988"/>
                </a:cubicBezTo>
                <a:lnTo>
                  <a:pt x="3825105" y="4225130"/>
                </a:lnTo>
                <a:cubicBezTo>
                  <a:pt x="3825105" y="4280352"/>
                  <a:pt x="3780338" y="4325118"/>
                  <a:pt x="3725116" y="4325118"/>
                </a:cubicBezTo>
                <a:lnTo>
                  <a:pt x="33334" y="4325118"/>
                </a:lnTo>
                <a:cubicBezTo>
                  <a:pt x="14924" y="4325118"/>
                  <a:pt x="0" y="4310194"/>
                  <a:pt x="0" y="4291784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350010" y="1133364"/>
            <a:ext cx="33334" cy="4325118"/>
          </a:xfrm>
          <a:custGeom>
            <a:avLst/>
            <a:gdLst/>
            <a:ahLst/>
            <a:cxnLst/>
            <a:rect l="l" t="t" r="r" b="b"/>
            <a:pathLst>
              <a:path w="33334" h="4325118">
                <a:moveTo>
                  <a:pt x="33334" y="0"/>
                </a:moveTo>
                <a:lnTo>
                  <a:pt x="33334" y="0"/>
                </a:lnTo>
                <a:lnTo>
                  <a:pt x="33334" y="4325118"/>
                </a:lnTo>
                <a:lnTo>
                  <a:pt x="33334" y="4325118"/>
                </a:lnTo>
                <a:cubicBezTo>
                  <a:pt x="14924" y="4325118"/>
                  <a:pt x="0" y="4310194"/>
                  <a:pt x="0" y="4291784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7" name="Shape 5"/>
          <p:cNvSpPr/>
          <p:nvPr/>
        </p:nvSpPr>
        <p:spPr>
          <a:xfrm>
            <a:off x="500014" y="1266701"/>
            <a:ext cx="333342" cy="333342"/>
          </a:xfrm>
          <a:custGeom>
            <a:avLst/>
            <a:gdLst/>
            <a:ahLst/>
            <a:cxnLst/>
            <a:rect l="l" t="t" r="r" b="b"/>
            <a:pathLst>
              <a:path w="333342" h="333342">
                <a:moveTo>
                  <a:pt x="66668" y="0"/>
                </a:moveTo>
                <a:lnTo>
                  <a:pt x="266674" y="0"/>
                </a:lnTo>
                <a:cubicBezTo>
                  <a:pt x="303494" y="0"/>
                  <a:pt x="333342" y="29848"/>
                  <a:pt x="333342" y="66668"/>
                </a:cubicBezTo>
                <a:lnTo>
                  <a:pt x="333342" y="266674"/>
                </a:lnTo>
                <a:cubicBezTo>
                  <a:pt x="333342" y="303494"/>
                  <a:pt x="303494" y="333342"/>
                  <a:pt x="266674" y="333342"/>
                </a:cubicBezTo>
                <a:lnTo>
                  <a:pt x="66668" y="333342"/>
                </a:lnTo>
                <a:cubicBezTo>
                  <a:pt x="29848" y="333342"/>
                  <a:pt x="0" y="303494"/>
                  <a:pt x="0" y="266674"/>
                </a:cubicBezTo>
                <a:lnTo>
                  <a:pt x="0" y="66668"/>
                </a:lnTo>
                <a:cubicBezTo>
                  <a:pt x="0" y="29848"/>
                  <a:pt x="29848" y="0"/>
                  <a:pt x="66668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580137" y="1316703"/>
            <a:ext cx="258340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E5A04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3359" y="1316703"/>
            <a:ext cx="616684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环境准备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0014" y="1733381"/>
            <a:ext cx="3608432" cy="2166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确保您的电脑已安装以下软件：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1681" y="2350756"/>
            <a:ext cx="125003" cy="166671"/>
          </a:xfrm>
          <a:custGeom>
            <a:avLst/>
            <a:gdLst/>
            <a:ahLst/>
            <a:cxnLst/>
            <a:rect l="l" t="t" r="r" b="b"/>
            <a:pathLst>
              <a:path w="125003" h="166671">
                <a:moveTo>
                  <a:pt x="90432" y="101858"/>
                </a:moveTo>
                <a:cubicBezTo>
                  <a:pt x="93622" y="99677"/>
                  <a:pt x="98050" y="97789"/>
                  <a:pt x="98050" y="97789"/>
                </a:cubicBezTo>
                <a:cubicBezTo>
                  <a:pt x="98050" y="97789"/>
                  <a:pt x="85452" y="100068"/>
                  <a:pt x="72919" y="101110"/>
                </a:cubicBezTo>
                <a:cubicBezTo>
                  <a:pt x="57586" y="102379"/>
                  <a:pt x="41114" y="102640"/>
                  <a:pt x="32846" y="101533"/>
                </a:cubicBezTo>
                <a:cubicBezTo>
                  <a:pt x="13282" y="98928"/>
                  <a:pt x="43588" y="91734"/>
                  <a:pt x="43588" y="91734"/>
                </a:cubicBezTo>
                <a:cubicBezTo>
                  <a:pt x="43588" y="91734"/>
                  <a:pt x="31837" y="90953"/>
                  <a:pt x="17351" y="97919"/>
                </a:cubicBezTo>
                <a:cubicBezTo>
                  <a:pt x="260" y="106188"/>
                  <a:pt x="59670" y="109964"/>
                  <a:pt x="90432" y="101858"/>
                </a:cubicBezTo>
                <a:close/>
                <a:moveTo>
                  <a:pt x="62632" y="91409"/>
                </a:moveTo>
                <a:cubicBezTo>
                  <a:pt x="56447" y="77509"/>
                  <a:pt x="35580" y="65301"/>
                  <a:pt x="62632" y="43947"/>
                </a:cubicBezTo>
                <a:cubicBezTo>
                  <a:pt x="96389" y="17318"/>
                  <a:pt x="79071" y="0"/>
                  <a:pt x="79071" y="0"/>
                </a:cubicBezTo>
                <a:cubicBezTo>
                  <a:pt x="86070" y="27507"/>
                  <a:pt x="54461" y="35841"/>
                  <a:pt x="43035" y="52931"/>
                </a:cubicBezTo>
                <a:cubicBezTo>
                  <a:pt x="35255" y="64618"/>
                  <a:pt x="46844" y="77151"/>
                  <a:pt x="62632" y="91409"/>
                </a:cubicBezTo>
                <a:close/>
                <a:moveTo>
                  <a:pt x="99938" y="34050"/>
                </a:moveTo>
                <a:cubicBezTo>
                  <a:pt x="99970" y="34050"/>
                  <a:pt x="42905" y="48309"/>
                  <a:pt x="70152" y="79690"/>
                </a:cubicBezTo>
                <a:cubicBezTo>
                  <a:pt x="78192" y="88935"/>
                  <a:pt x="68036" y="97268"/>
                  <a:pt x="68036" y="97268"/>
                </a:cubicBezTo>
                <a:cubicBezTo>
                  <a:pt x="68036" y="97268"/>
                  <a:pt x="88446" y="86721"/>
                  <a:pt x="79071" y="73537"/>
                </a:cubicBezTo>
                <a:cubicBezTo>
                  <a:pt x="70314" y="61232"/>
                  <a:pt x="63609" y="55112"/>
                  <a:pt x="99938" y="34050"/>
                </a:cubicBezTo>
                <a:close/>
                <a:moveTo>
                  <a:pt x="97952" y="122106"/>
                </a:moveTo>
                <a:cubicBezTo>
                  <a:pt x="97789" y="122432"/>
                  <a:pt x="97561" y="122692"/>
                  <a:pt x="97301" y="122953"/>
                </a:cubicBezTo>
                <a:cubicBezTo>
                  <a:pt x="139066" y="111982"/>
                  <a:pt x="123701" y="84247"/>
                  <a:pt x="103746" y="91279"/>
                </a:cubicBezTo>
                <a:cubicBezTo>
                  <a:pt x="102672" y="91669"/>
                  <a:pt x="101728" y="92385"/>
                  <a:pt x="101077" y="93329"/>
                </a:cubicBezTo>
                <a:cubicBezTo>
                  <a:pt x="102249" y="92906"/>
                  <a:pt x="103453" y="92581"/>
                  <a:pt x="104658" y="92353"/>
                </a:cubicBezTo>
                <a:cubicBezTo>
                  <a:pt x="114749" y="90237"/>
                  <a:pt x="129235" y="105862"/>
                  <a:pt x="97952" y="122106"/>
                </a:cubicBezTo>
                <a:close/>
                <a:moveTo>
                  <a:pt x="113284" y="142387"/>
                </a:moveTo>
                <a:cubicBezTo>
                  <a:pt x="113284" y="142387"/>
                  <a:pt x="118005" y="146261"/>
                  <a:pt x="108108" y="149288"/>
                </a:cubicBezTo>
                <a:cubicBezTo>
                  <a:pt x="89260" y="154985"/>
                  <a:pt x="29721" y="156710"/>
                  <a:pt x="13184" y="149516"/>
                </a:cubicBezTo>
                <a:cubicBezTo>
                  <a:pt x="7227" y="146944"/>
                  <a:pt x="18392" y="143331"/>
                  <a:pt x="21908" y="142582"/>
                </a:cubicBezTo>
                <a:cubicBezTo>
                  <a:pt x="25554" y="141801"/>
                  <a:pt x="27670" y="141931"/>
                  <a:pt x="27670" y="141931"/>
                </a:cubicBezTo>
                <a:cubicBezTo>
                  <a:pt x="21062" y="137276"/>
                  <a:pt x="-15072" y="151078"/>
                  <a:pt x="9310" y="155017"/>
                </a:cubicBezTo>
                <a:cubicBezTo>
                  <a:pt x="75783" y="165825"/>
                  <a:pt x="130537" y="150167"/>
                  <a:pt x="113284" y="142387"/>
                </a:cubicBezTo>
                <a:close/>
                <a:moveTo>
                  <a:pt x="40528" y="128910"/>
                </a:moveTo>
                <a:cubicBezTo>
                  <a:pt x="14909" y="136071"/>
                  <a:pt x="56121" y="150850"/>
                  <a:pt x="88739" y="136885"/>
                </a:cubicBezTo>
                <a:cubicBezTo>
                  <a:pt x="85549" y="135648"/>
                  <a:pt x="82489" y="134151"/>
                  <a:pt x="79559" y="132393"/>
                </a:cubicBezTo>
                <a:cubicBezTo>
                  <a:pt x="65008" y="135160"/>
                  <a:pt x="58270" y="135355"/>
                  <a:pt x="45053" y="133858"/>
                </a:cubicBezTo>
                <a:cubicBezTo>
                  <a:pt x="34148" y="132621"/>
                  <a:pt x="40528" y="128910"/>
                  <a:pt x="40528" y="128910"/>
                </a:cubicBezTo>
                <a:close/>
                <a:moveTo>
                  <a:pt x="99059" y="160551"/>
                </a:moveTo>
                <a:cubicBezTo>
                  <a:pt x="73440" y="165369"/>
                  <a:pt x="41831" y="164816"/>
                  <a:pt x="23113" y="161723"/>
                </a:cubicBezTo>
                <a:cubicBezTo>
                  <a:pt x="23113" y="161691"/>
                  <a:pt x="26954" y="164881"/>
                  <a:pt x="46681" y="166150"/>
                </a:cubicBezTo>
                <a:cubicBezTo>
                  <a:pt x="76695" y="168071"/>
                  <a:pt x="122790" y="165076"/>
                  <a:pt x="123864" y="150883"/>
                </a:cubicBezTo>
                <a:cubicBezTo>
                  <a:pt x="123864" y="150883"/>
                  <a:pt x="121781" y="156254"/>
                  <a:pt x="99059" y="160551"/>
                </a:cubicBezTo>
                <a:close/>
                <a:moveTo>
                  <a:pt x="84866" y="114912"/>
                </a:moveTo>
                <a:cubicBezTo>
                  <a:pt x="65594" y="118623"/>
                  <a:pt x="54429" y="118525"/>
                  <a:pt x="40333" y="117060"/>
                </a:cubicBezTo>
                <a:cubicBezTo>
                  <a:pt x="29428" y="115921"/>
                  <a:pt x="36557" y="110648"/>
                  <a:pt x="36557" y="110648"/>
                </a:cubicBezTo>
                <a:cubicBezTo>
                  <a:pt x="8301" y="120023"/>
                  <a:pt x="52248" y="130635"/>
                  <a:pt x="91734" y="119079"/>
                </a:cubicBezTo>
                <a:cubicBezTo>
                  <a:pt x="89195" y="118167"/>
                  <a:pt x="86851" y="116768"/>
                  <a:pt x="84866" y="114912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2" name="Text 10"/>
          <p:cNvSpPr/>
          <p:nvPr/>
        </p:nvSpPr>
        <p:spPr>
          <a:xfrm>
            <a:off x="775021" y="2250753"/>
            <a:ext cx="775021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JDK 1.8+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5021" y="2450759"/>
            <a:ext cx="766688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Java运行环境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1265" y="3185675"/>
            <a:ext cx="145837" cy="166671"/>
          </a:xfrm>
          <a:custGeom>
            <a:avLst/>
            <a:gdLst/>
            <a:ahLst/>
            <a:cxnLst/>
            <a:rect l="l" t="t" r="r" b="b"/>
            <a:pathLst>
              <a:path w="145837" h="166671">
                <a:moveTo>
                  <a:pt x="73081" y="165369"/>
                </a:moveTo>
                <a:cubicBezTo>
                  <a:pt x="70900" y="165369"/>
                  <a:pt x="68687" y="164783"/>
                  <a:pt x="66766" y="163676"/>
                </a:cubicBezTo>
                <a:lnTo>
                  <a:pt x="46681" y="151795"/>
                </a:lnTo>
                <a:cubicBezTo>
                  <a:pt x="43686" y="150102"/>
                  <a:pt x="45151" y="149516"/>
                  <a:pt x="46128" y="149190"/>
                </a:cubicBezTo>
                <a:cubicBezTo>
                  <a:pt x="50132" y="147790"/>
                  <a:pt x="50945" y="147498"/>
                  <a:pt x="55210" y="145056"/>
                </a:cubicBezTo>
                <a:cubicBezTo>
                  <a:pt x="55666" y="144796"/>
                  <a:pt x="56252" y="144893"/>
                  <a:pt x="56707" y="145186"/>
                </a:cubicBezTo>
                <a:lnTo>
                  <a:pt x="72137" y="154334"/>
                </a:lnTo>
                <a:cubicBezTo>
                  <a:pt x="72691" y="154659"/>
                  <a:pt x="73472" y="154659"/>
                  <a:pt x="73993" y="154334"/>
                </a:cubicBezTo>
                <a:lnTo>
                  <a:pt x="134118" y="119632"/>
                </a:lnTo>
                <a:cubicBezTo>
                  <a:pt x="134672" y="119307"/>
                  <a:pt x="135030" y="118656"/>
                  <a:pt x="135030" y="118005"/>
                </a:cubicBezTo>
                <a:lnTo>
                  <a:pt x="135030" y="48602"/>
                </a:lnTo>
                <a:cubicBezTo>
                  <a:pt x="135030" y="47918"/>
                  <a:pt x="134672" y="47299"/>
                  <a:pt x="134086" y="46941"/>
                </a:cubicBezTo>
                <a:lnTo>
                  <a:pt x="73993" y="12272"/>
                </a:lnTo>
                <a:cubicBezTo>
                  <a:pt x="73440" y="11947"/>
                  <a:pt x="72691" y="11947"/>
                  <a:pt x="72137" y="12272"/>
                </a:cubicBezTo>
                <a:lnTo>
                  <a:pt x="12077" y="46974"/>
                </a:lnTo>
                <a:cubicBezTo>
                  <a:pt x="11491" y="47299"/>
                  <a:pt x="11133" y="47951"/>
                  <a:pt x="11133" y="48634"/>
                </a:cubicBezTo>
                <a:lnTo>
                  <a:pt x="11133" y="118005"/>
                </a:lnTo>
                <a:cubicBezTo>
                  <a:pt x="11133" y="118656"/>
                  <a:pt x="11491" y="119307"/>
                  <a:pt x="12077" y="119600"/>
                </a:cubicBezTo>
                <a:lnTo>
                  <a:pt x="28549" y="129105"/>
                </a:lnTo>
                <a:cubicBezTo>
                  <a:pt x="37501" y="133565"/>
                  <a:pt x="42970" y="128324"/>
                  <a:pt x="42970" y="123018"/>
                </a:cubicBezTo>
                <a:lnTo>
                  <a:pt x="42970" y="54526"/>
                </a:lnTo>
                <a:cubicBezTo>
                  <a:pt x="42970" y="53550"/>
                  <a:pt x="43751" y="52801"/>
                  <a:pt x="44728" y="52801"/>
                </a:cubicBezTo>
                <a:lnTo>
                  <a:pt x="52345" y="52801"/>
                </a:lnTo>
                <a:cubicBezTo>
                  <a:pt x="53289" y="52801"/>
                  <a:pt x="54103" y="53550"/>
                  <a:pt x="54103" y="54526"/>
                </a:cubicBezTo>
                <a:lnTo>
                  <a:pt x="54103" y="123050"/>
                </a:lnTo>
                <a:cubicBezTo>
                  <a:pt x="54103" y="134965"/>
                  <a:pt x="47592" y="141801"/>
                  <a:pt x="36297" y="141801"/>
                </a:cubicBezTo>
                <a:cubicBezTo>
                  <a:pt x="32813" y="141801"/>
                  <a:pt x="30079" y="141801"/>
                  <a:pt x="22462" y="138025"/>
                </a:cubicBezTo>
                <a:lnTo>
                  <a:pt x="6706" y="128942"/>
                </a:lnTo>
                <a:cubicBezTo>
                  <a:pt x="2800" y="126696"/>
                  <a:pt x="391" y="122497"/>
                  <a:pt x="391" y="117972"/>
                </a:cubicBezTo>
                <a:lnTo>
                  <a:pt x="391" y="48602"/>
                </a:lnTo>
                <a:cubicBezTo>
                  <a:pt x="391" y="44109"/>
                  <a:pt x="2800" y="39877"/>
                  <a:pt x="6706" y="37631"/>
                </a:cubicBezTo>
                <a:lnTo>
                  <a:pt x="66766" y="2930"/>
                </a:lnTo>
                <a:cubicBezTo>
                  <a:pt x="70575" y="781"/>
                  <a:pt x="75621" y="781"/>
                  <a:pt x="79397" y="2930"/>
                </a:cubicBezTo>
                <a:lnTo>
                  <a:pt x="139522" y="37664"/>
                </a:lnTo>
                <a:cubicBezTo>
                  <a:pt x="143428" y="39910"/>
                  <a:pt x="145837" y="44109"/>
                  <a:pt x="145837" y="48634"/>
                </a:cubicBezTo>
                <a:lnTo>
                  <a:pt x="145837" y="118005"/>
                </a:lnTo>
                <a:cubicBezTo>
                  <a:pt x="145837" y="122497"/>
                  <a:pt x="143428" y="126696"/>
                  <a:pt x="139522" y="128975"/>
                </a:cubicBezTo>
                <a:lnTo>
                  <a:pt x="79397" y="163676"/>
                </a:lnTo>
                <a:cubicBezTo>
                  <a:pt x="77476" y="164783"/>
                  <a:pt x="75295" y="165369"/>
                  <a:pt x="73081" y="165369"/>
                </a:cubicBezTo>
                <a:close/>
                <a:moveTo>
                  <a:pt x="121618" y="96975"/>
                </a:moveTo>
                <a:cubicBezTo>
                  <a:pt x="121618" y="83987"/>
                  <a:pt x="112829" y="80536"/>
                  <a:pt x="94371" y="78095"/>
                </a:cubicBezTo>
                <a:cubicBezTo>
                  <a:pt x="75686" y="75621"/>
                  <a:pt x="73798" y="74351"/>
                  <a:pt x="73798" y="69989"/>
                </a:cubicBezTo>
                <a:cubicBezTo>
                  <a:pt x="73798" y="66376"/>
                  <a:pt x="75393" y="61558"/>
                  <a:pt x="89228" y="61558"/>
                </a:cubicBezTo>
                <a:cubicBezTo>
                  <a:pt x="101565" y="61558"/>
                  <a:pt x="106123" y="64227"/>
                  <a:pt x="108011" y="72561"/>
                </a:cubicBezTo>
                <a:cubicBezTo>
                  <a:pt x="108174" y="73342"/>
                  <a:pt x="108890" y="73928"/>
                  <a:pt x="109704" y="73928"/>
                </a:cubicBezTo>
                <a:lnTo>
                  <a:pt x="117516" y="73928"/>
                </a:lnTo>
                <a:cubicBezTo>
                  <a:pt x="118005" y="73928"/>
                  <a:pt x="118460" y="73732"/>
                  <a:pt x="118786" y="73374"/>
                </a:cubicBezTo>
                <a:cubicBezTo>
                  <a:pt x="119111" y="73016"/>
                  <a:pt x="119274" y="72528"/>
                  <a:pt x="119242" y="72040"/>
                </a:cubicBezTo>
                <a:cubicBezTo>
                  <a:pt x="118037" y="57684"/>
                  <a:pt x="108499" y="51011"/>
                  <a:pt x="89228" y="51011"/>
                </a:cubicBezTo>
                <a:cubicBezTo>
                  <a:pt x="72072" y="51011"/>
                  <a:pt x="61851" y="58237"/>
                  <a:pt x="61851" y="70380"/>
                </a:cubicBezTo>
                <a:cubicBezTo>
                  <a:pt x="61851" y="83531"/>
                  <a:pt x="72040" y="87177"/>
                  <a:pt x="88479" y="88805"/>
                </a:cubicBezTo>
                <a:cubicBezTo>
                  <a:pt x="108174" y="90725"/>
                  <a:pt x="109704" y="93622"/>
                  <a:pt x="109704" y="97496"/>
                </a:cubicBezTo>
                <a:cubicBezTo>
                  <a:pt x="109704" y="104202"/>
                  <a:pt x="104300" y="107067"/>
                  <a:pt x="91637" y="107067"/>
                </a:cubicBezTo>
                <a:cubicBezTo>
                  <a:pt x="75718" y="107067"/>
                  <a:pt x="72235" y="103063"/>
                  <a:pt x="71063" y="95152"/>
                </a:cubicBezTo>
                <a:cubicBezTo>
                  <a:pt x="70933" y="94306"/>
                  <a:pt x="70217" y="93687"/>
                  <a:pt x="69338" y="93687"/>
                </a:cubicBezTo>
                <a:lnTo>
                  <a:pt x="61558" y="93687"/>
                </a:lnTo>
                <a:cubicBezTo>
                  <a:pt x="60581" y="93687"/>
                  <a:pt x="59832" y="94469"/>
                  <a:pt x="59832" y="95413"/>
                </a:cubicBezTo>
                <a:cubicBezTo>
                  <a:pt x="59832" y="105537"/>
                  <a:pt x="65334" y="117614"/>
                  <a:pt x="91669" y="117614"/>
                </a:cubicBezTo>
                <a:cubicBezTo>
                  <a:pt x="110680" y="117581"/>
                  <a:pt x="121618" y="110062"/>
                  <a:pt x="121618" y="96975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15" name="Text 13"/>
          <p:cNvSpPr/>
          <p:nvPr/>
        </p:nvSpPr>
        <p:spPr>
          <a:xfrm>
            <a:off x="775021" y="3085672"/>
            <a:ext cx="775021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Node.js 16+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5021" y="3285677"/>
            <a:ext cx="766688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前端构建环境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1265" y="4020512"/>
            <a:ext cx="145837" cy="166671"/>
          </a:xfrm>
          <a:custGeom>
            <a:avLst/>
            <a:gdLst/>
            <a:ahLst/>
            <a:cxnLst/>
            <a:rect l="l" t="t" r="r" b="b"/>
            <a:pathLst>
              <a:path w="145837" h="166671">
                <a:moveTo>
                  <a:pt x="145837" y="66994"/>
                </a:moveTo>
                <a:cubicBezTo>
                  <a:pt x="141019" y="70184"/>
                  <a:pt x="135485" y="72756"/>
                  <a:pt x="129724" y="74807"/>
                </a:cubicBezTo>
                <a:cubicBezTo>
                  <a:pt x="114424" y="80276"/>
                  <a:pt x="94339" y="83336"/>
                  <a:pt x="72919" y="83336"/>
                </a:cubicBezTo>
                <a:cubicBezTo>
                  <a:pt x="51499" y="83336"/>
                  <a:pt x="31381" y="80243"/>
                  <a:pt x="16114" y="74807"/>
                </a:cubicBezTo>
                <a:cubicBezTo>
                  <a:pt x="10384" y="72756"/>
                  <a:pt x="4818" y="70184"/>
                  <a:pt x="0" y="66994"/>
                </a:cubicBezTo>
                <a:lnTo>
                  <a:pt x="0" y="93753"/>
                </a:lnTo>
                <a:cubicBezTo>
                  <a:pt x="0" y="108141"/>
                  <a:pt x="32651" y="119795"/>
                  <a:pt x="72919" y="119795"/>
                </a:cubicBezTo>
                <a:cubicBezTo>
                  <a:pt x="113187" y="119795"/>
                  <a:pt x="145837" y="108141"/>
                  <a:pt x="145837" y="93753"/>
                </a:cubicBezTo>
                <a:lnTo>
                  <a:pt x="145837" y="66994"/>
                </a:lnTo>
                <a:close/>
                <a:moveTo>
                  <a:pt x="145837" y="41668"/>
                </a:moveTo>
                <a:lnTo>
                  <a:pt x="145837" y="26042"/>
                </a:lnTo>
                <a:cubicBezTo>
                  <a:pt x="145837" y="11654"/>
                  <a:pt x="113187" y="0"/>
                  <a:pt x="72919" y="0"/>
                </a:cubicBezTo>
                <a:cubicBezTo>
                  <a:pt x="32651" y="0"/>
                  <a:pt x="0" y="11654"/>
                  <a:pt x="0" y="26042"/>
                </a:cubicBezTo>
                <a:lnTo>
                  <a:pt x="0" y="41668"/>
                </a:lnTo>
                <a:cubicBezTo>
                  <a:pt x="0" y="56056"/>
                  <a:pt x="32651" y="67710"/>
                  <a:pt x="72919" y="67710"/>
                </a:cubicBezTo>
                <a:cubicBezTo>
                  <a:pt x="113187" y="67710"/>
                  <a:pt x="145837" y="56056"/>
                  <a:pt x="145837" y="41668"/>
                </a:cubicBezTo>
                <a:close/>
                <a:moveTo>
                  <a:pt x="129724" y="126891"/>
                </a:moveTo>
                <a:cubicBezTo>
                  <a:pt x="114456" y="132328"/>
                  <a:pt x="94371" y="135420"/>
                  <a:pt x="72919" y="135420"/>
                </a:cubicBezTo>
                <a:cubicBezTo>
                  <a:pt x="51466" y="135420"/>
                  <a:pt x="31381" y="132328"/>
                  <a:pt x="16114" y="126891"/>
                </a:cubicBezTo>
                <a:cubicBezTo>
                  <a:pt x="10384" y="124841"/>
                  <a:pt x="4818" y="122269"/>
                  <a:pt x="0" y="119079"/>
                </a:cubicBezTo>
                <a:lnTo>
                  <a:pt x="0" y="140629"/>
                </a:lnTo>
                <a:cubicBezTo>
                  <a:pt x="0" y="155017"/>
                  <a:pt x="32651" y="166671"/>
                  <a:pt x="72919" y="166671"/>
                </a:cubicBezTo>
                <a:cubicBezTo>
                  <a:pt x="113187" y="166671"/>
                  <a:pt x="145837" y="155017"/>
                  <a:pt x="145837" y="140629"/>
                </a:cubicBezTo>
                <a:lnTo>
                  <a:pt x="145837" y="119079"/>
                </a:lnTo>
                <a:cubicBezTo>
                  <a:pt x="141019" y="122269"/>
                  <a:pt x="135485" y="124841"/>
                  <a:pt x="129724" y="126891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8" name="Text 16"/>
          <p:cNvSpPr/>
          <p:nvPr/>
        </p:nvSpPr>
        <p:spPr>
          <a:xfrm>
            <a:off x="775021" y="3920509"/>
            <a:ext cx="983360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MySQL 5.7/8.0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5021" y="4120515"/>
            <a:ext cx="975027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0848" y="4855431"/>
            <a:ext cx="166671" cy="166671"/>
          </a:xfrm>
          <a:custGeom>
            <a:avLst/>
            <a:gdLst/>
            <a:ahLst/>
            <a:cxnLst/>
            <a:rect l="l" t="t" r="r" b="b"/>
            <a:pathLst>
              <a:path w="166671" h="166671">
                <a:moveTo>
                  <a:pt x="73016" y="-814"/>
                </a:moveTo>
                <a:cubicBezTo>
                  <a:pt x="79462" y="-4525"/>
                  <a:pt x="87405" y="-4525"/>
                  <a:pt x="93850" y="-814"/>
                </a:cubicBezTo>
                <a:lnTo>
                  <a:pt x="151111" y="32227"/>
                </a:lnTo>
                <a:cubicBezTo>
                  <a:pt x="157556" y="35938"/>
                  <a:pt x="161528" y="42840"/>
                  <a:pt x="161528" y="50262"/>
                </a:cubicBezTo>
                <a:lnTo>
                  <a:pt x="161528" y="116344"/>
                </a:lnTo>
                <a:cubicBezTo>
                  <a:pt x="161528" y="123799"/>
                  <a:pt x="157556" y="130668"/>
                  <a:pt x="151111" y="134379"/>
                </a:cubicBezTo>
                <a:lnTo>
                  <a:pt x="93850" y="167485"/>
                </a:lnTo>
                <a:cubicBezTo>
                  <a:pt x="87405" y="171196"/>
                  <a:pt x="79462" y="171196"/>
                  <a:pt x="73016" y="167485"/>
                </a:cubicBezTo>
                <a:lnTo>
                  <a:pt x="15788" y="134444"/>
                </a:lnTo>
                <a:cubicBezTo>
                  <a:pt x="9343" y="130733"/>
                  <a:pt x="5371" y="123832"/>
                  <a:pt x="5371" y="116409"/>
                </a:cubicBezTo>
                <a:lnTo>
                  <a:pt x="5371" y="50327"/>
                </a:lnTo>
                <a:cubicBezTo>
                  <a:pt x="5371" y="42872"/>
                  <a:pt x="9343" y="36004"/>
                  <a:pt x="15788" y="32293"/>
                </a:cubicBezTo>
                <a:lnTo>
                  <a:pt x="73016" y="-814"/>
                </a:lnTo>
                <a:close/>
                <a:moveTo>
                  <a:pt x="140661" y="116377"/>
                </a:moveTo>
                <a:lnTo>
                  <a:pt x="140661" y="62306"/>
                </a:lnTo>
                <a:lnTo>
                  <a:pt x="93850" y="89325"/>
                </a:lnTo>
                <a:lnTo>
                  <a:pt x="93850" y="143396"/>
                </a:lnTo>
                <a:lnTo>
                  <a:pt x="140661" y="116377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21" name="Text 19"/>
          <p:cNvSpPr/>
          <p:nvPr/>
        </p:nvSpPr>
        <p:spPr>
          <a:xfrm>
            <a:off x="775021" y="4755428"/>
            <a:ext cx="783355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Maven 3.6+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5021" y="4955433"/>
            <a:ext cx="775021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项目构建工具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9885" y="5589270"/>
            <a:ext cx="3825240" cy="1233805"/>
          </a:xfrm>
          <a:custGeom>
            <a:avLst/>
            <a:gdLst/>
            <a:ahLst/>
            <a:cxnLst/>
            <a:rect l="l" t="t" r="r" b="b"/>
            <a:pathLst>
              <a:path w="3825105" h="1916719">
                <a:moveTo>
                  <a:pt x="33334" y="0"/>
                </a:moveTo>
                <a:lnTo>
                  <a:pt x="3725109" y="0"/>
                </a:lnTo>
                <a:cubicBezTo>
                  <a:pt x="3780335" y="0"/>
                  <a:pt x="3825105" y="44769"/>
                  <a:pt x="3825105" y="99995"/>
                </a:cubicBezTo>
                <a:lnTo>
                  <a:pt x="3825105" y="1816724"/>
                </a:lnTo>
                <a:cubicBezTo>
                  <a:pt x="3825105" y="1871950"/>
                  <a:pt x="3780335" y="1916719"/>
                  <a:pt x="3725109" y="1916719"/>
                </a:cubicBezTo>
                <a:lnTo>
                  <a:pt x="33334" y="1916719"/>
                </a:lnTo>
                <a:cubicBezTo>
                  <a:pt x="14924" y="1916719"/>
                  <a:pt x="0" y="1901795"/>
                  <a:pt x="0" y="1883385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306705" y="5589270"/>
            <a:ext cx="76200" cy="1220470"/>
          </a:xfrm>
          <a:custGeom>
            <a:avLst/>
            <a:gdLst/>
            <a:ahLst/>
            <a:cxnLst/>
            <a:rect l="l" t="t" r="r" b="b"/>
            <a:pathLst>
              <a:path w="33334" h="1916719">
                <a:moveTo>
                  <a:pt x="33334" y="0"/>
                </a:moveTo>
                <a:lnTo>
                  <a:pt x="33334" y="0"/>
                </a:lnTo>
                <a:lnTo>
                  <a:pt x="33334" y="1916719"/>
                </a:lnTo>
                <a:lnTo>
                  <a:pt x="33334" y="1916719"/>
                </a:lnTo>
                <a:cubicBezTo>
                  <a:pt x="14924" y="1916719"/>
                  <a:pt x="0" y="1901795"/>
                  <a:pt x="0" y="1883385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5" name="Shape 23"/>
          <p:cNvSpPr/>
          <p:nvPr/>
        </p:nvSpPr>
        <p:spPr>
          <a:xfrm>
            <a:off x="500014" y="5722902"/>
            <a:ext cx="333342" cy="333342"/>
          </a:xfrm>
          <a:custGeom>
            <a:avLst/>
            <a:gdLst/>
            <a:ahLst/>
            <a:cxnLst/>
            <a:rect l="l" t="t" r="r" b="b"/>
            <a:pathLst>
              <a:path w="333342" h="333342">
                <a:moveTo>
                  <a:pt x="66668" y="0"/>
                </a:moveTo>
                <a:lnTo>
                  <a:pt x="266674" y="0"/>
                </a:lnTo>
                <a:cubicBezTo>
                  <a:pt x="303494" y="0"/>
                  <a:pt x="333342" y="29848"/>
                  <a:pt x="333342" y="66668"/>
                </a:cubicBezTo>
                <a:lnTo>
                  <a:pt x="333342" y="266674"/>
                </a:lnTo>
                <a:cubicBezTo>
                  <a:pt x="333342" y="303494"/>
                  <a:pt x="303494" y="333342"/>
                  <a:pt x="266674" y="333342"/>
                </a:cubicBezTo>
                <a:lnTo>
                  <a:pt x="66668" y="333342"/>
                </a:lnTo>
                <a:cubicBezTo>
                  <a:pt x="29848" y="333342"/>
                  <a:pt x="0" y="303494"/>
                  <a:pt x="0" y="266674"/>
                </a:cubicBezTo>
                <a:lnTo>
                  <a:pt x="0" y="66668"/>
                </a:lnTo>
                <a:cubicBezTo>
                  <a:pt x="0" y="29848"/>
                  <a:pt x="29848" y="0"/>
                  <a:pt x="66668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565033" y="5772904"/>
            <a:ext cx="283341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E5A04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3359" y="5772904"/>
            <a:ext cx="883357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数据库初始化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0014" y="6222916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>
                <a:moveTo>
                  <a:pt x="100003" y="0"/>
                </a:moveTo>
                <a:lnTo>
                  <a:pt x="100003" y="0"/>
                </a:lnTo>
                <a:cubicBezTo>
                  <a:pt x="155196" y="0"/>
                  <a:pt x="200005" y="44810"/>
                  <a:pt x="200005" y="100003"/>
                </a:cubicBezTo>
                <a:lnTo>
                  <a:pt x="200005" y="100003"/>
                </a:lnTo>
                <a:cubicBezTo>
                  <a:pt x="200005" y="155196"/>
                  <a:pt x="155196" y="200005"/>
                  <a:pt x="100003" y="200005"/>
                </a:cubicBezTo>
                <a:lnTo>
                  <a:pt x="100003" y="200005"/>
                </a:lnTo>
                <a:cubicBezTo>
                  <a:pt x="44810" y="200005"/>
                  <a:pt x="0" y="155196"/>
                  <a:pt x="0" y="100003"/>
                </a:cubicBezTo>
                <a:lnTo>
                  <a:pt x="0" y="100003"/>
                </a:lnTo>
                <a:cubicBezTo>
                  <a:pt x="0" y="44810"/>
                  <a:pt x="44810" y="0"/>
                  <a:pt x="100003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580311" y="6256250"/>
            <a:ext cx="91669" cy="133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6688" y="6189582"/>
            <a:ext cx="1566710" cy="22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创建数据库 </a:t>
            </a:r>
            <a:r>
              <a:rPr lang="en-US" sz="1050" dirty="0">
                <a:solidFill>
                  <a:srgbClr val="E5A04C"/>
                </a:solidFill>
                <a:highlight>
                  <a:srgbClr val="3C8082">
                    <a:alpha val="3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connector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0014" y="6522924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>
                <a:moveTo>
                  <a:pt x="100003" y="0"/>
                </a:moveTo>
                <a:lnTo>
                  <a:pt x="100003" y="0"/>
                </a:lnTo>
                <a:cubicBezTo>
                  <a:pt x="155196" y="0"/>
                  <a:pt x="200005" y="44810"/>
                  <a:pt x="200005" y="100003"/>
                </a:cubicBezTo>
                <a:lnTo>
                  <a:pt x="200005" y="100003"/>
                </a:lnTo>
                <a:cubicBezTo>
                  <a:pt x="200005" y="155196"/>
                  <a:pt x="155196" y="200005"/>
                  <a:pt x="100003" y="200005"/>
                </a:cubicBezTo>
                <a:lnTo>
                  <a:pt x="100003" y="200005"/>
                </a:lnTo>
                <a:cubicBezTo>
                  <a:pt x="44810" y="200005"/>
                  <a:pt x="0" y="155196"/>
                  <a:pt x="0" y="100003"/>
                </a:cubicBezTo>
                <a:lnTo>
                  <a:pt x="0" y="100003"/>
                </a:lnTo>
                <a:cubicBezTo>
                  <a:pt x="0" y="44810"/>
                  <a:pt x="44810" y="0"/>
                  <a:pt x="100003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571891" y="6556258"/>
            <a:ext cx="108336" cy="133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1A1D2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6688" y="6489590"/>
            <a:ext cx="3341758" cy="2166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执行SQL脚本: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58713" y="1133364"/>
            <a:ext cx="7500205" cy="2141725"/>
          </a:xfrm>
          <a:custGeom>
            <a:avLst/>
            <a:gdLst/>
            <a:ahLst/>
            <a:cxnLst/>
            <a:rect l="l" t="t" r="r" b="b"/>
            <a:pathLst>
              <a:path w="7500205" h="2141725">
                <a:moveTo>
                  <a:pt x="33334" y="0"/>
                </a:moveTo>
                <a:lnTo>
                  <a:pt x="7400208" y="0"/>
                </a:lnTo>
                <a:cubicBezTo>
                  <a:pt x="7455435" y="0"/>
                  <a:pt x="7500205" y="44770"/>
                  <a:pt x="7500205" y="99997"/>
                </a:cubicBezTo>
                <a:lnTo>
                  <a:pt x="7500205" y="2041728"/>
                </a:lnTo>
                <a:cubicBezTo>
                  <a:pt x="7500205" y="2096955"/>
                  <a:pt x="7455435" y="2141725"/>
                  <a:pt x="7400208" y="2141725"/>
                </a:cubicBezTo>
                <a:lnTo>
                  <a:pt x="33334" y="2141725"/>
                </a:lnTo>
                <a:cubicBezTo>
                  <a:pt x="14924" y="2141725"/>
                  <a:pt x="0" y="2126801"/>
                  <a:pt x="0" y="2108391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4358713" y="1133364"/>
            <a:ext cx="33334" cy="2141725"/>
          </a:xfrm>
          <a:custGeom>
            <a:avLst/>
            <a:gdLst/>
            <a:ahLst/>
            <a:cxnLst/>
            <a:rect l="l" t="t" r="r" b="b"/>
            <a:pathLst>
              <a:path w="33334" h="2141725">
                <a:moveTo>
                  <a:pt x="33334" y="0"/>
                </a:moveTo>
                <a:lnTo>
                  <a:pt x="33334" y="0"/>
                </a:lnTo>
                <a:lnTo>
                  <a:pt x="33334" y="2141725"/>
                </a:lnTo>
                <a:lnTo>
                  <a:pt x="33334" y="2141725"/>
                </a:lnTo>
                <a:cubicBezTo>
                  <a:pt x="14924" y="2141725"/>
                  <a:pt x="0" y="2126801"/>
                  <a:pt x="0" y="2108391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42" name="Shape 40"/>
          <p:cNvSpPr/>
          <p:nvPr/>
        </p:nvSpPr>
        <p:spPr>
          <a:xfrm>
            <a:off x="4508717" y="1266701"/>
            <a:ext cx="333342" cy="333342"/>
          </a:xfrm>
          <a:custGeom>
            <a:avLst/>
            <a:gdLst/>
            <a:ahLst/>
            <a:cxnLst/>
            <a:rect l="l" t="t" r="r" b="b"/>
            <a:pathLst>
              <a:path w="333342" h="333342">
                <a:moveTo>
                  <a:pt x="66668" y="0"/>
                </a:moveTo>
                <a:lnTo>
                  <a:pt x="266674" y="0"/>
                </a:lnTo>
                <a:cubicBezTo>
                  <a:pt x="303494" y="0"/>
                  <a:pt x="333342" y="29848"/>
                  <a:pt x="333342" y="66668"/>
                </a:cubicBezTo>
                <a:lnTo>
                  <a:pt x="333342" y="266674"/>
                </a:lnTo>
                <a:cubicBezTo>
                  <a:pt x="333342" y="303494"/>
                  <a:pt x="303494" y="333342"/>
                  <a:pt x="266674" y="333342"/>
                </a:cubicBezTo>
                <a:lnTo>
                  <a:pt x="66668" y="333342"/>
                </a:lnTo>
                <a:cubicBezTo>
                  <a:pt x="29848" y="333342"/>
                  <a:pt x="0" y="303494"/>
                  <a:pt x="0" y="266674"/>
                </a:cubicBezTo>
                <a:lnTo>
                  <a:pt x="0" y="66668"/>
                </a:lnTo>
                <a:cubicBezTo>
                  <a:pt x="0" y="29848"/>
                  <a:pt x="29848" y="0"/>
                  <a:pt x="66668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4573042" y="1316703"/>
            <a:ext cx="291675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E5A04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942062" y="1316703"/>
            <a:ext cx="616684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启动后端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08717" y="1733381"/>
            <a:ext cx="7216864" cy="900025"/>
          </a:xfrm>
          <a:custGeom>
            <a:avLst/>
            <a:gdLst/>
            <a:ahLst/>
            <a:cxnLst/>
            <a:rect l="l" t="t" r="r" b="b"/>
            <a:pathLst>
              <a:path w="7216864" h="900025">
                <a:moveTo>
                  <a:pt x="66665" y="0"/>
                </a:moveTo>
                <a:lnTo>
                  <a:pt x="7150199" y="0"/>
                </a:lnTo>
                <a:cubicBezTo>
                  <a:pt x="7187017" y="0"/>
                  <a:pt x="7216864" y="29847"/>
                  <a:pt x="7216864" y="66665"/>
                </a:cubicBezTo>
                <a:lnTo>
                  <a:pt x="7216864" y="833360"/>
                </a:lnTo>
                <a:cubicBezTo>
                  <a:pt x="7216864" y="870178"/>
                  <a:pt x="7187017" y="900025"/>
                  <a:pt x="7150199" y="900025"/>
                </a:cubicBezTo>
                <a:lnTo>
                  <a:pt x="66665" y="900025"/>
                </a:lnTo>
                <a:cubicBezTo>
                  <a:pt x="29847" y="900025"/>
                  <a:pt x="0" y="870178"/>
                  <a:pt x="0" y="833360"/>
                </a:cubicBezTo>
                <a:lnTo>
                  <a:pt x="0" y="66665"/>
                </a:lnTo>
                <a:cubicBezTo>
                  <a:pt x="0" y="29872"/>
                  <a:pt x="29872" y="0"/>
                  <a:pt x="6666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4608720" y="1833383"/>
            <a:ext cx="7075193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执行命令: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608720" y="2066723"/>
            <a:ext cx="7016859" cy="466679"/>
          </a:xfrm>
          <a:custGeom>
            <a:avLst/>
            <a:gdLst/>
            <a:ahLst/>
            <a:cxnLst/>
            <a:rect l="l" t="t" r="r" b="b"/>
            <a:pathLst>
              <a:path w="7016859" h="466679">
                <a:moveTo>
                  <a:pt x="33335" y="0"/>
                </a:moveTo>
                <a:lnTo>
                  <a:pt x="6983524" y="0"/>
                </a:lnTo>
                <a:cubicBezTo>
                  <a:pt x="7001934" y="0"/>
                  <a:pt x="7016859" y="14925"/>
                  <a:pt x="7016859" y="33335"/>
                </a:cubicBezTo>
                <a:lnTo>
                  <a:pt x="7016859" y="433345"/>
                </a:lnTo>
                <a:cubicBezTo>
                  <a:pt x="7016859" y="451743"/>
                  <a:pt x="7001922" y="466679"/>
                  <a:pt x="6983524" y="466679"/>
                </a:cubicBezTo>
                <a:lnTo>
                  <a:pt x="33335" y="466679"/>
                </a:lnTo>
                <a:cubicBezTo>
                  <a:pt x="14925" y="466679"/>
                  <a:pt x="0" y="451755"/>
                  <a:pt x="0" y="433345"/>
                </a:cubicBezTo>
                <a:lnTo>
                  <a:pt x="0" y="33335"/>
                </a:lnTo>
                <a:cubicBezTo>
                  <a:pt x="0" y="14937"/>
                  <a:pt x="14937" y="0"/>
                  <a:pt x="33335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4608720" y="2066723"/>
            <a:ext cx="7075193" cy="466679"/>
          </a:xfrm>
          <a:prstGeom prst="rect">
            <a:avLst/>
          </a:prstGeom>
          <a:noFill/>
        </p:spPr>
        <p:txBody>
          <a:bodyPr wrap="square" lIns="66668" tIns="66668" rIns="66668" bIns="66668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cd smart-admin-api-java8-springboot2/sa-admin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mvn spring-boot:run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25384" y="2758409"/>
            <a:ext cx="116670" cy="116670"/>
          </a:xfrm>
          <a:custGeom>
            <a:avLst/>
            <a:gdLst/>
            <a:ahLst/>
            <a:cxnLst/>
            <a:rect l="l" t="t" r="r" b="b"/>
            <a:pathLst>
              <a:path w="116670" h="116670">
                <a:moveTo>
                  <a:pt x="58335" y="116670"/>
                </a:moveTo>
                <a:cubicBezTo>
                  <a:pt x="90531" y="116670"/>
                  <a:pt x="116670" y="90531"/>
                  <a:pt x="116670" y="58335"/>
                </a:cubicBezTo>
                <a:cubicBezTo>
                  <a:pt x="116670" y="26139"/>
                  <a:pt x="90531" y="0"/>
                  <a:pt x="58335" y="0"/>
                </a:cubicBezTo>
                <a:cubicBezTo>
                  <a:pt x="26139" y="0"/>
                  <a:pt x="0" y="26139"/>
                  <a:pt x="0" y="58335"/>
                </a:cubicBezTo>
                <a:cubicBezTo>
                  <a:pt x="0" y="90531"/>
                  <a:pt x="26139" y="116670"/>
                  <a:pt x="58335" y="116670"/>
                </a:cubicBezTo>
                <a:close/>
                <a:moveTo>
                  <a:pt x="77567" y="48468"/>
                </a:moveTo>
                <a:lnTo>
                  <a:pt x="59338" y="77636"/>
                </a:lnTo>
                <a:cubicBezTo>
                  <a:pt x="58381" y="79162"/>
                  <a:pt x="56740" y="80119"/>
                  <a:pt x="54940" y="80211"/>
                </a:cubicBezTo>
                <a:cubicBezTo>
                  <a:pt x="53139" y="80302"/>
                  <a:pt x="51408" y="79481"/>
                  <a:pt x="50337" y="78023"/>
                </a:cubicBezTo>
                <a:lnTo>
                  <a:pt x="39399" y="63439"/>
                </a:lnTo>
                <a:cubicBezTo>
                  <a:pt x="37576" y="61024"/>
                  <a:pt x="38077" y="57606"/>
                  <a:pt x="40493" y="55783"/>
                </a:cubicBezTo>
                <a:cubicBezTo>
                  <a:pt x="42908" y="53960"/>
                  <a:pt x="46326" y="54461"/>
                  <a:pt x="48149" y="56877"/>
                </a:cubicBezTo>
                <a:lnTo>
                  <a:pt x="54302" y="65080"/>
                </a:lnTo>
                <a:lnTo>
                  <a:pt x="68293" y="42680"/>
                </a:lnTo>
                <a:cubicBezTo>
                  <a:pt x="69888" y="40128"/>
                  <a:pt x="73260" y="39331"/>
                  <a:pt x="75835" y="40948"/>
                </a:cubicBezTo>
                <a:cubicBezTo>
                  <a:pt x="78410" y="42566"/>
                  <a:pt x="79185" y="45916"/>
                  <a:pt x="77567" y="48491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50" name="Text 48"/>
          <p:cNvSpPr/>
          <p:nvPr/>
        </p:nvSpPr>
        <p:spPr>
          <a:xfrm>
            <a:off x="4721223" y="2733408"/>
            <a:ext cx="1916719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服务默认运行在端口 </a:t>
            </a:r>
            <a:r>
              <a:rPr lang="en-US" sz="92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1024</a:t>
            </a:r>
            <a:r>
              <a:rPr lang="en-US" sz="92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(或 8081)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39968" y="2994524"/>
            <a:ext cx="87502" cy="116670"/>
          </a:xfrm>
          <a:custGeom>
            <a:avLst/>
            <a:gdLst/>
            <a:ahLst/>
            <a:cxnLst/>
            <a:rect l="l" t="t" r="r" b="b"/>
            <a:pathLst>
              <a:path w="87502" h="116670">
                <a:moveTo>
                  <a:pt x="0" y="14584"/>
                </a:moveTo>
                <a:cubicBezTo>
                  <a:pt x="0" y="6540"/>
                  <a:pt x="6540" y="0"/>
                  <a:pt x="14584" y="0"/>
                </a:cubicBezTo>
                <a:lnTo>
                  <a:pt x="48650" y="0"/>
                </a:lnTo>
                <a:cubicBezTo>
                  <a:pt x="52524" y="0"/>
                  <a:pt x="56239" y="1527"/>
                  <a:pt x="58973" y="4261"/>
                </a:cubicBezTo>
                <a:lnTo>
                  <a:pt x="83241" y="28552"/>
                </a:lnTo>
                <a:cubicBezTo>
                  <a:pt x="85976" y="31287"/>
                  <a:pt x="87502" y="35001"/>
                  <a:pt x="87502" y="38875"/>
                </a:cubicBezTo>
                <a:lnTo>
                  <a:pt x="87502" y="102086"/>
                </a:lnTo>
                <a:cubicBezTo>
                  <a:pt x="87502" y="110130"/>
                  <a:pt x="80963" y="116670"/>
                  <a:pt x="72919" y="116670"/>
                </a:cubicBezTo>
                <a:lnTo>
                  <a:pt x="14584" y="116670"/>
                </a:lnTo>
                <a:cubicBezTo>
                  <a:pt x="6540" y="116670"/>
                  <a:pt x="0" y="110130"/>
                  <a:pt x="0" y="102086"/>
                </a:cubicBezTo>
                <a:lnTo>
                  <a:pt x="0" y="14584"/>
                </a:lnTo>
                <a:close/>
                <a:moveTo>
                  <a:pt x="47397" y="13330"/>
                </a:moveTo>
                <a:lnTo>
                  <a:pt x="47397" y="34636"/>
                </a:lnTo>
                <a:cubicBezTo>
                  <a:pt x="47397" y="37667"/>
                  <a:pt x="49835" y="40105"/>
                  <a:pt x="52866" y="40105"/>
                </a:cubicBezTo>
                <a:lnTo>
                  <a:pt x="74172" y="40105"/>
                </a:lnTo>
                <a:lnTo>
                  <a:pt x="47397" y="13330"/>
                </a:lnTo>
                <a:close/>
                <a:moveTo>
                  <a:pt x="27344" y="58335"/>
                </a:moveTo>
                <a:cubicBezTo>
                  <a:pt x="24314" y="58335"/>
                  <a:pt x="21876" y="60773"/>
                  <a:pt x="21876" y="63804"/>
                </a:cubicBezTo>
                <a:cubicBezTo>
                  <a:pt x="21876" y="66835"/>
                  <a:pt x="24314" y="69273"/>
                  <a:pt x="27344" y="69273"/>
                </a:cubicBezTo>
                <a:lnTo>
                  <a:pt x="60158" y="69273"/>
                </a:lnTo>
                <a:cubicBezTo>
                  <a:pt x="63189" y="69273"/>
                  <a:pt x="65627" y="66835"/>
                  <a:pt x="65627" y="63804"/>
                </a:cubicBezTo>
                <a:cubicBezTo>
                  <a:pt x="65627" y="60773"/>
                  <a:pt x="63189" y="58335"/>
                  <a:pt x="60158" y="58335"/>
                </a:cubicBezTo>
                <a:lnTo>
                  <a:pt x="27344" y="58335"/>
                </a:lnTo>
                <a:close/>
                <a:moveTo>
                  <a:pt x="27344" y="80211"/>
                </a:moveTo>
                <a:cubicBezTo>
                  <a:pt x="24314" y="80211"/>
                  <a:pt x="21876" y="82649"/>
                  <a:pt x="21876" y="85679"/>
                </a:cubicBezTo>
                <a:cubicBezTo>
                  <a:pt x="21876" y="88710"/>
                  <a:pt x="24314" y="91148"/>
                  <a:pt x="27344" y="91148"/>
                </a:cubicBezTo>
                <a:lnTo>
                  <a:pt x="60158" y="91148"/>
                </a:lnTo>
                <a:cubicBezTo>
                  <a:pt x="63189" y="91148"/>
                  <a:pt x="65627" y="88710"/>
                  <a:pt x="65627" y="85679"/>
                </a:cubicBezTo>
                <a:cubicBezTo>
                  <a:pt x="65627" y="82649"/>
                  <a:pt x="63189" y="80211"/>
                  <a:pt x="60158" y="80211"/>
                </a:cubicBezTo>
                <a:lnTo>
                  <a:pt x="27344" y="80211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52" name="Text 50"/>
          <p:cNvSpPr/>
          <p:nvPr/>
        </p:nvSpPr>
        <p:spPr>
          <a:xfrm>
            <a:off x="4721223" y="2966748"/>
            <a:ext cx="3616766" cy="17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Swagger 文档: </a:t>
            </a:r>
            <a:r>
              <a:rPr lang="en-US" sz="920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http://localhost:1024/swagger-ui/index.html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58713" y="3405651"/>
            <a:ext cx="7500205" cy="2075057"/>
          </a:xfrm>
          <a:custGeom>
            <a:avLst/>
            <a:gdLst/>
            <a:ahLst/>
            <a:cxnLst/>
            <a:rect l="l" t="t" r="r" b="b"/>
            <a:pathLst>
              <a:path w="7500205" h="2075057">
                <a:moveTo>
                  <a:pt x="33334" y="0"/>
                </a:moveTo>
                <a:lnTo>
                  <a:pt x="7400208" y="0"/>
                </a:lnTo>
                <a:cubicBezTo>
                  <a:pt x="7455435" y="0"/>
                  <a:pt x="7500205" y="44770"/>
                  <a:pt x="7500205" y="99997"/>
                </a:cubicBezTo>
                <a:lnTo>
                  <a:pt x="7500205" y="1975060"/>
                </a:lnTo>
                <a:cubicBezTo>
                  <a:pt x="7500205" y="2030287"/>
                  <a:pt x="7455435" y="2075057"/>
                  <a:pt x="7400208" y="2075057"/>
                </a:cubicBezTo>
                <a:lnTo>
                  <a:pt x="33334" y="2075057"/>
                </a:lnTo>
                <a:cubicBezTo>
                  <a:pt x="14924" y="2075057"/>
                  <a:pt x="0" y="2060132"/>
                  <a:pt x="0" y="2041722"/>
                </a:cubicBezTo>
                <a:lnTo>
                  <a:pt x="0" y="33334"/>
                </a:lnTo>
                <a:cubicBezTo>
                  <a:pt x="0" y="14937"/>
                  <a:pt x="14937" y="0"/>
                  <a:pt x="33334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4358713" y="3405651"/>
            <a:ext cx="33334" cy="2075057"/>
          </a:xfrm>
          <a:custGeom>
            <a:avLst/>
            <a:gdLst/>
            <a:ahLst/>
            <a:cxnLst/>
            <a:rect l="l" t="t" r="r" b="b"/>
            <a:pathLst>
              <a:path w="33334" h="2075057">
                <a:moveTo>
                  <a:pt x="33334" y="0"/>
                </a:moveTo>
                <a:lnTo>
                  <a:pt x="33334" y="0"/>
                </a:lnTo>
                <a:lnTo>
                  <a:pt x="33334" y="2075057"/>
                </a:lnTo>
                <a:lnTo>
                  <a:pt x="33334" y="2075057"/>
                </a:lnTo>
                <a:cubicBezTo>
                  <a:pt x="14924" y="2075057"/>
                  <a:pt x="0" y="2060132"/>
                  <a:pt x="0" y="2041722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5" name="Shape 53"/>
          <p:cNvSpPr/>
          <p:nvPr/>
        </p:nvSpPr>
        <p:spPr>
          <a:xfrm>
            <a:off x="4508717" y="3538988"/>
            <a:ext cx="333342" cy="333342"/>
          </a:xfrm>
          <a:custGeom>
            <a:avLst/>
            <a:gdLst/>
            <a:ahLst/>
            <a:cxnLst/>
            <a:rect l="l" t="t" r="r" b="b"/>
            <a:pathLst>
              <a:path w="333342" h="333342">
                <a:moveTo>
                  <a:pt x="66668" y="0"/>
                </a:moveTo>
                <a:lnTo>
                  <a:pt x="266674" y="0"/>
                </a:lnTo>
                <a:cubicBezTo>
                  <a:pt x="303494" y="0"/>
                  <a:pt x="333342" y="29848"/>
                  <a:pt x="333342" y="66668"/>
                </a:cubicBezTo>
                <a:lnTo>
                  <a:pt x="333342" y="266674"/>
                </a:lnTo>
                <a:cubicBezTo>
                  <a:pt x="333342" y="303494"/>
                  <a:pt x="303494" y="333342"/>
                  <a:pt x="266674" y="333342"/>
                </a:cubicBezTo>
                <a:lnTo>
                  <a:pt x="66668" y="333342"/>
                </a:lnTo>
                <a:cubicBezTo>
                  <a:pt x="29848" y="333342"/>
                  <a:pt x="0" y="303494"/>
                  <a:pt x="0" y="266674"/>
                </a:cubicBezTo>
                <a:lnTo>
                  <a:pt x="0" y="66668"/>
                </a:lnTo>
                <a:cubicBezTo>
                  <a:pt x="0" y="29848"/>
                  <a:pt x="29848" y="0"/>
                  <a:pt x="66668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4573129" y="3588990"/>
            <a:ext cx="291675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942062" y="3588990"/>
            <a:ext cx="616684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启动前端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508717" y="4005668"/>
            <a:ext cx="7216864" cy="1066696"/>
          </a:xfrm>
          <a:custGeom>
            <a:avLst/>
            <a:gdLst/>
            <a:ahLst/>
            <a:cxnLst/>
            <a:rect l="l" t="t" r="r" b="b"/>
            <a:pathLst>
              <a:path w="7216864" h="1066696">
                <a:moveTo>
                  <a:pt x="66668" y="0"/>
                </a:moveTo>
                <a:lnTo>
                  <a:pt x="7150195" y="0"/>
                </a:lnTo>
                <a:cubicBezTo>
                  <a:pt x="7187015" y="0"/>
                  <a:pt x="7216864" y="29848"/>
                  <a:pt x="7216864" y="66668"/>
                </a:cubicBezTo>
                <a:lnTo>
                  <a:pt x="7216864" y="1000027"/>
                </a:lnTo>
                <a:cubicBezTo>
                  <a:pt x="7216864" y="1036847"/>
                  <a:pt x="7187015" y="1066696"/>
                  <a:pt x="7150195" y="1066696"/>
                </a:cubicBezTo>
                <a:lnTo>
                  <a:pt x="66668" y="1066696"/>
                </a:lnTo>
                <a:cubicBezTo>
                  <a:pt x="29848" y="1066696"/>
                  <a:pt x="0" y="1036847"/>
                  <a:pt x="0" y="1000027"/>
                </a:cubicBezTo>
                <a:lnTo>
                  <a:pt x="0" y="66668"/>
                </a:lnTo>
                <a:cubicBezTo>
                  <a:pt x="0" y="29848"/>
                  <a:pt x="29848" y="0"/>
                  <a:pt x="6666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4608720" y="4105671"/>
            <a:ext cx="7075193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执行命令: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608720" y="4339010"/>
            <a:ext cx="7016859" cy="633351"/>
          </a:xfrm>
          <a:custGeom>
            <a:avLst/>
            <a:gdLst/>
            <a:ahLst/>
            <a:cxnLst/>
            <a:rect l="l" t="t" r="r" b="b"/>
            <a:pathLst>
              <a:path w="7016859" h="633351">
                <a:moveTo>
                  <a:pt x="33333" y="0"/>
                </a:moveTo>
                <a:lnTo>
                  <a:pt x="6983525" y="0"/>
                </a:lnTo>
                <a:cubicBezTo>
                  <a:pt x="7001935" y="0"/>
                  <a:pt x="7016859" y="14924"/>
                  <a:pt x="7016859" y="33333"/>
                </a:cubicBezTo>
                <a:lnTo>
                  <a:pt x="7016859" y="600017"/>
                </a:lnTo>
                <a:cubicBezTo>
                  <a:pt x="7016859" y="618427"/>
                  <a:pt x="7001935" y="633351"/>
                  <a:pt x="6983525" y="633351"/>
                </a:cubicBezTo>
                <a:lnTo>
                  <a:pt x="33333" y="633351"/>
                </a:lnTo>
                <a:cubicBezTo>
                  <a:pt x="14924" y="633351"/>
                  <a:pt x="0" y="618427"/>
                  <a:pt x="0" y="600017"/>
                </a:cubicBezTo>
                <a:lnTo>
                  <a:pt x="0" y="33333"/>
                </a:lnTo>
                <a:cubicBezTo>
                  <a:pt x="0" y="14924"/>
                  <a:pt x="14924" y="0"/>
                  <a:pt x="33333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4608720" y="4339010"/>
            <a:ext cx="7075193" cy="633351"/>
          </a:xfrm>
          <a:prstGeom prst="rect">
            <a:avLst/>
          </a:prstGeom>
          <a:noFill/>
        </p:spPr>
        <p:txBody>
          <a:bodyPr wrap="square" lIns="66668" tIns="66668" rIns="66668" bIns="66668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cd smart-admin-web-javascript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npm install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npm run dev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525384" y="5200142"/>
            <a:ext cx="116670" cy="116670"/>
          </a:xfrm>
          <a:custGeom>
            <a:avLst/>
            <a:gdLst/>
            <a:ahLst/>
            <a:cxnLst/>
            <a:rect l="l" t="t" r="r" b="b"/>
            <a:pathLst>
              <a:path w="116670" h="116670">
                <a:moveTo>
                  <a:pt x="80188" y="63804"/>
                </a:moveTo>
                <a:lnTo>
                  <a:pt x="36687" y="63804"/>
                </a:lnTo>
                <a:cubicBezTo>
                  <a:pt x="37348" y="78501"/>
                  <a:pt x="40607" y="92037"/>
                  <a:pt x="45232" y="101949"/>
                </a:cubicBezTo>
                <a:cubicBezTo>
                  <a:pt x="47830" y="107532"/>
                  <a:pt x="50633" y="111474"/>
                  <a:pt x="53231" y="113890"/>
                </a:cubicBezTo>
                <a:cubicBezTo>
                  <a:pt x="55783" y="116282"/>
                  <a:pt x="57537" y="116670"/>
                  <a:pt x="58449" y="116670"/>
                </a:cubicBezTo>
                <a:cubicBezTo>
                  <a:pt x="59360" y="116670"/>
                  <a:pt x="61115" y="116282"/>
                  <a:pt x="63667" y="113890"/>
                </a:cubicBezTo>
                <a:cubicBezTo>
                  <a:pt x="66265" y="111474"/>
                  <a:pt x="69068" y="107509"/>
                  <a:pt x="71665" y="101949"/>
                </a:cubicBezTo>
                <a:cubicBezTo>
                  <a:pt x="76291" y="92037"/>
                  <a:pt x="79550" y="78501"/>
                  <a:pt x="80211" y="63804"/>
                </a:cubicBezTo>
                <a:close/>
                <a:moveTo>
                  <a:pt x="36664" y="52866"/>
                </a:moveTo>
                <a:lnTo>
                  <a:pt x="80165" y="52866"/>
                </a:lnTo>
                <a:cubicBezTo>
                  <a:pt x="79527" y="38168"/>
                  <a:pt x="76268" y="24633"/>
                  <a:pt x="71643" y="14720"/>
                </a:cubicBezTo>
                <a:cubicBezTo>
                  <a:pt x="69045" y="9160"/>
                  <a:pt x="66242" y="5195"/>
                  <a:pt x="63644" y="2780"/>
                </a:cubicBezTo>
                <a:cubicBezTo>
                  <a:pt x="61092" y="387"/>
                  <a:pt x="59338" y="0"/>
                  <a:pt x="58426" y="0"/>
                </a:cubicBezTo>
                <a:cubicBezTo>
                  <a:pt x="57515" y="0"/>
                  <a:pt x="55760" y="387"/>
                  <a:pt x="53208" y="2780"/>
                </a:cubicBezTo>
                <a:cubicBezTo>
                  <a:pt x="50610" y="5195"/>
                  <a:pt x="47807" y="9160"/>
                  <a:pt x="45210" y="14720"/>
                </a:cubicBezTo>
                <a:cubicBezTo>
                  <a:pt x="40584" y="24633"/>
                  <a:pt x="37325" y="38168"/>
                  <a:pt x="36664" y="52866"/>
                </a:cubicBezTo>
                <a:close/>
                <a:moveTo>
                  <a:pt x="25727" y="52866"/>
                </a:moveTo>
                <a:cubicBezTo>
                  <a:pt x="26524" y="33360"/>
                  <a:pt x="31560" y="15245"/>
                  <a:pt x="38920" y="3350"/>
                </a:cubicBezTo>
                <a:cubicBezTo>
                  <a:pt x="17933" y="10778"/>
                  <a:pt x="2484" y="29897"/>
                  <a:pt x="342" y="52866"/>
                </a:cubicBezTo>
                <a:lnTo>
                  <a:pt x="25727" y="52866"/>
                </a:lnTo>
                <a:close/>
                <a:moveTo>
                  <a:pt x="342" y="63804"/>
                </a:moveTo>
                <a:cubicBezTo>
                  <a:pt x="2484" y="86773"/>
                  <a:pt x="17933" y="105892"/>
                  <a:pt x="38920" y="113320"/>
                </a:cubicBezTo>
                <a:cubicBezTo>
                  <a:pt x="31560" y="101425"/>
                  <a:pt x="26524" y="83310"/>
                  <a:pt x="25727" y="63804"/>
                </a:cubicBezTo>
                <a:lnTo>
                  <a:pt x="342" y="63804"/>
                </a:lnTo>
                <a:close/>
                <a:moveTo>
                  <a:pt x="91126" y="63804"/>
                </a:moveTo>
                <a:cubicBezTo>
                  <a:pt x="90328" y="83310"/>
                  <a:pt x="85292" y="101425"/>
                  <a:pt x="77932" y="113320"/>
                </a:cubicBezTo>
                <a:cubicBezTo>
                  <a:pt x="98919" y="105869"/>
                  <a:pt x="114368" y="86773"/>
                  <a:pt x="116510" y="63804"/>
                </a:cubicBezTo>
                <a:lnTo>
                  <a:pt x="91126" y="63804"/>
                </a:lnTo>
                <a:close/>
                <a:moveTo>
                  <a:pt x="116510" y="52866"/>
                </a:moveTo>
                <a:cubicBezTo>
                  <a:pt x="114368" y="29897"/>
                  <a:pt x="98919" y="10778"/>
                  <a:pt x="77932" y="3350"/>
                </a:cubicBezTo>
                <a:cubicBezTo>
                  <a:pt x="85292" y="15245"/>
                  <a:pt x="90328" y="33360"/>
                  <a:pt x="91126" y="52866"/>
                </a:cubicBezTo>
                <a:lnTo>
                  <a:pt x="116510" y="52866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63" name="Text 61"/>
          <p:cNvSpPr/>
          <p:nvPr/>
        </p:nvSpPr>
        <p:spPr>
          <a:xfrm>
            <a:off x="4721223" y="5172366"/>
            <a:ext cx="1933386" cy="17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访问地址: </a:t>
            </a:r>
            <a:r>
              <a:rPr lang="en-US" sz="92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http://localhost:5173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344824" y="5589565"/>
            <a:ext cx="7514094" cy="1238923"/>
          </a:xfrm>
          <a:custGeom>
            <a:avLst/>
            <a:gdLst/>
            <a:ahLst/>
            <a:cxnLst/>
            <a:rect l="l" t="t" r="r" b="b"/>
            <a:pathLst>
              <a:path w="7514094" h="1238923">
                <a:moveTo>
                  <a:pt x="100006" y="0"/>
                </a:moveTo>
                <a:lnTo>
                  <a:pt x="7414088" y="0"/>
                </a:lnTo>
                <a:cubicBezTo>
                  <a:pt x="7469320" y="0"/>
                  <a:pt x="7514094" y="44774"/>
                  <a:pt x="7514094" y="100006"/>
                </a:cubicBezTo>
                <a:lnTo>
                  <a:pt x="7514094" y="1138917"/>
                </a:lnTo>
                <a:cubicBezTo>
                  <a:pt x="7514094" y="1194149"/>
                  <a:pt x="7469320" y="1238923"/>
                  <a:pt x="7414088" y="1238923"/>
                </a:cubicBezTo>
                <a:lnTo>
                  <a:pt x="100006" y="1238923"/>
                </a:lnTo>
                <a:cubicBezTo>
                  <a:pt x="44774" y="1238923"/>
                  <a:pt x="0" y="1194149"/>
                  <a:pt x="0" y="1138917"/>
                </a:cubicBezTo>
                <a:lnTo>
                  <a:pt x="0" y="100006"/>
                </a:lnTo>
                <a:cubicBezTo>
                  <a:pt x="0" y="44774"/>
                  <a:pt x="44774" y="0"/>
                  <a:pt x="100006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8467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08331" y="5806015"/>
            <a:ext cx="125003" cy="166671"/>
          </a:xfrm>
          <a:custGeom>
            <a:avLst/>
            <a:gdLst/>
            <a:ahLst/>
            <a:cxnLst/>
            <a:rect l="l" t="t" r="r" b="b"/>
            <a:pathLst>
              <a:path w="125003" h="166671">
                <a:moveTo>
                  <a:pt x="95348" y="125003"/>
                </a:moveTo>
                <a:cubicBezTo>
                  <a:pt x="97724" y="117744"/>
                  <a:pt x="102477" y="111168"/>
                  <a:pt x="107848" y="105504"/>
                </a:cubicBezTo>
                <a:cubicBezTo>
                  <a:pt x="118493" y="94306"/>
                  <a:pt x="125003" y="79169"/>
                  <a:pt x="125003" y="62502"/>
                </a:cubicBezTo>
                <a:cubicBezTo>
                  <a:pt x="125003" y="27996"/>
                  <a:pt x="97008" y="0"/>
                  <a:pt x="62502" y="0"/>
                </a:cubicBezTo>
                <a:cubicBezTo>
                  <a:pt x="27996" y="0"/>
                  <a:pt x="0" y="27996"/>
                  <a:pt x="0" y="62502"/>
                </a:cubicBezTo>
                <a:cubicBezTo>
                  <a:pt x="0" y="79169"/>
                  <a:pt x="6511" y="94306"/>
                  <a:pt x="17155" y="105504"/>
                </a:cubicBezTo>
                <a:cubicBezTo>
                  <a:pt x="22527" y="111168"/>
                  <a:pt x="27312" y="117744"/>
                  <a:pt x="29656" y="125003"/>
                </a:cubicBezTo>
                <a:lnTo>
                  <a:pt x="95315" y="125003"/>
                </a:lnTo>
                <a:close/>
                <a:moveTo>
                  <a:pt x="93753" y="140629"/>
                </a:moveTo>
                <a:lnTo>
                  <a:pt x="31251" y="140629"/>
                </a:lnTo>
                <a:lnTo>
                  <a:pt x="31251" y="145837"/>
                </a:lnTo>
                <a:cubicBezTo>
                  <a:pt x="31251" y="160226"/>
                  <a:pt x="42905" y="171880"/>
                  <a:pt x="57293" y="171880"/>
                </a:cubicBezTo>
                <a:lnTo>
                  <a:pt x="67710" y="171880"/>
                </a:lnTo>
                <a:cubicBezTo>
                  <a:pt x="82099" y="171880"/>
                  <a:pt x="93753" y="160226"/>
                  <a:pt x="93753" y="145837"/>
                </a:cubicBezTo>
                <a:lnTo>
                  <a:pt x="93753" y="140629"/>
                </a:lnTo>
                <a:close/>
                <a:moveTo>
                  <a:pt x="59897" y="36459"/>
                </a:moveTo>
                <a:cubicBezTo>
                  <a:pt x="46941" y="36459"/>
                  <a:pt x="36459" y="46941"/>
                  <a:pt x="36459" y="59897"/>
                </a:cubicBezTo>
                <a:cubicBezTo>
                  <a:pt x="36459" y="64227"/>
                  <a:pt x="32976" y="67710"/>
                  <a:pt x="28647" y="67710"/>
                </a:cubicBezTo>
                <a:cubicBezTo>
                  <a:pt x="24317" y="67710"/>
                  <a:pt x="20834" y="64227"/>
                  <a:pt x="20834" y="59897"/>
                </a:cubicBezTo>
                <a:cubicBezTo>
                  <a:pt x="20834" y="38315"/>
                  <a:pt x="38315" y="20834"/>
                  <a:pt x="59897" y="20834"/>
                </a:cubicBezTo>
                <a:cubicBezTo>
                  <a:pt x="64227" y="20834"/>
                  <a:pt x="67710" y="24317"/>
                  <a:pt x="67710" y="28647"/>
                </a:cubicBezTo>
                <a:cubicBezTo>
                  <a:pt x="67710" y="32976"/>
                  <a:pt x="64227" y="36459"/>
                  <a:pt x="59897" y="36459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66" name="Text 64"/>
          <p:cNvSpPr/>
          <p:nvPr/>
        </p:nvSpPr>
        <p:spPr>
          <a:xfrm>
            <a:off x="4841875" y="5772785"/>
            <a:ext cx="1054100" cy="233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部署小贴士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583331" y="6139358"/>
            <a:ext cx="116670" cy="116670"/>
          </a:xfrm>
          <a:custGeom>
            <a:avLst/>
            <a:gdLst/>
            <a:ahLst/>
            <a:cxnLst/>
            <a:rect l="l" t="t" r="r" b="b"/>
            <a:pathLst>
              <a:path w="116670" h="116670">
                <a:moveTo>
                  <a:pt x="58335" y="116670"/>
                </a:moveTo>
                <a:cubicBezTo>
                  <a:pt x="90531" y="116670"/>
                  <a:pt x="116670" y="90531"/>
                  <a:pt x="116670" y="58335"/>
                </a:cubicBezTo>
                <a:cubicBezTo>
                  <a:pt x="116670" y="26139"/>
                  <a:pt x="90531" y="0"/>
                  <a:pt x="58335" y="0"/>
                </a:cubicBezTo>
                <a:cubicBezTo>
                  <a:pt x="26139" y="0"/>
                  <a:pt x="0" y="26139"/>
                  <a:pt x="0" y="58335"/>
                </a:cubicBezTo>
                <a:cubicBezTo>
                  <a:pt x="0" y="90531"/>
                  <a:pt x="26139" y="116670"/>
                  <a:pt x="58335" y="116670"/>
                </a:cubicBezTo>
                <a:close/>
                <a:moveTo>
                  <a:pt x="77567" y="48468"/>
                </a:moveTo>
                <a:lnTo>
                  <a:pt x="59338" y="77636"/>
                </a:lnTo>
                <a:cubicBezTo>
                  <a:pt x="58381" y="79162"/>
                  <a:pt x="56740" y="80119"/>
                  <a:pt x="54940" y="80211"/>
                </a:cubicBezTo>
                <a:cubicBezTo>
                  <a:pt x="53139" y="80302"/>
                  <a:pt x="51408" y="79481"/>
                  <a:pt x="50337" y="78023"/>
                </a:cubicBezTo>
                <a:lnTo>
                  <a:pt x="39399" y="63439"/>
                </a:lnTo>
                <a:cubicBezTo>
                  <a:pt x="37576" y="61024"/>
                  <a:pt x="38077" y="57606"/>
                  <a:pt x="40493" y="55783"/>
                </a:cubicBezTo>
                <a:cubicBezTo>
                  <a:pt x="42908" y="53960"/>
                  <a:pt x="46326" y="54461"/>
                  <a:pt x="48149" y="56877"/>
                </a:cubicBezTo>
                <a:lnTo>
                  <a:pt x="54302" y="65080"/>
                </a:lnTo>
                <a:lnTo>
                  <a:pt x="68293" y="42680"/>
                </a:lnTo>
                <a:cubicBezTo>
                  <a:pt x="69888" y="40128"/>
                  <a:pt x="73260" y="39331"/>
                  <a:pt x="75835" y="40948"/>
                </a:cubicBezTo>
                <a:cubicBezTo>
                  <a:pt x="78410" y="42566"/>
                  <a:pt x="79185" y="45916"/>
                  <a:pt x="77567" y="48491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68" name="Text 66"/>
          <p:cNvSpPr/>
          <p:nvPr/>
        </p:nvSpPr>
        <p:spPr>
          <a:xfrm>
            <a:off x="4779169" y="6106023"/>
            <a:ext cx="2083390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确保MySQL服务已启动且端口未被占用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583331" y="6372697"/>
            <a:ext cx="116670" cy="116670"/>
          </a:xfrm>
          <a:custGeom>
            <a:avLst/>
            <a:gdLst/>
            <a:ahLst/>
            <a:cxnLst/>
            <a:rect l="l" t="t" r="r" b="b"/>
            <a:pathLst>
              <a:path w="116670" h="116670">
                <a:moveTo>
                  <a:pt x="58335" y="116670"/>
                </a:moveTo>
                <a:cubicBezTo>
                  <a:pt x="90531" y="116670"/>
                  <a:pt x="116670" y="90531"/>
                  <a:pt x="116670" y="58335"/>
                </a:cubicBezTo>
                <a:cubicBezTo>
                  <a:pt x="116670" y="26139"/>
                  <a:pt x="90531" y="0"/>
                  <a:pt x="58335" y="0"/>
                </a:cubicBezTo>
                <a:cubicBezTo>
                  <a:pt x="26139" y="0"/>
                  <a:pt x="0" y="26139"/>
                  <a:pt x="0" y="58335"/>
                </a:cubicBezTo>
                <a:cubicBezTo>
                  <a:pt x="0" y="90531"/>
                  <a:pt x="26139" y="116670"/>
                  <a:pt x="58335" y="116670"/>
                </a:cubicBezTo>
                <a:close/>
                <a:moveTo>
                  <a:pt x="77567" y="48468"/>
                </a:moveTo>
                <a:lnTo>
                  <a:pt x="59338" y="77636"/>
                </a:lnTo>
                <a:cubicBezTo>
                  <a:pt x="58381" y="79162"/>
                  <a:pt x="56740" y="80119"/>
                  <a:pt x="54940" y="80211"/>
                </a:cubicBezTo>
                <a:cubicBezTo>
                  <a:pt x="53139" y="80302"/>
                  <a:pt x="51408" y="79481"/>
                  <a:pt x="50337" y="78023"/>
                </a:cubicBezTo>
                <a:lnTo>
                  <a:pt x="39399" y="63439"/>
                </a:lnTo>
                <a:cubicBezTo>
                  <a:pt x="37576" y="61024"/>
                  <a:pt x="38077" y="57606"/>
                  <a:pt x="40493" y="55783"/>
                </a:cubicBezTo>
                <a:cubicBezTo>
                  <a:pt x="42908" y="53960"/>
                  <a:pt x="46326" y="54461"/>
                  <a:pt x="48149" y="56877"/>
                </a:cubicBezTo>
                <a:lnTo>
                  <a:pt x="54302" y="65080"/>
                </a:lnTo>
                <a:lnTo>
                  <a:pt x="68293" y="42680"/>
                </a:lnTo>
                <a:cubicBezTo>
                  <a:pt x="69888" y="40128"/>
                  <a:pt x="73260" y="39331"/>
                  <a:pt x="75835" y="40948"/>
                </a:cubicBezTo>
                <a:cubicBezTo>
                  <a:pt x="78410" y="42566"/>
                  <a:pt x="79185" y="45916"/>
                  <a:pt x="77567" y="48491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70" name="Text 68"/>
          <p:cNvSpPr/>
          <p:nvPr/>
        </p:nvSpPr>
        <p:spPr>
          <a:xfrm>
            <a:off x="4779169" y="6339363"/>
            <a:ext cx="2091724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修改数据库连接配置：application.yaml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83331" y="6606037"/>
            <a:ext cx="116670" cy="116670"/>
          </a:xfrm>
          <a:custGeom>
            <a:avLst/>
            <a:gdLst/>
            <a:ahLst/>
            <a:cxnLst/>
            <a:rect l="l" t="t" r="r" b="b"/>
            <a:pathLst>
              <a:path w="116670" h="116670">
                <a:moveTo>
                  <a:pt x="58335" y="116670"/>
                </a:moveTo>
                <a:cubicBezTo>
                  <a:pt x="90531" y="116670"/>
                  <a:pt x="116670" y="90531"/>
                  <a:pt x="116670" y="58335"/>
                </a:cubicBezTo>
                <a:cubicBezTo>
                  <a:pt x="116670" y="26139"/>
                  <a:pt x="90531" y="0"/>
                  <a:pt x="58335" y="0"/>
                </a:cubicBezTo>
                <a:cubicBezTo>
                  <a:pt x="26139" y="0"/>
                  <a:pt x="0" y="26139"/>
                  <a:pt x="0" y="58335"/>
                </a:cubicBezTo>
                <a:cubicBezTo>
                  <a:pt x="0" y="90531"/>
                  <a:pt x="26139" y="116670"/>
                  <a:pt x="58335" y="116670"/>
                </a:cubicBezTo>
                <a:close/>
                <a:moveTo>
                  <a:pt x="77567" y="48468"/>
                </a:moveTo>
                <a:lnTo>
                  <a:pt x="59338" y="77636"/>
                </a:lnTo>
                <a:cubicBezTo>
                  <a:pt x="58381" y="79162"/>
                  <a:pt x="56740" y="80119"/>
                  <a:pt x="54940" y="80211"/>
                </a:cubicBezTo>
                <a:cubicBezTo>
                  <a:pt x="53139" y="80302"/>
                  <a:pt x="51408" y="79481"/>
                  <a:pt x="50337" y="78023"/>
                </a:cubicBezTo>
                <a:lnTo>
                  <a:pt x="39399" y="63439"/>
                </a:lnTo>
                <a:cubicBezTo>
                  <a:pt x="37576" y="61024"/>
                  <a:pt x="38077" y="57606"/>
                  <a:pt x="40493" y="55783"/>
                </a:cubicBezTo>
                <a:cubicBezTo>
                  <a:pt x="42908" y="53960"/>
                  <a:pt x="46326" y="54461"/>
                  <a:pt x="48149" y="56877"/>
                </a:cubicBezTo>
                <a:lnTo>
                  <a:pt x="54302" y="65080"/>
                </a:lnTo>
                <a:lnTo>
                  <a:pt x="68293" y="42680"/>
                </a:lnTo>
                <a:cubicBezTo>
                  <a:pt x="69888" y="40128"/>
                  <a:pt x="73260" y="39331"/>
                  <a:pt x="75835" y="40948"/>
                </a:cubicBezTo>
                <a:cubicBezTo>
                  <a:pt x="78410" y="42566"/>
                  <a:pt x="79185" y="45916"/>
                  <a:pt x="77567" y="48491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72" name="Text 70"/>
          <p:cNvSpPr/>
          <p:nvPr/>
        </p:nvSpPr>
        <p:spPr>
          <a:xfrm>
            <a:off x="4779169" y="6572703"/>
            <a:ext cx="2341731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后端启动成功后再启动前端，避免Proxy错误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495" y="337495"/>
            <a:ext cx="33749" cy="337495"/>
          </a:xfrm>
          <a:custGeom>
            <a:avLst/>
            <a:gdLst/>
            <a:ahLst/>
            <a:cxnLst/>
            <a:rect l="l" t="t" r="r" b="b"/>
            <a:pathLst>
              <a:path w="33749" h="337495">
                <a:moveTo>
                  <a:pt x="16875" y="0"/>
                </a:moveTo>
                <a:lnTo>
                  <a:pt x="16875" y="0"/>
                </a:lnTo>
                <a:cubicBezTo>
                  <a:pt x="26194" y="0"/>
                  <a:pt x="33749" y="7555"/>
                  <a:pt x="33749" y="16875"/>
                </a:cubicBezTo>
                <a:lnTo>
                  <a:pt x="33749" y="320620"/>
                </a:lnTo>
                <a:cubicBezTo>
                  <a:pt x="33749" y="329940"/>
                  <a:pt x="26194" y="337495"/>
                  <a:pt x="16875" y="337495"/>
                </a:cubicBezTo>
                <a:lnTo>
                  <a:pt x="16875" y="337495"/>
                </a:lnTo>
                <a:cubicBezTo>
                  <a:pt x="7555" y="337495"/>
                  <a:pt x="0" y="329940"/>
                  <a:pt x="0" y="320620"/>
                </a:cubicBezTo>
                <a:lnTo>
                  <a:pt x="0" y="16875"/>
                </a:lnTo>
                <a:cubicBezTo>
                  <a:pt x="0" y="7555"/>
                  <a:pt x="7555" y="0"/>
                  <a:pt x="16875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" name="Text 1"/>
          <p:cNvSpPr/>
          <p:nvPr/>
        </p:nvSpPr>
        <p:spPr>
          <a:xfrm>
            <a:off x="472493" y="337495"/>
            <a:ext cx="2857870" cy="337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目录结构与常见问题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6242" y="742489"/>
            <a:ext cx="11424199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Directory Structure &amp; FAQ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4370" y="1147482"/>
            <a:ext cx="7551446" cy="3003704"/>
          </a:xfrm>
          <a:custGeom>
            <a:avLst/>
            <a:gdLst/>
            <a:ahLst/>
            <a:cxnLst/>
            <a:rect l="l" t="t" r="r" b="b"/>
            <a:pathLst>
              <a:path w="7551446" h="3003704">
                <a:moveTo>
                  <a:pt x="33749" y="0"/>
                </a:moveTo>
                <a:lnTo>
                  <a:pt x="7450192" y="0"/>
                </a:lnTo>
                <a:cubicBezTo>
                  <a:pt x="7506113" y="0"/>
                  <a:pt x="7551446" y="45333"/>
                  <a:pt x="7551446" y="101255"/>
                </a:cubicBezTo>
                <a:lnTo>
                  <a:pt x="7551446" y="2902449"/>
                </a:lnTo>
                <a:cubicBezTo>
                  <a:pt x="7551446" y="2958370"/>
                  <a:pt x="7506113" y="3003704"/>
                  <a:pt x="7450192" y="3003704"/>
                </a:cubicBezTo>
                <a:lnTo>
                  <a:pt x="33749" y="3003704"/>
                </a:lnTo>
                <a:cubicBezTo>
                  <a:pt x="15110" y="3003704"/>
                  <a:pt x="0" y="2988594"/>
                  <a:pt x="0" y="2969954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354370" y="1147482"/>
            <a:ext cx="33749" cy="3003704"/>
          </a:xfrm>
          <a:custGeom>
            <a:avLst/>
            <a:gdLst/>
            <a:ahLst/>
            <a:cxnLst/>
            <a:rect l="l" t="t" r="r" b="b"/>
            <a:pathLst>
              <a:path w="33749" h="3003704">
                <a:moveTo>
                  <a:pt x="33749" y="0"/>
                </a:moveTo>
                <a:lnTo>
                  <a:pt x="33749" y="0"/>
                </a:lnTo>
                <a:lnTo>
                  <a:pt x="33749" y="3003704"/>
                </a:lnTo>
                <a:lnTo>
                  <a:pt x="33749" y="3003704"/>
                </a:lnTo>
                <a:cubicBezTo>
                  <a:pt x="15110" y="3003704"/>
                  <a:pt x="0" y="2988594"/>
                  <a:pt x="0" y="2969954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7" name="Shape 5"/>
          <p:cNvSpPr/>
          <p:nvPr/>
        </p:nvSpPr>
        <p:spPr>
          <a:xfrm>
            <a:off x="539992" y="1316230"/>
            <a:ext cx="337495" cy="337495"/>
          </a:xfrm>
          <a:custGeom>
            <a:avLst/>
            <a:gdLst/>
            <a:ahLst/>
            <a:cxnLst/>
            <a:rect l="l" t="t" r="r" b="b"/>
            <a:pathLst>
              <a:path w="337495" h="337495">
                <a:moveTo>
                  <a:pt x="67499" y="0"/>
                </a:moveTo>
                <a:lnTo>
                  <a:pt x="269996" y="0"/>
                </a:lnTo>
                <a:cubicBezTo>
                  <a:pt x="307274" y="0"/>
                  <a:pt x="337495" y="30220"/>
                  <a:pt x="337495" y="67499"/>
                </a:cubicBezTo>
                <a:lnTo>
                  <a:pt x="337495" y="269996"/>
                </a:lnTo>
                <a:cubicBezTo>
                  <a:pt x="337495" y="307274"/>
                  <a:pt x="307274" y="337495"/>
                  <a:pt x="269996" y="337495"/>
                </a:cubicBezTo>
                <a:lnTo>
                  <a:pt x="67499" y="337495"/>
                </a:lnTo>
                <a:cubicBezTo>
                  <a:pt x="30220" y="337495"/>
                  <a:pt x="0" y="307274"/>
                  <a:pt x="0" y="269996"/>
                </a:cubicBezTo>
                <a:lnTo>
                  <a:pt x="0" y="67499"/>
                </a:lnTo>
                <a:cubicBezTo>
                  <a:pt x="0" y="30220"/>
                  <a:pt x="30220" y="0"/>
                  <a:pt x="67499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13819" y="1400603"/>
            <a:ext cx="189841" cy="168747"/>
          </a:xfrm>
          <a:custGeom>
            <a:avLst/>
            <a:gdLst/>
            <a:ahLst/>
            <a:cxnLst/>
            <a:rect l="l" t="t" r="r" b="b"/>
            <a:pathLst>
              <a:path w="189841" h="168747">
                <a:moveTo>
                  <a:pt x="15820" y="7910"/>
                </a:moveTo>
                <a:cubicBezTo>
                  <a:pt x="15820" y="3527"/>
                  <a:pt x="12294" y="0"/>
                  <a:pt x="7910" y="0"/>
                </a:cubicBezTo>
                <a:cubicBezTo>
                  <a:pt x="3527" y="0"/>
                  <a:pt x="0" y="3527"/>
                  <a:pt x="0" y="7910"/>
                </a:cubicBezTo>
                <a:lnTo>
                  <a:pt x="0" y="129197"/>
                </a:lnTo>
                <a:cubicBezTo>
                  <a:pt x="0" y="139381"/>
                  <a:pt x="8273" y="147654"/>
                  <a:pt x="18457" y="147654"/>
                </a:cubicBezTo>
                <a:lnTo>
                  <a:pt x="79100" y="147654"/>
                </a:lnTo>
                <a:lnTo>
                  <a:pt x="79100" y="131834"/>
                </a:lnTo>
                <a:lnTo>
                  <a:pt x="18457" y="131834"/>
                </a:lnTo>
                <a:cubicBezTo>
                  <a:pt x="17007" y="131834"/>
                  <a:pt x="15820" y="130647"/>
                  <a:pt x="15820" y="129197"/>
                </a:cubicBezTo>
                <a:lnTo>
                  <a:pt x="15820" y="52734"/>
                </a:lnTo>
                <a:lnTo>
                  <a:pt x="79100" y="52734"/>
                </a:lnTo>
                <a:lnTo>
                  <a:pt x="79100" y="36913"/>
                </a:lnTo>
                <a:lnTo>
                  <a:pt x="15820" y="36913"/>
                </a:lnTo>
                <a:lnTo>
                  <a:pt x="15820" y="7910"/>
                </a:lnTo>
                <a:close/>
                <a:moveTo>
                  <a:pt x="110740" y="73827"/>
                </a:moveTo>
                <a:lnTo>
                  <a:pt x="174021" y="73827"/>
                </a:lnTo>
                <a:cubicBezTo>
                  <a:pt x="182755" y="73827"/>
                  <a:pt x="189841" y="66741"/>
                  <a:pt x="189841" y="58007"/>
                </a:cubicBezTo>
                <a:lnTo>
                  <a:pt x="189841" y="26367"/>
                </a:lnTo>
                <a:cubicBezTo>
                  <a:pt x="189841" y="17633"/>
                  <a:pt x="182755" y="10547"/>
                  <a:pt x="174021" y="10547"/>
                </a:cubicBezTo>
                <a:lnTo>
                  <a:pt x="146764" y="10547"/>
                </a:lnTo>
                <a:cubicBezTo>
                  <a:pt x="143963" y="10547"/>
                  <a:pt x="141293" y="9426"/>
                  <a:pt x="139315" y="7449"/>
                </a:cubicBezTo>
                <a:lnTo>
                  <a:pt x="136481" y="4614"/>
                </a:lnTo>
                <a:cubicBezTo>
                  <a:pt x="133515" y="1648"/>
                  <a:pt x="129494" y="-33"/>
                  <a:pt x="125308" y="-33"/>
                </a:cubicBezTo>
                <a:lnTo>
                  <a:pt x="110740" y="0"/>
                </a:lnTo>
                <a:cubicBezTo>
                  <a:pt x="102006" y="0"/>
                  <a:pt x="94920" y="7086"/>
                  <a:pt x="94920" y="15820"/>
                </a:cubicBezTo>
                <a:lnTo>
                  <a:pt x="94920" y="58007"/>
                </a:lnTo>
                <a:cubicBezTo>
                  <a:pt x="94920" y="66741"/>
                  <a:pt x="102006" y="73827"/>
                  <a:pt x="110740" y="73827"/>
                </a:cubicBezTo>
                <a:close/>
                <a:moveTo>
                  <a:pt x="110740" y="168747"/>
                </a:moveTo>
                <a:lnTo>
                  <a:pt x="174021" y="168747"/>
                </a:lnTo>
                <a:cubicBezTo>
                  <a:pt x="182755" y="168747"/>
                  <a:pt x="189841" y="161661"/>
                  <a:pt x="189841" y="152927"/>
                </a:cubicBezTo>
                <a:lnTo>
                  <a:pt x="189841" y="121287"/>
                </a:lnTo>
                <a:cubicBezTo>
                  <a:pt x="189841" y="112553"/>
                  <a:pt x="182755" y="105467"/>
                  <a:pt x="174021" y="105467"/>
                </a:cubicBezTo>
                <a:lnTo>
                  <a:pt x="146764" y="105467"/>
                </a:lnTo>
                <a:cubicBezTo>
                  <a:pt x="143963" y="105467"/>
                  <a:pt x="141293" y="104347"/>
                  <a:pt x="139315" y="102369"/>
                </a:cubicBezTo>
                <a:lnTo>
                  <a:pt x="136481" y="99535"/>
                </a:lnTo>
                <a:cubicBezTo>
                  <a:pt x="133515" y="96568"/>
                  <a:pt x="129494" y="94887"/>
                  <a:pt x="125308" y="94887"/>
                </a:cubicBezTo>
                <a:lnTo>
                  <a:pt x="110740" y="94920"/>
                </a:lnTo>
                <a:cubicBezTo>
                  <a:pt x="102006" y="94920"/>
                  <a:pt x="94920" y="102006"/>
                  <a:pt x="94920" y="110740"/>
                </a:cubicBezTo>
                <a:lnTo>
                  <a:pt x="94920" y="152927"/>
                </a:lnTo>
                <a:cubicBezTo>
                  <a:pt x="94920" y="161661"/>
                  <a:pt x="102006" y="168747"/>
                  <a:pt x="110740" y="168747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9" name="Text 7"/>
          <p:cNvSpPr/>
          <p:nvPr/>
        </p:nvSpPr>
        <p:spPr>
          <a:xfrm>
            <a:off x="978735" y="1349979"/>
            <a:ext cx="2099128" cy="269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5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项目目录结构说明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992" y="1788722"/>
            <a:ext cx="7197077" cy="2193716"/>
          </a:xfrm>
          <a:custGeom>
            <a:avLst/>
            <a:gdLst/>
            <a:ahLst/>
            <a:cxnLst/>
            <a:rect l="l" t="t" r="r" b="b"/>
            <a:pathLst>
              <a:path w="7197077" h="2193716">
                <a:moveTo>
                  <a:pt x="67501" y="0"/>
                </a:moveTo>
                <a:lnTo>
                  <a:pt x="7129576" y="0"/>
                </a:lnTo>
                <a:cubicBezTo>
                  <a:pt x="7166856" y="0"/>
                  <a:pt x="7197077" y="30221"/>
                  <a:pt x="7197077" y="67501"/>
                </a:cubicBezTo>
                <a:lnTo>
                  <a:pt x="7197077" y="2126216"/>
                </a:lnTo>
                <a:cubicBezTo>
                  <a:pt x="7197077" y="2163495"/>
                  <a:pt x="7166856" y="2193716"/>
                  <a:pt x="7129576" y="2193716"/>
                </a:cubicBezTo>
                <a:lnTo>
                  <a:pt x="67501" y="2193716"/>
                </a:lnTo>
                <a:cubicBezTo>
                  <a:pt x="30221" y="2193716"/>
                  <a:pt x="0" y="2163495"/>
                  <a:pt x="0" y="2126216"/>
                </a:cubicBezTo>
                <a:lnTo>
                  <a:pt x="0" y="67501"/>
                </a:lnTo>
                <a:cubicBezTo>
                  <a:pt x="0" y="30246"/>
                  <a:pt x="30246" y="0"/>
                  <a:pt x="67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91864" y="1951842"/>
            <a:ext cx="118123" cy="118123"/>
          </a:xfrm>
          <a:custGeom>
            <a:avLst/>
            <a:gdLst/>
            <a:ahLst/>
            <a:cxnLst/>
            <a:rect l="l" t="t" r="r" b="b"/>
            <a:pathLst>
              <a:path w="118123" h="118123">
                <a:moveTo>
                  <a:pt x="14765" y="103358"/>
                </a:moveTo>
                <a:lnTo>
                  <a:pt x="103358" y="103358"/>
                </a:lnTo>
                <a:cubicBezTo>
                  <a:pt x="111502" y="103358"/>
                  <a:pt x="118123" y="96736"/>
                  <a:pt x="118123" y="88592"/>
                </a:cubicBezTo>
                <a:lnTo>
                  <a:pt x="118123" y="33222"/>
                </a:lnTo>
                <a:cubicBezTo>
                  <a:pt x="118123" y="25078"/>
                  <a:pt x="111502" y="18457"/>
                  <a:pt x="103358" y="18457"/>
                </a:cubicBezTo>
                <a:lnTo>
                  <a:pt x="68913" y="18457"/>
                </a:lnTo>
                <a:cubicBezTo>
                  <a:pt x="67321" y="18457"/>
                  <a:pt x="65752" y="17949"/>
                  <a:pt x="64483" y="16980"/>
                </a:cubicBezTo>
                <a:lnTo>
                  <a:pt x="55624" y="10336"/>
                </a:lnTo>
                <a:cubicBezTo>
                  <a:pt x="53063" y="8421"/>
                  <a:pt x="49949" y="7383"/>
                  <a:pt x="46765" y="7383"/>
                </a:cubicBezTo>
                <a:lnTo>
                  <a:pt x="14765" y="7383"/>
                </a:lnTo>
                <a:cubicBezTo>
                  <a:pt x="6621" y="7383"/>
                  <a:pt x="0" y="14004"/>
                  <a:pt x="0" y="22148"/>
                </a:cubicBezTo>
                <a:lnTo>
                  <a:pt x="0" y="88592"/>
                </a:lnTo>
                <a:cubicBezTo>
                  <a:pt x="0" y="96736"/>
                  <a:pt x="6621" y="103358"/>
                  <a:pt x="14765" y="103358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2" name="Text 10"/>
          <p:cNvSpPr/>
          <p:nvPr/>
        </p:nvSpPr>
        <p:spPr>
          <a:xfrm>
            <a:off x="871706" y="1923720"/>
            <a:ext cx="6789426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connector/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6862" y="2143792"/>
            <a:ext cx="118123" cy="118123"/>
          </a:xfrm>
          <a:custGeom>
            <a:avLst/>
            <a:gdLst/>
            <a:ahLst/>
            <a:cxnLst/>
            <a:rect l="l" t="t" r="r" b="b"/>
            <a:pathLst>
              <a:path w="118123" h="118123">
                <a:moveTo>
                  <a:pt x="14765" y="103358"/>
                </a:moveTo>
                <a:lnTo>
                  <a:pt x="103358" y="103358"/>
                </a:lnTo>
                <a:cubicBezTo>
                  <a:pt x="111502" y="103358"/>
                  <a:pt x="118123" y="96736"/>
                  <a:pt x="118123" y="88592"/>
                </a:cubicBezTo>
                <a:lnTo>
                  <a:pt x="118123" y="33222"/>
                </a:lnTo>
                <a:cubicBezTo>
                  <a:pt x="118123" y="25078"/>
                  <a:pt x="111502" y="18457"/>
                  <a:pt x="103358" y="18457"/>
                </a:cubicBezTo>
                <a:lnTo>
                  <a:pt x="68913" y="18457"/>
                </a:lnTo>
                <a:cubicBezTo>
                  <a:pt x="67321" y="18457"/>
                  <a:pt x="65752" y="17949"/>
                  <a:pt x="64483" y="16980"/>
                </a:cubicBezTo>
                <a:lnTo>
                  <a:pt x="55624" y="10336"/>
                </a:lnTo>
                <a:cubicBezTo>
                  <a:pt x="53063" y="8421"/>
                  <a:pt x="49949" y="7383"/>
                  <a:pt x="46765" y="7383"/>
                </a:cubicBezTo>
                <a:lnTo>
                  <a:pt x="14765" y="7383"/>
                </a:lnTo>
                <a:cubicBezTo>
                  <a:pt x="6621" y="7383"/>
                  <a:pt x="0" y="14004"/>
                  <a:pt x="0" y="22148"/>
                </a:cubicBezTo>
                <a:lnTo>
                  <a:pt x="0" y="88592"/>
                </a:lnTo>
                <a:cubicBezTo>
                  <a:pt x="0" y="96736"/>
                  <a:pt x="6621" y="103358"/>
                  <a:pt x="14765" y="103358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14" name="Text 12"/>
          <p:cNvSpPr/>
          <p:nvPr/>
        </p:nvSpPr>
        <p:spPr>
          <a:xfrm>
            <a:off x="1006704" y="2115671"/>
            <a:ext cx="6654428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smart-admin-api-java8-springboot2/ </a:t>
            </a:r>
            <a:r>
              <a:rPr lang="en-US" sz="930" dirty="0">
                <a:solidFill>
                  <a:srgbClr val="E0E2E6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后端工程 (Spring Boot)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1860" y="2335743"/>
            <a:ext cx="118123" cy="118123"/>
          </a:xfrm>
          <a:custGeom>
            <a:avLst/>
            <a:gdLst/>
            <a:ahLst/>
            <a:cxnLst/>
            <a:rect l="l" t="t" r="r" b="b"/>
            <a:pathLst>
              <a:path w="118123" h="118123">
                <a:moveTo>
                  <a:pt x="14765" y="103358"/>
                </a:moveTo>
                <a:lnTo>
                  <a:pt x="103358" y="103358"/>
                </a:lnTo>
                <a:cubicBezTo>
                  <a:pt x="111502" y="103358"/>
                  <a:pt x="118123" y="96736"/>
                  <a:pt x="118123" y="88592"/>
                </a:cubicBezTo>
                <a:lnTo>
                  <a:pt x="118123" y="33222"/>
                </a:lnTo>
                <a:cubicBezTo>
                  <a:pt x="118123" y="25078"/>
                  <a:pt x="111502" y="18457"/>
                  <a:pt x="103358" y="18457"/>
                </a:cubicBezTo>
                <a:lnTo>
                  <a:pt x="68913" y="18457"/>
                </a:lnTo>
                <a:cubicBezTo>
                  <a:pt x="67321" y="18457"/>
                  <a:pt x="65752" y="17949"/>
                  <a:pt x="64483" y="16980"/>
                </a:cubicBezTo>
                <a:lnTo>
                  <a:pt x="55624" y="10336"/>
                </a:lnTo>
                <a:cubicBezTo>
                  <a:pt x="53063" y="8421"/>
                  <a:pt x="49949" y="7383"/>
                  <a:pt x="46765" y="7383"/>
                </a:cubicBezTo>
                <a:lnTo>
                  <a:pt x="14765" y="7383"/>
                </a:lnTo>
                <a:cubicBezTo>
                  <a:pt x="6621" y="7383"/>
                  <a:pt x="0" y="14004"/>
                  <a:pt x="0" y="22148"/>
                </a:cubicBezTo>
                <a:lnTo>
                  <a:pt x="0" y="88592"/>
                </a:lnTo>
                <a:cubicBezTo>
                  <a:pt x="0" y="96736"/>
                  <a:pt x="6621" y="103358"/>
                  <a:pt x="14765" y="103358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6" name="Text 14"/>
          <p:cNvSpPr/>
          <p:nvPr/>
        </p:nvSpPr>
        <p:spPr>
          <a:xfrm>
            <a:off x="1141702" y="2307621"/>
            <a:ext cx="6519430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sa-admin/ </a:t>
            </a:r>
            <a:r>
              <a:rPr lang="en-US" sz="930" dirty="0">
                <a:solidFill>
                  <a:srgbClr val="E0E2E6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管理端 API 源码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6858" y="2527693"/>
            <a:ext cx="118123" cy="118123"/>
          </a:xfrm>
          <a:custGeom>
            <a:avLst/>
            <a:gdLst/>
            <a:ahLst/>
            <a:cxnLst/>
            <a:rect l="l" t="t" r="r" b="b"/>
            <a:pathLst>
              <a:path w="118123" h="118123">
                <a:moveTo>
                  <a:pt x="14765" y="103358"/>
                </a:moveTo>
                <a:lnTo>
                  <a:pt x="103358" y="103358"/>
                </a:lnTo>
                <a:cubicBezTo>
                  <a:pt x="111502" y="103358"/>
                  <a:pt x="118123" y="96736"/>
                  <a:pt x="118123" y="88592"/>
                </a:cubicBezTo>
                <a:lnTo>
                  <a:pt x="118123" y="33222"/>
                </a:lnTo>
                <a:cubicBezTo>
                  <a:pt x="118123" y="25078"/>
                  <a:pt x="111502" y="18457"/>
                  <a:pt x="103358" y="18457"/>
                </a:cubicBezTo>
                <a:lnTo>
                  <a:pt x="68913" y="18457"/>
                </a:lnTo>
                <a:cubicBezTo>
                  <a:pt x="67321" y="18457"/>
                  <a:pt x="65752" y="17949"/>
                  <a:pt x="64483" y="16980"/>
                </a:cubicBezTo>
                <a:lnTo>
                  <a:pt x="55624" y="10336"/>
                </a:lnTo>
                <a:cubicBezTo>
                  <a:pt x="53063" y="8421"/>
                  <a:pt x="49949" y="7383"/>
                  <a:pt x="46765" y="7383"/>
                </a:cubicBezTo>
                <a:lnTo>
                  <a:pt x="14765" y="7383"/>
                </a:lnTo>
                <a:cubicBezTo>
                  <a:pt x="6621" y="7383"/>
                  <a:pt x="0" y="14004"/>
                  <a:pt x="0" y="22148"/>
                </a:cubicBezTo>
                <a:lnTo>
                  <a:pt x="0" y="88592"/>
                </a:lnTo>
                <a:cubicBezTo>
                  <a:pt x="0" y="96736"/>
                  <a:pt x="6621" y="103358"/>
                  <a:pt x="14765" y="103358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18" name="Text 16"/>
          <p:cNvSpPr/>
          <p:nvPr/>
        </p:nvSpPr>
        <p:spPr>
          <a:xfrm>
            <a:off x="1276700" y="2499571"/>
            <a:ext cx="6384433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src/main/java/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1856" y="2719643"/>
            <a:ext cx="118123" cy="118123"/>
          </a:xfrm>
          <a:custGeom>
            <a:avLst/>
            <a:gdLst/>
            <a:ahLst/>
            <a:cxnLst/>
            <a:rect l="l" t="t" r="r" b="b"/>
            <a:pathLst>
              <a:path w="118123" h="118123">
                <a:moveTo>
                  <a:pt x="14765" y="103358"/>
                </a:moveTo>
                <a:lnTo>
                  <a:pt x="103358" y="103358"/>
                </a:lnTo>
                <a:cubicBezTo>
                  <a:pt x="111502" y="103358"/>
                  <a:pt x="118123" y="96736"/>
                  <a:pt x="118123" y="88592"/>
                </a:cubicBezTo>
                <a:lnTo>
                  <a:pt x="118123" y="33222"/>
                </a:lnTo>
                <a:cubicBezTo>
                  <a:pt x="118123" y="25078"/>
                  <a:pt x="111502" y="18457"/>
                  <a:pt x="103358" y="18457"/>
                </a:cubicBezTo>
                <a:lnTo>
                  <a:pt x="68913" y="18457"/>
                </a:lnTo>
                <a:cubicBezTo>
                  <a:pt x="67321" y="18457"/>
                  <a:pt x="65752" y="17949"/>
                  <a:pt x="64483" y="16980"/>
                </a:cubicBezTo>
                <a:lnTo>
                  <a:pt x="55624" y="10336"/>
                </a:lnTo>
                <a:cubicBezTo>
                  <a:pt x="53063" y="8421"/>
                  <a:pt x="49949" y="7383"/>
                  <a:pt x="46765" y="7383"/>
                </a:cubicBezTo>
                <a:lnTo>
                  <a:pt x="14765" y="7383"/>
                </a:lnTo>
                <a:cubicBezTo>
                  <a:pt x="6621" y="7383"/>
                  <a:pt x="0" y="14004"/>
                  <a:pt x="0" y="22148"/>
                </a:cubicBezTo>
                <a:lnTo>
                  <a:pt x="0" y="88592"/>
                </a:lnTo>
                <a:cubicBezTo>
                  <a:pt x="0" y="96736"/>
                  <a:pt x="6621" y="103358"/>
                  <a:pt x="14765" y="103358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0" name="Text 18"/>
          <p:cNvSpPr/>
          <p:nvPr/>
        </p:nvSpPr>
        <p:spPr>
          <a:xfrm>
            <a:off x="1411698" y="2691521"/>
            <a:ext cx="6249435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.../module/business/connector/ </a:t>
            </a:r>
            <a:r>
              <a:rPr lang="en-US" sz="93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★ 连接器核心业务代码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1860" y="2911593"/>
            <a:ext cx="118123" cy="118123"/>
          </a:xfrm>
          <a:custGeom>
            <a:avLst/>
            <a:gdLst/>
            <a:ahLst/>
            <a:cxnLst/>
            <a:rect l="l" t="t" r="r" b="b"/>
            <a:pathLst>
              <a:path w="118123" h="118123">
                <a:moveTo>
                  <a:pt x="14765" y="103358"/>
                </a:moveTo>
                <a:lnTo>
                  <a:pt x="103358" y="103358"/>
                </a:lnTo>
                <a:cubicBezTo>
                  <a:pt x="111502" y="103358"/>
                  <a:pt x="118123" y="96736"/>
                  <a:pt x="118123" y="88592"/>
                </a:cubicBezTo>
                <a:lnTo>
                  <a:pt x="118123" y="33222"/>
                </a:lnTo>
                <a:cubicBezTo>
                  <a:pt x="118123" y="25078"/>
                  <a:pt x="111502" y="18457"/>
                  <a:pt x="103358" y="18457"/>
                </a:cubicBezTo>
                <a:lnTo>
                  <a:pt x="68913" y="18457"/>
                </a:lnTo>
                <a:cubicBezTo>
                  <a:pt x="67321" y="18457"/>
                  <a:pt x="65752" y="17949"/>
                  <a:pt x="64483" y="16980"/>
                </a:cubicBezTo>
                <a:lnTo>
                  <a:pt x="55624" y="10336"/>
                </a:lnTo>
                <a:cubicBezTo>
                  <a:pt x="53063" y="8421"/>
                  <a:pt x="49949" y="7383"/>
                  <a:pt x="46765" y="7383"/>
                </a:cubicBezTo>
                <a:lnTo>
                  <a:pt x="14765" y="7383"/>
                </a:lnTo>
                <a:cubicBezTo>
                  <a:pt x="6621" y="7383"/>
                  <a:pt x="0" y="14004"/>
                  <a:pt x="0" y="22148"/>
                </a:cubicBezTo>
                <a:lnTo>
                  <a:pt x="0" y="88592"/>
                </a:lnTo>
                <a:cubicBezTo>
                  <a:pt x="0" y="96736"/>
                  <a:pt x="6621" y="103358"/>
                  <a:pt x="14765" y="103358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22" name="Text 20"/>
          <p:cNvSpPr/>
          <p:nvPr/>
        </p:nvSpPr>
        <p:spPr>
          <a:xfrm>
            <a:off x="1141702" y="2883471"/>
            <a:ext cx="6519430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sa-base/ </a:t>
            </a:r>
            <a:r>
              <a:rPr lang="en-US" sz="930" dirty="0">
                <a:solidFill>
                  <a:srgbClr val="E0E2E6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基础框架代码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6862" y="3103543"/>
            <a:ext cx="118123" cy="118123"/>
          </a:xfrm>
          <a:custGeom>
            <a:avLst/>
            <a:gdLst/>
            <a:ahLst/>
            <a:cxnLst/>
            <a:rect l="l" t="t" r="r" b="b"/>
            <a:pathLst>
              <a:path w="118123" h="118123">
                <a:moveTo>
                  <a:pt x="14765" y="103358"/>
                </a:moveTo>
                <a:lnTo>
                  <a:pt x="103358" y="103358"/>
                </a:lnTo>
                <a:cubicBezTo>
                  <a:pt x="111502" y="103358"/>
                  <a:pt x="118123" y="96736"/>
                  <a:pt x="118123" y="88592"/>
                </a:cubicBezTo>
                <a:lnTo>
                  <a:pt x="118123" y="33222"/>
                </a:lnTo>
                <a:cubicBezTo>
                  <a:pt x="118123" y="25078"/>
                  <a:pt x="111502" y="18457"/>
                  <a:pt x="103358" y="18457"/>
                </a:cubicBezTo>
                <a:lnTo>
                  <a:pt x="68913" y="18457"/>
                </a:lnTo>
                <a:cubicBezTo>
                  <a:pt x="67321" y="18457"/>
                  <a:pt x="65752" y="17949"/>
                  <a:pt x="64483" y="16980"/>
                </a:cubicBezTo>
                <a:lnTo>
                  <a:pt x="55624" y="10336"/>
                </a:lnTo>
                <a:cubicBezTo>
                  <a:pt x="53063" y="8421"/>
                  <a:pt x="49949" y="7383"/>
                  <a:pt x="46765" y="7383"/>
                </a:cubicBezTo>
                <a:lnTo>
                  <a:pt x="14765" y="7383"/>
                </a:lnTo>
                <a:cubicBezTo>
                  <a:pt x="6621" y="7383"/>
                  <a:pt x="0" y="14004"/>
                  <a:pt x="0" y="22148"/>
                </a:cubicBezTo>
                <a:lnTo>
                  <a:pt x="0" y="88592"/>
                </a:lnTo>
                <a:cubicBezTo>
                  <a:pt x="0" y="96736"/>
                  <a:pt x="6621" y="103358"/>
                  <a:pt x="14765" y="103358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4" name="Text 22"/>
          <p:cNvSpPr/>
          <p:nvPr/>
        </p:nvSpPr>
        <p:spPr>
          <a:xfrm>
            <a:off x="1006704" y="3075421"/>
            <a:ext cx="6654428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smart-admin-web-javascript/ </a:t>
            </a:r>
            <a:r>
              <a:rPr lang="en-US" sz="930" dirty="0">
                <a:solidFill>
                  <a:srgbClr val="E0E2E6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前端工程 (Vue 3)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1860" y="3295493"/>
            <a:ext cx="118123" cy="118123"/>
          </a:xfrm>
          <a:custGeom>
            <a:avLst/>
            <a:gdLst/>
            <a:ahLst/>
            <a:cxnLst/>
            <a:rect l="l" t="t" r="r" b="b"/>
            <a:pathLst>
              <a:path w="118123" h="118123">
                <a:moveTo>
                  <a:pt x="14765" y="103358"/>
                </a:moveTo>
                <a:lnTo>
                  <a:pt x="103358" y="103358"/>
                </a:lnTo>
                <a:cubicBezTo>
                  <a:pt x="111502" y="103358"/>
                  <a:pt x="118123" y="96736"/>
                  <a:pt x="118123" y="88592"/>
                </a:cubicBezTo>
                <a:lnTo>
                  <a:pt x="118123" y="33222"/>
                </a:lnTo>
                <a:cubicBezTo>
                  <a:pt x="118123" y="25078"/>
                  <a:pt x="111502" y="18457"/>
                  <a:pt x="103358" y="18457"/>
                </a:cubicBezTo>
                <a:lnTo>
                  <a:pt x="68913" y="18457"/>
                </a:lnTo>
                <a:cubicBezTo>
                  <a:pt x="67321" y="18457"/>
                  <a:pt x="65752" y="17949"/>
                  <a:pt x="64483" y="16980"/>
                </a:cubicBezTo>
                <a:lnTo>
                  <a:pt x="55624" y="10336"/>
                </a:lnTo>
                <a:cubicBezTo>
                  <a:pt x="53063" y="8421"/>
                  <a:pt x="49949" y="7383"/>
                  <a:pt x="46765" y="7383"/>
                </a:cubicBezTo>
                <a:lnTo>
                  <a:pt x="14765" y="7383"/>
                </a:lnTo>
                <a:cubicBezTo>
                  <a:pt x="6621" y="7383"/>
                  <a:pt x="0" y="14004"/>
                  <a:pt x="0" y="22148"/>
                </a:cubicBezTo>
                <a:lnTo>
                  <a:pt x="0" y="88592"/>
                </a:lnTo>
                <a:cubicBezTo>
                  <a:pt x="0" y="96736"/>
                  <a:pt x="6621" y="103358"/>
                  <a:pt x="14765" y="103358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26" name="Text 24"/>
          <p:cNvSpPr/>
          <p:nvPr/>
        </p:nvSpPr>
        <p:spPr>
          <a:xfrm>
            <a:off x="1141702" y="3267372"/>
            <a:ext cx="6519430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src/api/business/connector/ </a:t>
            </a:r>
            <a:r>
              <a:rPr lang="en-US" sz="930" dirty="0">
                <a:solidFill>
                  <a:srgbClr val="E0E2E6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连接器前端 API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61860" y="3487444"/>
            <a:ext cx="118123" cy="118123"/>
          </a:xfrm>
          <a:custGeom>
            <a:avLst/>
            <a:gdLst/>
            <a:ahLst/>
            <a:cxnLst/>
            <a:rect l="l" t="t" r="r" b="b"/>
            <a:pathLst>
              <a:path w="118123" h="118123">
                <a:moveTo>
                  <a:pt x="14765" y="103358"/>
                </a:moveTo>
                <a:lnTo>
                  <a:pt x="103358" y="103358"/>
                </a:lnTo>
                <a:cubicBezTo>
                  <a:pt x="111502" y="103358"/>
                  <a:pt x="118123" y="96736"/>
                  <a:pt x="118123" y="88592"/>
                </a:cubicBezTo>
                <a:lnTo>
                  <a:pt x="118123" y="33222"/>
                </a:lnTo>
                <a:cubicBezTo>
                  <a:pt x="118123" y="25078"/>
                  <a:pt x="111502" y="18457"/>
                  <a:pt x="103358" y="18457"/>
                </a:cubicBezTo>
                <a:lnTo>
                  <a:pt x="68913" y="18457"/>
                </a:lnTo>
                <a:cubicBezTo>
                  <a:pt x="67321" y="18457"/>
                  <a:pt x="65752" y="17949"/>
                  <a:pt x="64483" y="16980"/>
                </a:cubicBezTo>
                <a:lnTo>
                  <a:pt x="55624" y="10336"/>
                </a:lnTo>
                <a:cubicBezTo>
                  <a:pt x="53063" y="8421"/>
                  <a:pt x="49949" y="7383"/>
                  <a:pt x="46765" y="7383"/>
                </a:cubicBezTo>
                <a:lnTo>
                  <a:pt x="14765" y="7383"/>
                </a:lnTo>
                <a:cubicBezTo>
                  <a:pt x="6621" y="7383"/>
                  <a:pt x="0" y="14004"/>
                  <a:pt x="0" y="22148"/>
                </a:cubicBezTo>
                <a:lnTo>
                  <a:pt x="0" y="88592"/>
                </a:lnTo>
                <a:cubicBezTo>
                  <a:pt x="0" y="96736"/>
                  <a:pt x="6621" y="103358"/>
                  <a:pt x="14765" y="103358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28" name="Text 26"/>
          <p:cNvSpPr/>
          <p:nvPr/>
        </p:nvSpPr>
        <p:spPr>
          <a:xfrm>
            <a:off x="1141702" y="3459322"/>
            <a:ext cx="6519430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src/router/business/ </a:t>
            </a:r>
            <a:r>
              <a:rPr lang="en-US" sz="930" dirty="0">
                <a:solidFill>
                  <a:srgbClr val="E0E2E6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连接器路由配置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6862" y="3679394"/>
            <a:ext cx="118123" cy="118123"/>
          </a:xfrm>
          <a:custGeom>
            <a:avLst/>
            <a:gdLst/>
            <a:ahLst/>
            <a:cxnLst/>
            <a:rect l="l" t="t" r="r" b="b"/>
            <a:pathLst>
              <a:path w="118123" h="118123">
                <a:moveTo>
                  <a:pt x="14765" y="103358"/>
                </a:moveTo>
                <a:lnTo>
                  <a:pt x="103358" y="103358"/>
                </a:lnTo>
                <a:cubicBezTo>
                  <a:pt x="111502" y="103358"/>
                  <a:pt x="118123" y="96736"/>
                  <a:pt x="118123" y="88592"/>
                </a:cubicBezTo>
                <a:lnTo>
                  <a:pt x="118123" y="33222"/>
                </a:lnTo>
                <a:cubicBezTo>
                  <a:pt x="118123" y="25078"/>
                  <a:pt x="111502" y="18457"/>
                  <a:pt x="103358" y="18457"/>
                </a:cubicBezTo>
                <a:lnTo>
                  <a:pt x="68913" y="18457"/>
                </a:lnTo>
                <a:cubicBezTo>
                  <a:pt x="67321" y="18457"/>
                  <a:pt x="65752" y="17949"/>
                  <a:pt x="64483" y="16980"/>
                </a:cubicBezTo>
                <a:lnTo>
                  <a:pt x="55624" y="10336"/>
                </a:lnTo>
                <a:cubicBezTo>
                  <a:pt x="53063" y="8421"/>
                  <a:pt x="49949" y="7383"/>
                  <a:pt x="46765" y="7383"/>
                </a:cubicBezTo>
                <a:lnTo>
                  <a:pt x="14765" y="7383"/>
                </a:lnTo>
                <a:cubicBezTo>
                  <a:pt x="6621" y="7383"/>
                  <a:pt x="0" y="14004"/>
                  <a:pt x="0" y="22148"/>
                </a:cubicBezTo>
                <a:lnTo>
                  <a:pt x="0" y="88592"/>
                </a:lnTo>
                <a:cubicBezTo>
                  <a:pt x="0" y="96736"/>
                  <a:pt x="6621" y="103358"/>
                  <a:pt x="14765" y="103358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30" name="Text 28"/>
          <p:cNvSpPr/>
          <p:nvPr/>
        </p:nvSpPr>
        <p:spPr>
          <a:xfrm>
            <a:off x="1006704" y="3651272"/>
            <a:ext cx="6654428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doc/ </a:t>
            </a:r>
            <a:r>
              <a:rPr lang="en-US" sz="930" dirty="0">
                <a:solidFill>
                  <a:srgbClr val="E0E2E6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 数据库脚本与文档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54370" y="4281965"/>
            <a:ext cx="3695568" cy="1535601"/>
          </a:xfrm>
          <a:custGeom>
            <a:avLst/>
            <a:gdLst/>
            <a:ahLst/>
            <a:cxnLst/>
            <a:rect l="l" t="t" r="r" b="b"/>
            <a:pathLst>
              <a:path w="3695568" h="1535601">
                <a:moveTo>
                  <a:pt x="33749" y="0"/>
                </a:moveTo>
                <a:lnTo>
                  <a:pt x="3594326" y="0"/>
                </a:lnTo>
                <a:cubicBezTo>
                  <a:pt x="3650240" y="0"/>
                  <a:pt x="3695568" y="45328"/>
                  <a:pt x="3695568" y="101242"/>
                </a:cubicBezTo>
                <a:lnTo>
                  <a:pt x="3695568" y="1434359"/>
                </a:lnTo>
                <a:cubicBezTo>
                  <a:pt x="3695568" y="1490274"/>
                  <a:pt x="3650240" y="1535601"/>
                  <a:pt x="3594326" y="1535601"/>
                </a:cubicBezTo>
                <a:lnTo>
                  <a:pt x="33749" y="1535601"/>
                </a:lnTo>
                <a:cubicBezTo>
                  <a:pt x="15110" y="1535601"/>
                  <a:pt x="0" y="1520491"/>
                  <a:pt x="0" y="1501852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354370" y="4281965"/>
            <a:ext cx="33749" cy="1535601"/>
          </a:xfrm>
          <a:custGeom>
            <a:avLst/>
            <a:gdLst/>
            <a:ahLst/>
            <a:cxnLst/>
            <a:rect l="l" t="t" r="r" b="b"/>
            <a:pathLst>
              <a:path w="33749" h="1535601">
                <a:moveTo>
                  <a:pt x="33749" y="0"/>
                </a:moveTo>
                <a:lnTo>
                  <a:pt x="33749" y="0"/>
                </a:lnTo>
                <a:lnTo>
                  <a:pt x="33749" y="1535601"/>
                </a:lnTo>
                <a:lnTo>
                  <a:pt x="33749" y="1535601"/>
                </a:lnTo>
                <a:cubicBezTo>
                  <a:pt x="15110" y="1535601"/>
                  <a:pt x="0" y="1520491"/>
                  <a:pt x="0" y="1501852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3" name="Shape 31"/>
          <p:cNvSpPr/>
          <p:nvPr/>
        </p:nvSpPr>
        <p:spPr>
          <a:xfrm>
            <a:off x="506242" y="4416963"/>
            <a:ext cx="269996" cy="269996"/>
          </a:xfrm>
          <a:custGeom>
            <a:avLst/>
            <a:gdLst/>
            <a:ahLst/>
            <a:cxnLst/>
            <a:rect l="l" t="t" r="r" b="b"/>
            <a:pathLst>
              <a:path w="269996" h="269996">
                <a:moveTo>
                  <a:pt x="67499" y="0"/>
                </a:moveTo>
                <a:lnTo>
                  <a:pt x="202497" y="0"/>
                </a:lnTo>
                <a:cubicBezTo>
                  <a:pt x="239776" y="0"/>
                  <a:pt x="269996" y="30220"/>
                  <a:pt x="269996" y="67499"/>
                </a:cubicBezTo>
                <a:lnTo>
                  <a:pt x="269996" y="202497"/>
                </a:lnTo>
                <a:cubicBezTo>
                  <a:pt x="269996" y="239776"/>
                  <a:pt x="239776" y="269996"/>
                  <a:pt x="202497" y="269996"/>
                </a:cubicBezTo>
                <a:lnTo>
                  <a:pt x="67499" y="269996"/>
                </a:lnTo>
                <a:cubicBezTo>
                  <a:pt x="30220" y="269996"/>
                  <a:pt x="0" y="239776"/>
                  <a:pt x="0" y="202497"/>
                </a:cubicBezTo>
                <a:lnTo>
                  <a:pt x="0" y="67499"/>
                </a:lnTo>
                <a:cubicBezTo>
                  <a:pt x="0" y="30220"/>
                  <a:pt x="30220" y="0"/>
                  <a:pt x="67499" y="0"/>
                </a:cubicBezTo>
                <a:close/>
              </a:path>
            </a:pathLst>
          </a:custGeom>
          <a:solidFill>
            <a:srgbClr val="E5A04C">
              <a:alpha val="3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595889" y="4476025"/>
            <a:ext cx="94920" cy="151873"/>
          </a:xfrm>
          <a:custGeom>
            <a:avLst/>
            <a:gdLst/>
            <a:ahLst/>
            <a:cxnLst/>
            <a:rect l="l" t="t" r="r" b="b"/>
            <a:pathLst>
              <a:path w="94920" h="151873">
                <a:moveTo>
                  <a:pt x="18984" y="47460"/>
                </a:moveTo>
                <a:cubicBezTo>
                  <a:pt x="18984" y="31739"/>
                  <a:pt x="31739" y="18984"/>
                  <a:pt x="47460" y="18984"/>
                </a:cubicBezTo>
                <a:cubicBezTo>
                  <a:pt x="63181" y="18984"/>
                  <a:pt x="75936" y="31739"/>
                  <a:pt x="75936" y="47460"/>
                </a:cubicBezTo>
                <a:cubicBezTo>
                  <a:pt x="75936" y="60126"/>
                  <a:pt x="67660" y="70864"/>
                  <a:pt x="56211" y="74572"/>
                </a:cubicBezTo>
                <a:cubicBezTo>
                  <a:pt x="47786" y="77301"/>
                  <a:pt x="37968" y="85043"/>
                  <a:pt x="37968" y="97293"/>
                </a:cubicBezTo>
                <a:lnTo>
                  <a:pt x="37968" y="104412"/>
                </a:lnTo>
                <a:cubicBezTo>
                  <a:pt x="37968" y="109663"/>
                  <a:pt x="42210" y="113904"/>
                  <a:pt x="47460" y="113904"/>
                </a:cubicBezTo>
                <a:cubicBezTo>
                  <a:pt x="52710" y="113904"/>
                  <a:pt x="56952" y="109663"/>
                  <a:pt x="56952" y="104412"/>
                </a:cubicBezTo>
                <a:lnTo>
                  <a:pt x="56952" y="97293"/>
                </a:lnTo>
                <a:cubicBezTo>
                  <a:pt x="56952" y="96789"/>
                  <a:pt x="57130" y="96077"/>
                  <a:pt x="57990" y="95128"/>
                </a:cubicBezTo>
                <a:cubicBezTo>
                  <a:pt x="58880" y="94149"/>
                  <a:pt x="60334" y="93200"/>
                  <a:pt x="62054" y="92636"/>
                </a:cubicBezTo>
                <a:cubicBezTo>
                  <a:pt x="81127" y="86496"/>
                  <a:pt x="94920" y="68610"/>
                  <a:pt x="94920" y="47460"/>
                </a:cubicBezTo>
                <a:cubicBezTo>
                  <a:pt x="94920" y="21238"/>
                  <a:pt x="73682" y="0"/>
                  <a:pt x="47460" y="0"/>
                </a:cubicBezTo>
                <a:cubicBezTo>
                  <a:pt x="21238" y="0"/>
                  <a:pt x="0" y="21238"/>
                  <a:pt x="0" y="47460"/>
                </a:cubicBezTo>
                <a:cubicBezTo>
                  <a:pt x="0" y="52710"/>
                  <a:pt x="4242" y="56952"/>
                  <a:pt x="9492" y="56952"/>
                </a:cubicBezTo>
                <a:cubicBezTo>
                  <a:pt x="14742" y="56952"/>
                  <a:pt x="18984" y="52710"/>
                  <a:pt x="18984" y="47460"/>
                </a:cubicBezTo>
                <a:close/>
                <a:moveTo>
                  <a:pt x="47460" y="151873"/>
                </a:moveTo>
                <a:cubicBezTo>
                  <a:pt x="54016" y="151873"/>
                  <a:pt x="59325" y="146563"/>
                  <a:pt x="59325" y="140008"/>
                </a:cubicBezTo>
                <a:cubicBezTo>
                  <a:pt x="59325" y="133452"/>
                  <a:pt x="54016" y="128143"/>
                  <a:pt x="47460" y="128143"/>
                </a:cubicBezTo>
                <a:cubicBezTo>
                  <a:pt x="40905" y="128143"/>
                  <a:pt x="35595" y="133452"/>
                  <a:pt x="35595" y="140008"/>
                </a:cubicBezTo>
                <a:cubicBezTo>
                  <a:pt x="35595" y="146563"/>
                  <a:pt x="40905" y="151873"/>
                  <a:pt x="47460" y="15187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35" name="Text 33"/>
          <p:cNvSpPr/>
          <p:nvPr/>
        </p:nvSpPr>
        <p:spPr>
          <a:xfrm>
            <a:off x="843737" y="4433838"/>
            <a:ext cx="1191178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常见问题 #1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6242" y="4799455"/>
            <a:ext cx="1336356" cy="179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Q: 代理请求报 404？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6242" y="5086325"/>
            <a:ext cx="165408" cy="157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6242" y="5086325"/>
            <a:ext cx="3413004" cy="360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请检查路由配置中的 </a:t>
            </a:r>
            <a:r>
              <a:rPr lang="en-US" sz="93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Source Path</a:t>
            </a: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是否与请求路径完全匹配，并确认路由状态已设置为 </a:t>
            </a:r>
            <a:r>
              <a:rPr lang="en-US" sz="93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Active</a:t>
            </a: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（开启）。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05590" y="4281965"/>
            <a:ext cx="3695568" cy="1535601"/>
          </a:xfrm>
          <a:custGeom>
            <a:avLst/>
            <a:gdLst/>
            <a:ahLst/>
            <a:cxnLst/>
            <a:rect l="l" t="t" r="r" b="b"/>
            <a:pathLst>
              <a:path w="3695568" h="1535601">
                <a:moveTo>
                  <a:pt x="33749" y="0"/>
                </a:moveTo>
                <a:lnTo>
                  <a:pt x="3594326" y="0"/>
                </a:lnTo>
                <a:cubicBezTo>
                  <a:pt x="3650240" y="0"/>
                  <a:pt x="3695568" y="45328"/>
                  <a:pt x="3695568" y="101242"/>
                </a:cubicBezTo>
                <a:lnTo>
                  <a:pt x="3695568" y="1434359"/>
                </a:lnTo>
                <a:cubicBezTo>
                  <a:pt x="3695568" y="1490274"/>
                  <a:pt x="3650240" y="1535601"/>
                  <a:pt x="3594326" y="1535601"/>
                </a:cubicBezTo>
                <a:lnTo>
                  <a:pt x="33749" y="1535601"/>
                </a:lnTo>
                <a:cubicBezTo>
                  <a:pt x="15110" y="1535601"/>
                  <a:pt x="0" y="1520491"/>
                  <a:pt x="0" y="1501852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4A5462">
              <a:alpha val="2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4205590" y="4281965"/>
            <a:ext cx="33749" cy="1535601"/>
          </a:xfrm>
          <a:custGeom>
            <a:avLst/>
            <a:gdLst/>
            <a:ahLst/>
            <a:cxnLst/>
            <a:rect l="l" t="t" r="r" b="b"/>
            <a:pathLst>
              <a:path w="33749" h="1535601">
                <a:moveTo>
                  <a:pt x="33749" y="0"/>
                </a:moveTo>
                <a:lnTo>
                  <a:pt x="33749" y="0"/>
                </a:lnTo>
                <a:lnTo>
                  <a:pt x="33749" y="1535601"/>
                </a:lnTo>
                <a:lnTo>
                  <a:pt x="33749" y="1535601"/>
                </a:lnTo>
                <a:cubicBezTo>
                  <a:pt x="15110" y="1535601"/>
                  <a:pt x="0" y="1520491"/>
                  <a:pt x="0" y="1501852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41" name="Shape 39"/>
          <p:cNvSpPr/>
          <p:nvPr/>
        </p:nvSpPr>
        <p:spPr>
          <a:xfrm>
            <a:off x="4357462" y="4416963"/>
            <a:ext cx="269996" cy="269996"/>
          </a:xfrm>
          <a:custGeom>
            <a:avLst/>
            <a:gdLst/>
            <a:ahLst/>
            <a:cxnLst/>
            <a:rect l="l" t="t" r="r" b="b"/>
            <a:pathLst>
              <a:path w="269996" h="269996">
                <a:moveTo>
                  <a:pt x="67499" y="0"/>
                </a:moveTo>
                <a:lnTo>
                  <a:pt x="202497" y="0"/>
                </a:lnTo>
                <a:cubicBezTo>
                  <a:pt x="239776" y="0"/>
                  <a:pt x="269996" y="30220"/>
                  <a:pt x="269996" y="67499"/>
                </a:cubicBezTo>
                <a:lnTo>
                  <a:pt x="269996" y="202497"/>
                </a:lnTo>
                <a:cubicBezTo>
                  <a:pt x="269996" y="239776"/>
                  <a:pt x="239776" y="269996"/>
                  <a:pt x="202497" y="269996"/>
                </a:cubicBezTo>
                <a:lnTo>
                  <a:pt x="67499" y="269996"/>
                </a:lnTo>
                <a:cubicBezTo>
                  <a:pt x="30220" y="269996"/>
                  <a:pt x="0" y="239776"/>
                  <a:pt x="0" y="202497"/>
                </a:cubicBezTo>
                <a:lnTo>
                  <a:pt x="0" y="67499"/>
                </a:lnTo>
                <a:cubicBezTo>
                  <a:pt x="0" y="30220"/>
                  <a:pt x="30220" y="0"/>
                  <a:pt x="67499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4447110" y="4476025"/>
            <a:ext cx="94920" cy="151873"/>
          </a:xfrm>
          <a:custGeom>
            <a:avLst/>
            <a:gdLst/>
            <a:ahLst/>
            <a:cxnLst/>
            <a:rect l="l" t="t" r="r" b="b"/>
            <a:pathLst>
              <a:path w="94920" h="151873">
                <a:moveTo>
                  <a:pt x="18984" y="47460"/>
                </a:moveTo>
                <a:cubicBezTo>
                  <a:pt x="18984" y="31739"/>
                  <a:pt x="31739" y="18984"/>
                  <a:pt x="47460" y="18984"/>
                </a:cubicBezTo>
                <a:cubicBezTo>
                  <a:pt x="63181" y="18984"/>
                  <a:pt x="75936" y="31739"/>
                  <a:pt x="75936" y="47460"/>
                </a:cubicBezTo>
                <a:cubicBezTo>
                  <a:pt x="75936" y="60126"/>
                  <a:pt x="67660" y="70864"/>
                  <a:pt x="56211" y="74572"/>
                </a:cubicBezTo>
                <a:cubicBezTo>
                  <a:pt x="47786" y="77301"/>
                  <a:pt x="37968" y="85043"/>
                  <a:pt x="37968" y="97293"/>
                </a:cubicBezTo>
                <a:lnTo>
                  <a:pt x="37968" y="104412"/>
                </a:lnTo>
                <a:cubicBezTo>
                  <a:pt x="37968" y="109663"/>
                  <a:pt x="42210" y="113904"/>
                  <a:pt x="47460" y="113904"/>
                </a:cubicBezTo>
                <a:cubicBezTo>
                  <a:pt x="52710" y="113904"/>
                  <a:pt x="56952" y="109663"/>
                  <a:pt x="56952" y="104412"/>
                </a:cubicBezTo>
                <a:lnTo>
                  <a:pt x="56952" y="97293"/>
                </a:lnTo>
                <a:cubicBezTo>
                  <a:pt x="56952" y="96789"/>
                  <a:pt x="57130" y="96077"/>
                  <a:pt x="57990" y="95128"/>
                </a:cubicBezTo>
                <a:cubicBezTo>
                  <a:pt x="58880" y="94149"/>
                  <a:pt x="60334" y="93200"/>
                  <a:pt x="62054" y="92636"/>
                </a:cubicBezTo>
                <a:cubicBezTo>
                  <a:pt x="81127" y="86496"/>
                  <a:pt x="94920" y="68610"/>
                  <a:pt x="94920" y="47460"/>
                </a:cubicBezTo>
                <a:cubicBezTo>
                  <a:pt x="94920" y="21238"/>
                  <a:pt x="73682" y="0"/>
                  <a:pt x="47460" y="0"/>
                </a:cubicBezTo>
                <a:cubicBezTo>
                  <a:pt x="21238" y="0"/>
                  <a:pt x="0" y="21238"/>
                  <a:pt x="0" y="47460"/>
                </a:cubicBezTo>
                <a:cubicBezTo>
                  <a:pt x="0" y="52710"/>
                  <a:pt x="4242" y="56952"/>
                  <a:pt x="9492" y="56952"/>
                </a:cubicBezTo>
                <a:cubicBezTo>
                  <a:pt x="14742" y="56952"/>
                  <a:pt x="18984" y="52710"/>
                  <a:pt x="18984" y="47460"/>
                </a:cubicBezTo>
                <a:close/>
                <a:moveTo>
                  <a:pt x="47460" y="151873"/>
                </a:moveTo>
                <a:cubicBezTo>
                  <a:pt x="54016" y="151873"/>
                  <a:pt x="59325" y="146563"/>
                  <a:pt x="59325" y="140008"/>
                </a:cubicBezTo>
                <a:cubicBezTo>
                  <a:pt x="59325" y="133452"/>
                  <a:pt x="54016" y="128143"/>
                  <a:pt x="47460" y="128143"/>
                </a:cubicBezTo>
                <a:cubicBezTo>
                  <a:pt x="40905" y="128143"/>
                  <a:pt x="35595" y="133452"/>
                  <a:pt x="35595" y="140008"/>
                </a:cubicBezTo>
                <a:cubicBezTo>
                  <a:pt x="35595" y="146563"/>
                  <a:pt x="40905" y="151873"/>
                  <a:pt x="47460" y="151873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43" name="Text 41"/>
          <p:cNvSpPr/>
          <p:nvPr/>
        </p:nvSpPr>
        <p:spPr>
          <a:xfrm>
            <a:off x="4694957" y="4433838"/>
            <a:ext cx="1256992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常见问题 #2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357462" y="4799455"/>
            <a:ext cx="1594487" cy="179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Q: 如何配置数据库连接？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357462" y="5086325"/>
            <a:ext cx="165408" cy="1574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3C80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357462" y="5086325"/>
            <a:ext cx="3252079" cy="5751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修改配置文件：</a:t>
            </a:r>
            <a:r>
              <a:rPr lang="en-US" sz="930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sa-admin/src/main/resources/dev/application.yaml</a:t>
            </a: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中的 </a:t>
            </a:r>
            <a:r>
              <a:rPr lang="en-US" sz="930" b="1" dirty="0">
                <a:solidFill>
                  <a:srgbClr val="E5A04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datasource</a:t>
            </a:r>
            <a:r>
              <a:rPr lang="en-US" sz="93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配置。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76565" y="1149985"/>
            <a:ext cx="3776980" cy="5707380"/>
          </a:xfrm>
          <a:custGeom>
            <a:avLst/>
            <a:gdLst/>
            <a:ahLst/>
            <a:cxnLst/>
            <a:rect l="l" t="t" r="r" b="b"/>
            <a:pathLst>
              <a:path w="3777129" h="6038345">
                <a:moveTo>
                  <a:pt x="101265" y="0"/>
                </a:moveTo>
                <a:lnTo>
                  <a:pt x="3675865" y="0"/>
                </a:lnTo>
                <a:cubicBezTo>
                  <a:pt x="3731792" y="0"/>
                  <a:pt x="3777129" y="45338"/>
                  <a:pt x="3777129" y="101265"/>
                </a:cubicBezTo>
                <a:lnTo>
                  <a:pt x="3777129" y="5937080"/>
                </a:lnTo>
                <a:cubicBezTo>
                  <a:pt x="3777129" y="5993007"/>
                  <a:pt x="3731792" y="6038345"/>
                  <a:pt x="3675865" y="6038345"/>
                </a:cubicBezTo>
                <a:lnTo>
                  <a:pt x="101265" y="6038345"/>
                </a:lnTo>
                <a:cubicBezTo>
                  <a:pt x="45338" y="6038345"/>
                  <a:pt x="0" y="5993007"/>
                  <a:pt x="0" y="5937080"/>
                </a:cubicBezTo>
                <a:lnTo>
                  <a:pt x="0" y="101265"/>
                </a:lnTo>
                <a:cubicBezTo>
                  <a:pt x="0" y="45338"/>
                  <a:pt x="45338" y="0"/>
                  <a:pt x="101265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8467">
            <a:solidFill>
              <a:srgbClr val="4A5462">
                <a:alpha val="5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79697" y="1355599"/>
            <a:ext cx="147654" cy="168747"/>
          </a:xfrm>
          <a:custGeom>
            <a:avLst/>
            <a:gdLst/>
            <a:ahLst/>
            <a:cxnLst/>
            <a:rect l="l" t="t" r="r" b="b"/>
            <a:pathLst>
              <a:path w="147654" h="168747">
                <a:moveTo>
                  <a:pt x="126561" y="168747"/>
                </a:moveTo>
                <a:lnTo>
                  <a:pt x="31640" y="168747"/>
                </a:lnTo>
                <a:cubicBezTo>
                  <a:pt x="14172" y="168747"/>
                  <a:pt x="0" y="154575"/>
                  <a:pt x="0" y="137107"/>
                </a:cubicBezTo>
                <a:lnTo>
                  <a:pt x="0" y="31640"/>
                </a:lnTo>
                <a:cubicBezTo>
                  <a:pt x="0" y="14172"/>
                  <a:pt x="14172" y="0"/>
                  <a:pt x="31640" y="0"/>
                </a:cubicBezTo>
                <a:lnTo>
                  <a:pt x="131834" y="0"/>
                </a:lnTo>
                <a:cubicBezTo>
                  <a:pt x="140568" y="0"/>
                  <a:pt x="147654" y="7086"/>
                  <a:pt x="147654" y="15820"/>
                </a:cubicBezTo>
                <a:lnTo>
                  <a:pt x="147654" y="110740"/>
                </a:lnTo>
                <a:cubicBezTo>
                  <a:pt x="147654" y="117629"/>
                  <a:pt x="143238" y="123495"/>
                  <a:pt x="137107" y="125671"/>
                </a:cubicBezTo>
                <a:lnTo>
                  <a:pt x="137107" y="147654"/>
                </a:lnTo>
                <a:cubicBezTo>
                  <a:pt x="142941" y="147654"/>
                  <a:pt x="147654" y="152367"/>
                  <a:pt x="147654" y="158201"/>
                </a:cubicBezTo>
                <a:cubicBezTo>
                  <a:pt x="147654" y="164034"/>
                  <a:pt x="142941" y="168747"/>
                  <a:pt x="137107" y="168747"/>
                </a:cubicBezTo>
                <a:lnTo>
                  <a:pt x="126561" y="168747"/>
                </a:lnTo>
                <a:close/>
                <a:moveTo>
                  <a:pt x="31640" y="126561"/>
                </a:moveTo>
                <a:cubicBezTo>
                  <a:pt x="25806" y="126561"/>
                  <a:pt x="21093" y="131274"/>
                  <a:pt x="21093" y="137107"/>
                </a:cubicBezTo>
                <a:cubicBezTo>
                  <a:pt x="21093" y="142941"/>
                  <a:pt x="25806" y="147654"/>
                  <a:pt x="31640" y="147654"/>
                </a:cubicBezTo>
                <a:lnTo>
                  <a:pt x="116014" y="147654"/>
                </a:lnTo>
                <a:lnTo>
                  <a:pt x="116014" y="126561"/>
                </a:lnTo>
                <a:lnTo>
                  <a:pt x="31640" y="126561"/>
                </a:lnTo>
                <a:close/>
                <a:moveTo>
                  <a:pt x="42187" y="50097"/>
                </a:moveTo>
                <a:cubicBezTo>
                  <a:pt x="42187" y="54480"/>
                  <a:pt x="45713" y="58007"/>
                  <a:pt x="50097" y="58007"/>
                </a:cubicBezTo>
                <a:lnTo>
                  <a:pt x="108104" y="58007"/>
                </a:lnTo>
                <a:cubicBezTo>
                  <a:pt x="112487" y="58007"/>
                  <a:pt x="116014" y="54480"/>
                  <a:pt x="116014" y="50097"/>
                </a:cubicBezTo>
                <a:cubicBezTo>
                  <a:pt x="116014" y="45713"/>
                  <a:pt x="112487" y="42187"/>
                  <a:pt x="108104" y="42187"/>
                </a:cubicBezTo>
                <a:lnTo>
                  <a:pt x="50097" y="42187"/>
                </a:lnTo>
                <a:cubicBezTo>
                  <a:pt x="45713" y="42187"/>
                  <a:pt x="42187" y="45713"/>
                  <a:pt x="42187" y="50097"/>
                </a:cubicBezTo>
                <a:close/>
                <a:moveTo>
                  <a:pt x="50097" y="73827"/>
                </a:moveTo>
                <a:cubicBezTo>
                  <a:pt x="45713" y="73827"/>
                  <a:pt x="42187" y="77354"/>
                  <a:pt x="42187" y="81737"/>
                </a:cubicBezTo>
                <a:cubicBezTo>
                  <a:pt x="42187" y="86121"/>
                  <a:pt x="45713" y="89647"/>
                  <a:pt x="50097" y="89647"/>
                </a:cubicBezTo>
                <a:lnTo>
                  <a:pt x="108104" y="89647"/>
                </a:lnTo>
                <a:cubicBezTo>
                  <a:pt x="112487" y="89647"/>
                  <a:pt x="116014" y="86121"/>
                  <a:pt x="116014" y="81737"/>
                </a:cubicBezTo>
                <a:cubicBezTo>
                  <a:pt x="116014" y="77354"/>
                  <a:pt x="112487" y="73827"/>
                  <a:pt x="108104" y="73827"/>
                </a:cubicBezTo>
                <a:lnTo>
                  <a:pt x="50097" y="73827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49" name="Text 47"/>
          <p:cNvSpPr/>
          <p:nvPr/>
        </p:nvSpPr>
        <p:spPr>
          <a:xfrm>
            <a:off x="8458991" y="1321849"/>
            <a:ext cx="3307449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核心模块说明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56494" y="1758574"/>
            <a:ext cx="3425572" cy="860612"/>
          </a:xfrm>
          <a:custGeom>
            <a:avLst/>
            <a:gdLst/>
            <a:ahLst/>
            <a:cxnLst/>
            <a:rect l="l" t="t" r="r" b="b"/>
            <a:pathLst>
              <a:path w="3425572" h="860612">
                <a:moveTo>
                  <a:pt x="16875" y="0"/>
                </a:moveTo>
                <a:lnTo>
                  <a:pt x="3358075" y="0"/>
                </a:lnTo>
                <a:cubicBezTo>
                  <a:pt x="3395353" y="0"/>
                  <a:pt x="3425572" y="30220"/>
                  <a:pt x="3425572" y="67498"/>
                </a:cubicBezTo>
                <a:lnTo>
                  <a:pt x="3425572" y="793114"/>
                </a:lnTo>
                <a:cubicBezTo>
                  <a:pt x="3425572" y="830392"/>
                  <a:pt x="3395353" y="860612"/>
                  <a:pt x="3358075" y="860612"/>
                </a:cubicBezTo>
                <a:lnTo>
                  <a:pt x="16875" y="860612"/>
                </a:lnTo>
                <a:cubicBezTo>
                  <a:pt x="7555" y="860612"/>
                  <a:pt x="0" y="853057"/>
                  <a:pt x="0" y="843737"/>
                </a:cubicBezTo>
                <a:lnTo>
                  <a:pt x="0" y="16875"/>
                </a:lnTo>
                <a:cubicBezTo>
                  <a:pt x="0" y="7555"/>
                  <a:pt x="7555" y="0"/>
                  <a:pt x="1687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8256494" y="1758574"/>
            <a:ext cx="16875" cy="860612"/>
          </a:xfrm>
          <a:custGeom>
            <a:avLst/>
            <a:gdLst/>
            <a:ahLst/>
            <a:cxnLst/>
            <a:rect l="l" t="t" r="r" b="b"/>
            <a:pathLst>
              <a:path w="16875" h="860612">
                <a:moveTo>
                  <a:pt x="16875" y="0"/>
                </a:moveTo>
                <a:lnTo>
                  <a:pt x="16875" y="0"/>
                </a:lnTo>
                <a:lnTo>
                  <a:pt x="16875" y="860612"/>
                </a:lnTo>
                <a:lnTo>
                  <a:pt x="16875" y="860612"/>
                </a:lnTo>
                <a:cubicBezTo>
                  <a:pt x="7555" y="860612"/>
                  <a:pt x="0" y="853057"/>
                  <a:pt x="0" y="843737"/>
                </a:cubicBezTo>
                <a:lnTo>
                  <a:pt x="0" y="16875"/>
                </a:lnTo>
                <a:cubicBezTo>
                  <a:pt x="0" y="7555"/>
                  <a:pt x="7555" y="0"/>
                  <a:pt x="16875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2" name="Shape 50"/>
          <p:cNvSpPr/>
          <p:nvPr/>
        </p:nvSpPr>
        <p:spPr>
          <a:xfrm>
            <a:off x="8383055" y="1893572"/>
            <a:ext cx="134998" cy="134998"/>
          </a:xfrm>
          <a:custGeom>
            <a:avLst/>
            <a:gdLst/>
            <a:ahLst/>
            <a:cxnLst/>
            <a:rect l="l" t="t" r="r" b="b"/>
            <a:pathLst>
              <a:path w="134998" h="134998">
                <a:moveTo>
                  <a:pt x="51442" y="2505"/>
                </a:moveTo>
                <a:cubicBezTo>
                  <a:pt x="52233" y="-1397"/>
                  <a:pt x="55687" y="-4219"/>
                  <a:pt x="59694" y="-4219"/>
                </a:cubicBezTo>
                <a:lnTo>
                  <a:pt x="75462" y="-4219"/>
                </a:lnTo>
                <a:cubicBezTo>
                  <a:pt x="79469" y="-4219"/>
                  <a:pt x="82924" y="-1397"/>
                  <a:pt x="83715" y="2505"/>
                </a:cubicBezTo>
                <a:lnTo>
                  <a:pt x="87538" y="20962"/>
                </a:lnTo>
                <a:cubicBezTo>
                  <a:pt x="91255" y="22544"/>
                  <a:pt x="94736" y="24574"/>
                  <a:pt x="97900" y="26973"/>
                </a:cubicBezTo>
                <a:lnTo>
                  <a:pt x="115777" y="21041"/>
                </a:lnTo>
                <a:cubicBezTo>
                  <a:pt x="119573" y="19775"/>
                  <a:pt x="123739" y="21357"/>
                  <a:pt x="125743" y="24838"/>
                </a:cubicBezTo>
                <a:lnTo>
                  <a:pt x="133627" y="38496"/>
                </a:lnTo>
                <a:cubicBezTo>
                  <a:pt x="135631" y="41976"/>
                  <a:pt x="134919" y="46353"/>
                  <a:pt x="131913" y="49016"/>
                </a:cubicBezTo>
                <a:lnTo>
                  <a:pt x="117860" y="61514"/>
                </a:lnTo>
                <a:cubicBezTo>
                  <a:pt x="118097" y="63465"/>
                  <a:pt x="118202" y="65469"/>
                  <a:pt x="118202" y="67499"/>
                </a:cubicBezTo>
                <a:cubicBezTo>
                  <a:pt x="118202" y="69529"/>
                  <a:pt x="118070" y="71533"/>
                  <a:pt x="117860" y="73484"/>
                </a:cubicBezTo>
                <a:lnTo>
                  <a:pt x="131939" y="86008"/>
                </a:lnTo>
                <a:cubicBezTo>
                  <a:pt x="134945" y="88671"/>
                  <a:pt x="135631" y="93075"/>
                  <a:pt x="133653" y="96529"/>
                </a:cubicBezTo>
                <a:lnTo>
                  <a:pt x="125770" y="110187"/>
                </a:lnTo>
                <a:cubicBezTo>
                  <a:pt x="123766" y="113641"/>
                  <a:pt x="119600" y="115249"/>
                  <a:pt x="115803" y="113984"/>
                </a:cubicBezTo>
                <a:lnTo>
                  <a:pt x="97926" y="108051"/>
                </a:lnTo>
                <a:cubicBezTo>
                  <a:pt x="94736" y="110450"/>
                  <a:pt x="91255" y="112454"/>
                  <a:pt x="87564" y="114063"/>
                </a:cubicBezTo>
                <a:lnTo>
                  <a:pt x="83767" y="132493"/>
                </a:lnTo>
                <a:cubicBezTo>
                  <a:pt x="82950" y="136422"/>
                  <a:pt x="79496" y="139217"/>
                  <a:pt x="75514" y="139217"/>
                </a:cubicBezTo>
                <a:lnTo>
                  <a:pt x="59747" y="139217"/>
                </a:lnTo>
                <a:cubicBezTo>
                  <a:pt x="55739" y="139217"/>
                  <a:pt x="52285" y="136395"/>
                  <a:pt x="51494" y="132493"/>
                </a:cubicBezTo>
                <a:lnTo>
                  <a:pt x="47698" y="114063"/>
                </a:lnTo>
                <a:cubicBezTo>
                  <a:pt x="43980" y="112481"/>
                  <a:pt x="40526" y="110450"/>
                  <a:pt x="37335" y="108051"/>
                </a:cubicBezTo>
                <a:lnTo>
                  <a:pt x="19380" y="113984"/>
                </a:lnTo>
                <a:cubicBezTo>
                  <a:pt x="15583" y="115249"/>
                  <a:pt x="11417" y="113667"/>
                  <a:pt x="9413" y="110187"/>
                </a:cubicBezTo>
                <a:lnTo>
                  <a:pt x="1529" y="96529"/>
                </a:lnTo>
                <a:cubicBezTo>
                  <a:pt x="-475" y="93048"/>
                  <a:pt x="237" y="88671"/>
                  <a:pt x="3243" y="86008"/>
                </a:cubicBezTo>
                <a:lnTo>
                  <a:pt x="17323" y="73484"/>
                </a:lnTo>
                <a:cubicBezTo>
                  <a:pt x="17086" y="71533"/>
                  <a:pt x="16980" y="69529"/>
                  <a:pt x="16980" y="67499"/>
                </a:cubicBezTo>
                <a:cubicBezTo>
                  <a:pt x="16980" y="65469"/>
                  <a:pt x="17112" y="63465"/>
                  <a:pt x="17323" y="61514"/>
                </a:cubicBezTo>
                <a:lnTo>
                  <a:pt x="3243" y="48989"/>
                </a:lnTo>
                <a:cubicBezTo>
                  <a:pt x="237" y="46326"/>
                  <a:pt x="-448" y="41923"/>
                  <a:pt x="1529" y="38469"/>
                </a:cubicBezTo>
                <a:lnTo>
                  <a:pt x="9413" y="24811"/>
                </a:lnTo>
                <a:cubicBezTo>
                  <a:pt x="11417" y="21331"/>
                  <a:pt x="15583" y="19749"/>
                  <a:pt x="19380" y="21014"/>
                </a:cubicBezTo>
                <a:lnTo>
                  <a:pt x="37256" y="26947"/>
                </a:lnTo>
                <a:cubicBezTo>
                  <a:pt x="40447" y="24547"/>
                  <a:pt x="43927" y="22544"/>
                  <a:pt x="47618" y="20935"/>
                </a:cubicBezTo>
                <a:lnTo>
                  <a:pt x="51442" y="2505"/>
                </a:lnTo>
                <a:close/>
                <a:moveTo>
                  <a:pt x="67578" y="88592"/>
                </a:moveTo>
                <a:cubicBezTo>
                  <a:pt x="75114" y="88564"/>
                  <a:pt x="82062" y="84518"/>
                  <a:pt x="85806" y="77977"/>
                </a:cubicBezTo>
                <a:cubicBezTo>
                  <a:pt x="89549" y="71437"/>
                  <a:pt x="89519" y="63396"/>
                  <a:pt x="85727" y="56884"/>
                </a:cubicBezTo>
                <a:cubicBezTo>
                  <a:pt x="81934" y="50372"/>
                  <a:pt x="74956" y="46377"/>
                  <a:pt x="67420" y="46406"/>
                </a:cubicBezTo>
                <a:cubicBezTo>
                  <a:pt x="59884" y="46434"/>
                  <a:pt x="52935" y="50480"/>
                  <a:pt x="49192" y="57021"/>
                </a:cubicBezTo>
                <a:cubicBezTo>
                  <a:pt x="45448" y="63561"/>
                  <a:pt x="45479" y="71602"/>
                  <a:pt x="49271" y="78114"/>
                </a:cubicBezTo>
                <a:cubicBezTo>
                  <a:pt x="53064" y="84626"/>
                  <a:pt x="60042" y="88621"/>
                  <a:pt x="67578" y="88592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53" name="Text 51"/>
          <p:cNvSpPr/>
          <p:nvPr/>
        </p:nvSpPr>
        <p:spPr>
          <a:xfrm>
            <a:off x="8602426" y="1859822"/>
            <a:ext cx="1012484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连接器核心业务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66180" y="2129818"/>
            <a:ext cx="3273700" cy="3881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包含路由管理、数据转换、请求日志等核心功能实现，是Connector平台的灵魂所在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56494" y="2847258"/>
            <a:ext cx="3425572" cy="860612"/>
          </a:xfrm>
          <a:custGeom>
            <a:avLst/>
            <a:gdLst/>
            <a:ahLst/>
            <a:cxnLst/>
            <a:rect l="l" t="t" r="r" b="b"/>
            <a:pathLst>
              <a:path w="3425572" h="860612">
                <a:moveTo>
                  <a:pt x="16875" y="0"/>
                </a:moveTo>
                <a:lnTo>
                  <a:pt x="3358075" y="0"/>
                </a:lnTo>
                <a:cubicBezTo>
                  <a:pt x="3395353" y="0"/>
                  <a:pt x="3425572" y="30220"/>
                  <a:pt x="3425572" y="67498"/>
                </a:cubicBezTo>
                <a:lnTo>
                  <a:pt x="3425572" y="793114"/>
                </a:lnTo>
                <a:cubicBezTo>
                  <a:pt x="3425572" y="830392"/>
                  <a:pt x="3395353" y="860612"/>
                  <a:pt x="3358075" y="860612"/>
                </a:cubicBezTo>
                <a:lnTo>
                  <a:pt x="16875" y="860612"/>
                </a:lnTo>
                <a:cubicBezTo>
                  <a:pt x="7555" y="860612"/>
                  <a:pt x="0" y="853057"/>
                  <a:pt x="0" y="843737"/>
                </a:cubicBezTo>
                <a:lnTo>
                  <a:pt x="0" y="16875"/>
                </a:lnTo>
                <a:cubicBezTo>
                  <a:pt x="0" y="7555"/>
                  <a:pt x="7555" y="0"/>
                  <a:pt x="1687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8256494" y="2847258"/>
            <a:ext cx="16875" cy="860612"/>
          </a:xfrm>
          <a:custGeom>
            <a:avLst/>
            <a:gdLst/>
            <a:ahLst/>
            <a:cxnLst/>
            <a:rect l="l" t="t" r="r" b="b"/>
            <a:pathLst>
              <a:path w="16875" h="860612">
                <a:moveTo>
                  <a:pt x="16875" y="0"/>
                </a:moveTo>
                <a:lnTo>
                  <a:pt x="16875" y="0"/>
                </a:lnTo>
                <a:lnTo>
                  <a:pt x="16875" y="860612"/>
                </a:lnTo>
                <a:lnTo>
                  <a:pt x="16875" y="860612"/>
                </a:lnTo>
                <a:cubicBezTo>
                  <a:pt x="7555" y="860612"/>
                  <a:pt x="0" y="853057"/>
                  <a:pt x="0" y="843737"/>
                </a:cubicBezTo>
                <a:lnTo>
                  <a:pt x="0" y="16875"/>
                </a:lnTo>
                <a:cubicBezTo>
                  <a:pt x="0" y="7555"/>
                  <a:pt x="7555" y="0"/>
                  <a:pt x="16875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57" name="Shape 55"/>
          <p:cNvSpPr/>
          <p:nvPr/>
        </p:nvSpPr>
        <p:spPr>
          <a:xfrm>
            <a:off x="8383055" y="2982256"/>
            <a:ext cx="134998" cy="134998"/>
          </a:xfrm>
          <a:custGeom>
            <a:avLst/>
            <a:gdLst/>
            <a:ahLst/>
            <a:cxnLst/>
            <a:rect l="l" t="t" r="r" b="b"/>
            <a:pathLst>
              <a:path w="134998" h="134998">
                <a:moveTo>
                  <a:pt x="61303" y="1371"/>
                </a:moveTo>
                <a:cubicBezTo>
                  <a:pt x="65231" y="-448"/>
                  <a:pt x="69767" y="-448"/>
                  <a:pt x="73695" y="1371"/>
                </a:cubicBezTo>
                <a:lnTo>
                  <a:pt x="131333" y="28002"/>
                </a:lnTo>
                <a:cubicBezTo>
                  <a:pt x="133574" y="29030"/>
                  <a:pt x="134998" y="31271"/>
                  <a:pt x="134998" y="33749"/>
                </a:cubicBezTo>
                <a:cubicBezTo>
                  <a:pt x="134998" y="36228"/>
                  <a:pt x="133574" y="38469"/>
                  <a:pt x="131333" y="39497"/>
                </a:cubicBezTo>
                <a:lnTo>
                  <a:pt x="73695" y="66128"/>
                </a:lnTo>
                <a:cubicBezTo>
                  <a:pt x="69767" y="67947"/>
                  <a:pt x="65231" y="67947"/>
                  <a:pt x="61303" y="66128"/>
                </a:cubicBezTo>
                <a:lnTo>
                  <a:pt x="3665" y="39497"/>
                </a:lnTo>
                <a:cubicBezTo>
                  <a:pt x="1424" y="38443"/>
                  <a:pt x="0" y="36202"/>
                  <a:pt x="0" y="33749"/>
                </a:cubicBezTo>
                <a:cubicBezTo>
                  <a:pt x="0" y="31297"/>
                  <a:pt x="1424" y="29030"/>
                  <a:pt x="3665" y="28002"/>
                </a:cubicBezTo>
                <a:lnTo>
                  <a:pt x="61303" y="1371"/>
                </a:lnTo>
                <a:close/>
                <a:moveTo>
                  <a:pt x="12682" y="57585"/>
                </a:moveTo>
                <a:lnTo>
                  <a:pt x="56003" y="77597"/>
                </a:lnTo>
                <a:cubicBezTo>
                  <a:pt x="63307" y="80972"/>
                  <a:pt x="71718" y="80972"/>
                  <a:pt x="79021" y="77597"/>
                </a:cubicBezTo>
                <a:lnTo>
                  <a:pt x="122342" y="57585"/>
                </a:lnTo>
                <a:lnTo>
                  <a:pt x="131333" y="61751"/>
                </a:lnTo>
                <a:cubicBezTo>
                  <a:pt x="133574" y="62779"/>
                  <a:pt x="134998" y="65020"/>
                  <a:pt x="134998" y="67499"/>
                </a:cubicBezTo>
                <a:cubicBezTo>
                  <a:pt x="134998" y="69977"/>
                  <a:pt x="133574" y="72219"/>
                  <a:pt x="131333" y="73247"/>
                </a:cubicBezTo>
                <a:lnTo>
                  <a:pt x="73695" y="99877"/>
                </a:lnTo>
                <a:cubicBezTo>
                  <a:pt x="69767" y="101697"/>
                  <a:pt x="65231" y="101697"/>
                  <a:pt x="61303" y="99877"/>
                </a:cubicBezTo>
                <a:lnTo>
                  <a:pt x="3665" y="73247"/>
                </a:lnTo>
                <a:cubicBezTo>
                  <a:pt x="1424" y="72192"/>
                  <a:pt x="0" y="69951"/>
                  <a:pt x="0" y="67499"/>
                </a:cubicBezTo>
                <a:cubicBezTo>
                  <a:pt x="0" y="65047"/>
                  <a:pt x="1424" y="62779"/>
                  <a:pt x="3665" y="61751"/>
                </a:cubicBezTo>
                <a:lnTo>
                  <a:pt x="12656" y="57585"/>
                </a:lnTo>
                <a:close/>
                <a:moveTo>
                  <a:pt x="3665" y="95500"/>
                </a:moveTo>
                <a:lnTo>
                  <a:pt x="12656" y="91335"/>
                </a:lnTo>
                <a:lnTo>
                  <a:pt x="55977" y="111347"/>
                </a:lnTo>
                <a:cubicBezTo>
                  <a:pt x="63280" y="114722"/>
                  <a:pt x="71691" y="114722"/>
                  <a:pt x="78995" y="111347"/>
                </a:cubicBezTo>
                <a:lnTo>
                  <a:pt x="122316" y="91335"/>
                </a:lnTo>
                <a:lnTo>
                  <a:pt x="131307" y="95500"/>
                </a:lnTo>
                <a:cubicBezTo>
                  <a:pt x="133548" y="96529"/>
                  <a:pt x="134972" y="98770"/>
                  <a:pt x="134972" y="101248"/>
                </a:cubicBezTo>
                <a:cubicBezTo>
                  <a:pt x="134972" y="103727"/>
                  <a:pt x="133548" y="105968"/>
                  <a:pt x="131307" y="106996"/>
                </a:cubicBezTo>
                <a:lnTo>
                  <a:pt x="73669" y="133627"/>
                </a:lnTo>
                <a:cubicBezTo>
                  <a:pt x="69740" y="135446"/>
                  <a:pt x="65205" y="135446"/>
                  <a:pt x="61276" y="133627"/>
                </a:cubicBezTo>
                <a:lnTo>
                  <a:pt x="3665" y="106996"/>
                </a:lnTo>
                <a:cubicBezTo>
                  <a:pt x="1424" y="105942"/>
                  <a:pt x="0" y="103701"/>
                  <a:pt x="0" y="101248"/>
                </a:cubicBezTo>
                <a:cubicBezTo>
                  <a:pt x="0" y="98796"/>
                  <a:pt x="1424" y="96529"/>
                  <a:pt x="3665" y="9550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58" name="Text 56"/>
          <p:cNvSpPr/>
          <p:nvPr/>
        </p:nvSpPr>
        <p:spPr>
          <a:xfrm>
            <a:off x="8602426" y="2948507"/>
            <a:ext cx="877487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基础框架代码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66180" y="3218502"/>
            <a:ext cx="3273700" cy="3881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提供通用的CRUD接口、分页工具、异常处理等基础能力，确保代码的规范性和可维护性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56494" y="3935943"/>
            <a:ext cx="3425572" cy="860612"/>
          </a:xfrm>
          <a:custGeom>
            <a:avLst/>
            <a:gdLst/>
            <a:ahLst/>
            <a:cxnLst/>
            <a:rect l="l" t="t" r="r" b="b"/>
            <a:pathLst>
              <a:path w="3425572" h="860612">
                <a:moveTo>
                  <a:pt x="16875" y="0"/>
                </a:moveTo>
                <a:lnTo>
                  <a:pt x="3358075" y="0"/>
                </a:lnTo>
                <a:cubicBezTo>
                  <a:pt x="3395353" y="0"/>
                  <a:pt x="3425572" y="30220"/>
                  <a:pt x="3425572" y="67498"/>
                </a:cubicBezTo>
                <a:lnTo>
                  <a:pt x="3425572" y="793114"/>
                </a:lnTo>
                <a:cubicBezTo>
                  <a:pt x="3425572" y="830392"/>
                  <a:pt x="3395353" y="860612"/>
                  <a:pt x="3358075" y="860612"/>
                </a:cubicBezTo>
                <a:lnTo>
                  <a:pt x="16875" y="860612"/>
                </a:lnTo>
                <a:cubicBezTo>
                  <a:pt x="7555" y="860612"/>
                  <a:pt x="0" y="853057"/>
                  <a:pt x="0" y="843737"/>
                </a:cubicBezTo>
                <a:lnTo>
                  <a:pt x="0" y="16875"/>
                </a:lnTo>
                <a:cubicBezTo>
                  <a:pt x="0" y="7555"/>
                  <a:pt x="7555" y="0"/>
                  <a:pt x="1687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8256494" y="3935943"/>
            <a:ext cx="16875" cy="860612"/>
          </a:xfrm>
          <a:custGeom>
            <a:avLst/>
            <a:gdLst/>
            <a:ahLst/>
            <a:cxnLst/>
            <a:rect l="l" t="t" r="r" b="b"/>
            <a:pathLst>
              <a:path w="16875" h="860612">
                <a:moveTo>
                  <a:pt x="16875" y="0"/>
                </a:moveTo>
                <a:lnTo>
                  <a:pt x="16875" y="0"/>
                </a:lnTo>
                <a:lnTo>
                  <a:pt x="16875" y="860612"/>
                </a:lnTo>
                <a:lnTo>
                  <a:pt x="16875" y="860612"/>
                </a:lnTo>
                <a:cubicBezTo>
                  <a:pt x="7555" y="860612"/>
                  <a:pt x="0" y="853057"/>
                  <a:pt x="0" y="843737"/>
                </a:cubicBezTo>
                <a:lnTo>
                  <a:pt x="0" y="16875"/>
                </a:lnTo>
                <a:cubicBezTo>
                  <a:pt x="0" y="7555"/>
                  <a:pt x="7555" y="0"/>
                  <a:pt x="16875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62" name="Shape 60"/>
          <p:cNvSpPr/>
          <p:nvPr/>
        </p:nvSpPr>
        <p:spPr>
          <a:xfrm>
            <a:off x="8383055" y="4070941"/>
            <a:ext cx="134998" cy="134998"/>
          </a:xfrm>
          <a:custGeom>
            <a:avLst/>
            <a:gdLst/>
            <a:ahLst/>
            <a:cxnLst/>
            <a:rect l="l" t="t" r="r" b="b"/>
            <a:pathLst>
              <a:path w="134998" h="134998">
                <a:moveTo>
                  <a:pt x="16875" y="8437"/>
                </a:moveTo>
                <a:cubicBezTo>
                  <a:pt x="7567" y="8437"/>
                  <a:pt x="0" y="16005"/>
                  <a:pt x="0" y="25312"/>
                </a:cubicBezTo>
                <a:lnTo>
                  <a:pt x="0" y="92811"/>
                </a:lnTo>
                <a:cubicBezTo>
                  <a:pt x="0" y="102119"/>
                  <a:pt x="7567" y="109686"/>
                  <a:pt x="16875" y="109686"/>
                </a:cubicBezTo>
                <a:lnTo>
                  <a:pt x="54843" y="109686"/>
                </a:lnTo>
                <a:lnTo>
                  <a:pt x="50624" y="122342"/>
                </a:lnTo>
                <a:lnTo>
                  <a:pt x="31640" y="122342"/>
                </a:lnTo>
                <a:cubicBezTo>
                  <a:pt x="28133" y="122342"/>
                  <a:pt x="25312" y="125163"/>
                  <a:pt x="25312" y="128670"/>
                </a:cubicBezTo>
                <a:cubicBezTo>
                  <a:pt x="25312" y="132177"/>
                  <a:pt x="28133" y="134998"/>
                  <a:pt x="31640" y="134998"/>
                </a:cubicBezTo>
                <a:lnTo>
                  <a:pt x="103358" y="134998"/>
                </a:lnTo>
                <a:cubicBezTo>
                  <a:pt x="106865" y="134998"/>
                  <a:pt x="109686" y="132177"/>
                  <a:pt x="109686" y="128670"/>
                </a:cubicBezTo>
                <a:cubicBezTo>
                  <a:pt x="109686" y="125163"/>
                  <a:pt x="106865" y="122342"/>
                  <a:pt x="103358" y="122342"/>
                </a:cubicBezTo>
                <a:lnTo>
                  <a:pt x="84374" y="122342"/>
                </a:lnTo>
                <a:lnTo>
                  <a:pt x="80155" y="109686"/>
                </a:lnTo>
                <a:lnTo>
                  <a:pt x="118123" y="109686"/>
                </a:lnTo>
                <a:cubicBezTo>
                  <a:pt x="127431" y="109686"/>
                  <a:pt x="134998" y="102119"/>
                  <a:pt x="134998" y="92811"/>
                </a:cubicBezTo>
                <a:lnTo>
                  <a:pt x="134998" y="25312"/>
                </a:lnTo>
                <a:cubicBezTo>
                  <a:pt x="134998" y="16005"/>
                  <a:pt x="127431" y="8437"/>
                  <a:pt x="118123" y="8437"/>
                </a:cubicBezTo>
                <a:lnTo>
                  <a:pt x="16875" y="8437"/>
                </a:lnTo>
                <a:close/>
                <a:moveTo>
                  <a:pt x="25312" y="25312"/>
                </a:moveTo>
                <a:lnTo>
                  <a:pt x="109686" y="25312"/>
                </a:lnTo>
                <a:cubicBezTo>
                  <a:pt x="114353" y="25312"/>
                  <a:pt x="118123" y="29083"/>
                  <a:pt x="118123" y="33749"/>
                </a:cubicBezTo>
                <a:lnTo>
                  <a:pt x="118123" y="75936"/>
                </a:lnTo>
                <a:cubicBezTo>
                  <a:pt x="118123" y="80603"/>
                  <a:pt x="114353" y="84374"/>
                  <a:pt x="109686" y="84374"/>
                </a:cubicBezTo>
                <a:lnTo>
                  <a:pt x="25312" y="84374"/>
                </a:lnTo>
                <a:cubicBezTo>
                  <a:pt x="20645" y="84374"/>
                  <a:pt x="16875" y="80603"/>
                  <a:pt x="16875" y="75936"/>
                </a:cubicBezTo>
                <a:lnTo>
                  <a:pt x="16875" y="33749"/>
                </a:lnTo>
                <a:cubicBezTo>
                  <a:pt x="16875" y="29083"/>
                  <a:pt x="20645" y="25312"/>
                  <a:pt x="25312" y="25312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63" name="Text 61"/>
          <p:cNvSpPr/>
          <p:nvPr/>
        </p:nvSpPr>
        <p:spPr>
          <a:xfrm>
            <a:off x="8602426" y="4037191"/>
            <a:ext cx="809988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前端API模块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66180" y="4307187"/>
            <a:ext cx="3273700" cy="3881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封装了后端API调用逻辑，提供统一的数据交互接口，支持响应式状态管理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56494" y="5024627"/>
            <a:ext cx="3425572" cy="666552"/>
          </a:xfrm>
          <a:custGeom>
            <a:avLst/>
            <a:gdLst/>
            <a:ahLst/>
            <a:cxnLst/>
            <a:rect l="l" t="t" r="r" b="b"/>
            <a:pathLst>
              <a:path w="3425572" h="666552">
                <a:moveTo>
                  <a:pt x="16875" y="0"/>
                </a:moveTo>
                <a:lnTo>
                  <a:pt x="3358071" y="0"/>
                </a:lnTo>
                <a:cubicBezTo>
                  <a:pt x="3395351" y="0"/>
                  <a:pt x="3425572" y="30222"/>
                  <a:pt x="3425572" y="67502"/>
                </a:cubicBezTo>
                <a:lnTo>
                  <a:pt x="3425572" y="599051"/>
                </a:lnTo>
                <a:cubicBezTo>
                  <a:pt x="3425572" y="636331"/>
                  <a:pt x="3395351" y="666552"/>
                  <a:pt x="3358071" y="666552"/>
                </a:cubicBezTo>
                <a:lnTo>
                  <a:pt x="16875" y="666552"/>
                </a:lnTo>
                <a:cubicBezTo>
                  <a:pt x="7555" y="666552"/>
                  <a:pt x="0" y="658997"/>
                  <a:pt x="0" y="649678"/>
                </a:cubicBezTo>
                <a:lnTo>
                  <a:pt x="0" y="16875"/>
                </a:lnTo>
                <a:cubicBezTo>
                  <a:pt x="0" y="7555"/>
                  <a:pt x="7555" y="0"/>
                  <a:pt x="1687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8256494" y="5024627"/>
            <a:ext cx="16875" cy="666552"/>
          </a:xfrm>
          <a:custGeom>
            <a:avLst/>
            <a:gdLst/>
            <a:ahLst/>
            <a:cxnLst/>
            <a:rect l="l" t="t" r="r" b="b"/>
            <a:pathLst>
              <a:path w="16875" h="666552">
                <a:moveTo>
                  <a:pt x="16875" y="0"/>
                </a:moveTo>
                <a:lnTo>
                  <a:pt x="16875" y="0"/>
                </a:lnTo>
                <a:lnTo>
                  <a:pt x="16875" y="666552"/>
                </a:lnTo>
                <a:lnTo>
                  <a:pt x="16875" y="666552"/>
                </a:lnTo>
                <a:cubicBezTo>
                  <a:pt x="7555" y="666552"/>
                  <a:pt x="0" y="658997"/>
                  <a:pt x="0" y="649678"/>
                </a:cubicBezTo>
                <a:lnTo>
                  <a:pt x="0" y="16875"/>
                </a:lnTo>
                <a:cubicBezTo>
                  <a:pt x="0" y="7555"/>
                  <a:pt x="7555" y="0"/>
                  <a:pt x="16875" y="0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67" name="Shape 65"/>
          <p:cNvSpPr/>
          <p:nvPr/>
        </p:nvSpPr>
        <p:spPr>
          <a:xfrm>
            <a:off x="8383055" y="5159625"/>
            <a:ext cx="134998" cy="134998"/>
          </a:xfrm>
          <a:custGeom>
            <a:avLst/>
            <a:gdLst/>
            <a:ahLst/>
            <a:cxnLst/>
            <a:rect l="l" t="t" r="r" b="b"/>
            <a:pathLst>
              <a:path w="134998" h="134998">
                <a:moveTo>
                  <a:pt x="134998" y="25312"/>
                </a:moveTo>
                <a:cubicBezTo>
                  <a:pt x="134998" y="38548"/>
                  <a:pt x="119415" y="58297"/>
                  <a:pt x="112692" y="66181"/>
                </a:cubicBezTo>
                <a:cubicBezTo>
                  <a:pt x="111690" y="67341"/>
                  <a:pt x="110213" y="67789"/>
                  <a:pt x="108868" y="67499"/>
                </a:cubicBezTo>
                <a:lnTo>
                  <a:pt x="84374" y="67499"/>
                </a:lnTo>
                <a:cubicBezTo>
                  <a:pt x="79707" y="67499"/>
                  <a:pt x="75936" y="71269"/>
                  <a:pt x="75936" y="75936"/>
                </a:cubicBezTo>
                <a:cubicBezTo>
                  <a:pt x="75936" y="80603"/>
                  <a:pt x="79707" y="84374"/>
                  <a:pt x="84374" y="84374"/>
                </a:cubicBezTo>
                <a:lnTo>
                  <a:pt x="109686" y="84374"/>
                </a:lnTo>
                <a:cubicBezTo>
                  <a:pt x="123660" y="84374"/>
                  <a:pt x="134998" y="95711"/>
                  <a:pt x="134998" y="109686"/>
                </a:cubicBezTo>
                <a:cubicBezTo>
                  <a:pt x="134998" y="123660"/>
                  <a:pt x="123660" y="134998"/>
                  <a:pt x="109686" y="134998"/>
                </a:cubicBezTo>
                <a:lnTo>
                  <a:pt x="36808" y="134998"/>
                </a:lnTo>
                <a:cubicBezTo>
                  <a:pt x="39102" y="132388"/>
                  <a:pt x="41897" y="129039"/>
                  <a:pt x="44718" y="125295"/>
                </a:cubicBezTo>
                <a:cubicBezTo>
                  <a:pt x="46379" y="123080"/>
                  <a:pt x="48093" y="120654"/>
                  <a:pt x="49728" y="118123"/>
                </a:cubicBezTo>
                <a:lnTo>
                  <a:pt x="109686" y="118123"/>
                </a:lnTo>
                <a:cubicBezTo>
                  <a:pt x="114353" y="118123"/>
                  <a:pt x="118123" y="114353"/>
                  <a:pt x="118123" y="109686"/>
                </a:cubicBezTo>
                <a:cubicBezTo>
                  <a:pt x="118123" y="105019"/>
                  <a:pt x="114353" y="101248"/>
                  <a:pt x="109686" y="101248"/>
                </a:cubicBezTo>
                <a:lnTo>
                  <a:pt x="84374" y="101248"/>
                </a:lnTo>
                <a:cubicBezTo>
                  <a:pt x="70399" y="101248"/>
                  <a:pt x="59062" y="89911"/>
                  <a:pt x="59062" y="75936"/>
                </a:cubicBezTo>
                <a:cubicBezTo>
                  <a:pt x="59062" y="61962"/>
                  <a:pt x="70399" y="50624"/>
                  <a:pt x="84374" y="50624"/>
                </a:cubicBezTo>
                <a:lnTo>
                  <a:pt x="94868" y="50624"/>
                </a:lnTo>
                <a:cubicBezTo>
                  <a:pt x="89331" y="42319"/>
                  <a:pt x="84374" y="32774"/>
                  <a:pt x="84374" y="25312"/>
                </a:cubicBezTo>
                <a:cubicBezTo>
                  <a:pt x="84374" y="11338"/>
                  <a:pt x="95711" y="0"/>
                  <a:pt x="109686" y="0"/>
                </a:cubicBezTo>
                <a:cubicBezTo>
                  <a:pt x="123660" y="0"/>
                  <a:pt x="134998" y="11338"/>
                  <a:pt x="134998" y="25312"/>
                </a:cubicBezTo>
                <a:close/>
                <a:moveTo>
                  <a:pt x="30876" y="128960"/>
                </a:moveTo>
                <a:cubicBezTo>
                  <a:pt x="29874" y="130094"/>
                  <a:pt x="28977" y="131096"/>
                  <a:pt x="28212" y="131939"/>
                </a:cubicBezTo>
                <a:lnTo>
                  <a:pt x="27738" y="132467"/>
                </a:lnTo>
                <a:lnTo>
                  <a:pt x="27685" y="132414"/>
                </a:lnTo>
                <a:cubicBezTo>
                  <a:pt x="26103" y="133627"/>
                  <a:pt x="23836" y="133469"/>
                  <a:pt x="22412" y="131939"/>
                </a:cubicBezTo>
                <a:cubicBezTo>
                  <a:pt x="15767" y="124715"/>
                  <a:pt x="0" y="106126"/>
                  <a:pt x="0" y="92811"/>
                </a:cubicBezTo>
                <a:cubicBezTo>
                  <a:pt x="0" y="78837"/>
                  <a:pt x="11338" y="67499"/>
                  <a:pt x="25312" y="67499"/>
                </a:cubicBezTo>
                <a:cubicBezTo>
                  <a:pt x="39287" y="67499"/>
                  <a:pt x="50624" y="78837"/>
                  <a:pt x="50624" y="92811"/>
                </a:cubicBezTo>
                <a:cubicBezTo>
                  <a:pt x="50624" y="100721"/>
                  <a:pt x="45061" y="110477"/>
                  <a:pt x="39155" y="118624"/>
                </a:cubicBezTo>
                <a:cubicBezTo>
                  <a:pt x="36333" y="122500"/>
                  <a:pt x="33433" y="126007"/>
                  <a:pt x="31034" y="128775"/>
                </a:cubicBezTo>
                <a:lnTo>
                  <a:pt x="30876" y="128960"/>
                </a:lnTo>
                <a:close/>
                <a:moveTo>
                  <a:pt x="33749" y="92811"/>
                </a:moveTo>
                <a:cubicBezTo>
                  <a:pt x="33749" y="88154"/>
                  <a:pt x="29969" y="84374"/>
                  <a:pt x="25312" y="84374"/>
                </a:cubicBezTo>
                <a:cubicBezTo>
                  <a:pt x="20655" y="84374"/>
                  <a:pt x="16875" y="88154"/>
                  <a:pt x="16875" y="92811"/>
                </a:cubicBezTo>
                <a:cubicBezTo>
                  <a:pt x="16875" y="97468"/>
                  <a:pt x="20655" y="101248"/>
                  <a:pt x="25312" y="101248"/>
                </a:cubicBezTo>
                <a:cubicBezTo>
                  <a:pt x="29969" y="101248"/>
                  <a:pt x="33749" y="97468"/>
                  <a:pt x="33749" y="92811"/>
                </a:cubicBezTo>
                <a:close/>
                <a:moveTo>
                  <a:pt x="109686" y="33749"/>
                </a:moveTo>
                <a:cubicBezTo>
                  <a:pt x="114343" y="33749"/>
                  <a:pt x="118123" y="29969"/>
                  <a:pt x="118123" y="25312"/>
                </a:cubicBezTo>
                <a:cubicBezTo>
                  <a:pt x="118123" y="20655"/>
                  <a:pt x="114343" y="16875"/>
                  <a:pt x="109686" y="16875"/>
                </a:cubicBezTo>
                <a:cubicBezTo>
                  <a:pt x="105029" y="16875"/>
                  <a:pt x="101248" y="20655"/>
                  <a:pt x="101248" y="25312"/>
                </a:cubicBezTo>
                <a:cubicBezTo>
                  <a:pt x="101248" y="29969"/>
                  <a:pt x="105029" y="33749"/>
                  <a:pt x="109686" y="33749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68" name="Text 66"/>
          <p:cNvSpPr/>
          <p:nvPr/>
        </p:nvSpPr>
        <p:spPr>
          <a:xfrm>
            <a:off x="8602426" y="5125875"/>
            <a:ext cx="877487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前端路由配置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366180" y="5395871"/>
            <a:ext cx="3273700" cy="194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定义了连接器相关页面的路由规则，支持嵌套路由和权限控制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73415" y="5817870"/>
            <a:ext cx="3430905" cy="992505"/>
          </a:xfrm>
          <a:custGeom>
            <a:avLst/>
            <a:gdLst/>
            <a:ahLst/>
            <a:cxnLst/>
            <a:rect l="l" t="t" r="r" b="b"/>
            <a:pathLst>
              <a:path w="3431197" h="1119358">
                <a:moveTo>
                  <a:pt x="67497" y="0"/>
                </a:moveTo>
                <a:lnTo>
                  <a:pt x="3363700" y="0"/>
                </a:lnTo>
                <a:cubicBezTo>
                  <a:pt x="3400978" y="0"/>
                  <a:pt x="3431197" y="30220"/>
                  <a:pt x="3431197" y="67497"/>
                </a:cubicBezTo>
                <a:lnTo>
                  <a:pt x="3431197" y="1051861"/>
                </a:lnTo>
                <a:cubicBezTo>
                  <a:pt x="3431197" y="1089138"/>
                  <a:pt x="3400978" y="1119358"/>
                  <a:pt x="3363700" y="1119358"/>
                </a:cubicBezTo>
                <a:lnTo>
                  <a:pt x="67497" y="1119358"/>
                </a:lnTo>
                <a:cubicBezTo>
                  <a:pt x="30220" y="1119358"/>
                  <a:pt x="0" y="1089138"/>
                  <a:pt x="0" y="1051861"/>
                </a:cubicBezTo>
                <a:lnTo>
                  <a:pt x="0" y="67497"/>
                </a:lnTo>
                <a:cubicBezTo>
                  <a:pt x="0" y="30245"/>
                  <a:pt x="30245" y="0"/>
                  <a:pt x="67497" y="0"/>
                </a:cubicBezTo>
                <a:close/>
              </a:path>
            </a:pathLst>
          </a:custGeom>
          <a:solidFill>
            <a:srgbClr val="E5A04C">
              <a:alpha val="10196"/>
            </a:srgbClr>
          </a:solidFill>
          <a:ln w="8467">
            <a:solidFill>
              <a:srgbClr val="E5A04C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21153" y="5851821"/>
            <a:ext cx="151873" cy="134998"/>
          </a:xfrm>
          <a:custGeom>
            <a:avLst/>
            <a:gdLst/>
            <a:ahLst/>
            <a:cxnLst/>
            <a:rect l="l" t="t" r="r" b="b"/>
            <a:pathLst>
              <a:path w="151873" h="134998">
                <a:moveTo>
                  <a:pt x="110609" y="25312"/>
                </a:moveTo>
                <a:cubicBezTo>
                  <a:pt x="106232" y="25312"/>
                  <a:pt x="101987" y="26499"/>
                  <a:pt x="98269" y="28661"/>
                </a:cubicBezTo>
                <a:cubicBezTo>
                  <a:pt x="94103" y="24442"/>
                  <a:pt x="89252" y="20909"/>
                  <a:pt x="83899" y="18246"/>
                </a:cubicBezTo>
                <a:cubicBezTo>
                  <a:pt x="91335" y="11918"/>
                  <a:pt x="100800" y="8437"/>
                  <a:pt x="110609" y="8437"/>
                </a:cubicBezTo>
                <a:cubicBezTo>
                  <a:pt x="133390" y="8437"/>
                  <a:pt x="151873" y="26894"/>
                  <a:pt x="151873" y="49701"/>
                </a:cubicBezTo>
                <a:cubicBezTo>
                  <a:pt x="151873" y="60644"/>
                  <a:pt x="147522" y="71138"/>
                  <a:pt x="139797" y="78863"/>
                </a:cubicBezTo>
                <a:lnTo>
                  <a:pt x="121050" y="97610"/>
                </a:lnTo>
                <a:cubicBezTo>
                  <a:pt x="113324" y="105335"/>
                  <a:pt x="102830" y="109686"/>
                  <a:pt x="91888" y="109686"/>
                </a:cubicBezTo>
                <a:cubicBezTo>
                  <a:pt x="69107" y="109686"/>
                  <a:pt x="50624" y="91229"/>
                  <a:pt x="50624" y="68422"/>
                </a:cubicBezTo>
                <a:cubicBezTo>
                  <a:pt x="50624" y="68026"/>
                  <a:pt x="50624" y="67631"/>
                  <a:pt x="50651" y="67235"/>
                </a:cubicBezTo>
                <a:cubicBezTo>
                  <a:pt x="50782" y="62568"/>
                  <a:pt x="54658" y="58903"/>
                  <a:pt x="59325" y="59035"/>
                </a:cubicBezTo>
                <a:cubicBezTo>
                  <a:pt x="63992" y="59167"/>
                  <a:pt x="67657" y="63043"/>
                  <a:pt x="67525" y="67710"/>
                </a:cubicBezTo>
                <a:cubicBezTo>
                  <a:pt x="67525" y="67947"/>
                  <a:pt x="67525" y="68184"/>
                  <a:pt x="67525" y="68395"/>
                </a:cubicBezTo>
                <a:cubicBezTo>
                  <a:pt x="67525" y="81869"/>
                  <a:pt x="78441" y="92785"/>
                  <a:pt x="91915" y="92785"/>
                </a:cubicBezTo>
                <a:cubicBezTo>
                  <a:pt x="98374" y="92785"/>
                  <a:pt x="104571" y="90227"/>
                  <a:pt x="109158" y="85639"/>
                </a:cubicBezTo>
                <a:lnTo>
                  <a:pt x="127905" y="66893"/>
                </a:lnTo>
                <a:cubicBezTo>
                  <a:pt x="132467" y="62331"/>
                  <a:pt x="135051" y="56109"/>
                  <a:pt x="135051" y="49649"/>
                </a:cubicBezTo>
                <a:cubicBezTo>
                  <a:pt x="135051" y="36175"/>
                  <a:pt x="124135" y="25259"/>
                  <a:pt x="110661" y="25259"/>
                </a:cubicBezTo>
                <a:close/>
                <a:moveTo>
                  <a:pt x="72561" y="45694"/>
                </a:moveTo>
                <a:cubicBezTo>
                  <a:pt x="72060" y="45483"/>
                  <a:pt x="71559" y="45193"/>
                  <a:pt x="71111" y="44876"/>
                </a:cubicBezTo>
                <a:cubicBezTo>
                  <a:pt x="67789" y="43162"/>
                  <a:pt x="63992" y="42187"/>
                  <a:pt x="60011" y="42187"/>
                </a:cubicBezTo>
                <a:cubicBezTo>
                  <a:pt x="53551" y="42187"/>
                  <a:pt x="47355" y="44744"/>
                  <a:pt x="42767" y="49332"/>
                </a:cubicBezTo>
                <a:lnTo>
                  <a:pt x="24020" y="68079"/>
                </a:lnTo>
                <a:cubicBezTo>
                  <a:pt x="19459" y="72640"/>
                  <a:pt x="16875" y="78863"/>
                  <a:pt x="16875" y="85323"/>
                </a:cubicBezTo>
                <a:cubicBezTo>
                  <a:pt x="16875" y="98796"/>
                  <a:pt x="27791" y="109712"/>
                  <a:pt x="41264" y="109712"/>
                </a:cubicBezTo>
                <a:cubicBezTo>
                  <a:pt x="45615" y="109712"/>
                  <a:pt x="49860" y="108552"/>
                  <a:pt x="53577" y="106390"/>
                </a:cubicBezTo>
                <a:cubicBezTo>
                  <a:pt x="57743" y="110609"/>
                  <a:pt x="62595" y="114142"/>
                  <a:pt x="67974" y="116805"/>
                </a:cubicBezTo>
                <a:cubicBezTo>
                  <a:pt x="60538" y="123107"/>
                  <a:pt x="51099" y="126613"/>
                  <a:pt x="41264" y="126613"/>
                </a:cubicBezTo>
                <a:cubicBezTo>
                  <a:pt x="18483" y="126613"/>
                  <a:pt x="0" y="108157"/>
                  <a:pt x="0" y="85349"/>
                </a:cubicBezTo>
                <a:cubicBezTo>
                  <a:pt x="0" y="74407"/>
                  <a:pt x="4351" y="63913"/>
                  <a:pt x="12076" y="56188"/>
                </a:cubicBezTo>
                <a:lnTo>
                  <a:pt x="30823" y="37441"/>
                </a:lnTo>
                <a:cubicBezTo>
                  <a:pt x="38548" y="29715"/>
                  <a:pt x="49042" y="25365"/>
                  <a:pt x="59984" y="25365"/>
                </a:cubicBezTo>
                <a:cubicBezTo>
                  <a:pt x="82818" y="25365"/>
                  <a:pt x="101248" y="43980"/>
                  <a:pt x="101248" y="66734"/>
                </a:cubicBezTo>
                <a:cubicBezTo>
                  <a:pt x="101248" y="67077"/>
                  <a:pt x="101248" y="67420"/>
                  <a:pt x="101248" y="67763"/>
                </a:cubicBezTo>
                <a:cubicBezTo>
                  <a:pt x="101143" y="72430"/>
                  <a:pt x="97267" y="76095"/>
                  <a:pt x="92600" y="75989"/>
                </a:cubicBezTo>
                <a:cubicBezTo>
                  <a:pt x="87933" y="75884"/>
                  <a:pt x="84268" y="72008"/>
                  <a:pt x="84374" y="67341"/>
                </a:cubicBezTo>
                <a:cubicBezTo>
                  <a:pt x="84374" y="67130"/>
                  <a:pt x="84374" y="66945"/>
                  <a:pt x="84374" y="66734"/>
                </a:cubicBezTo>
                <a:cubicBezTo>
                  <a:pt x="84374" y="57849"/>
                  <a:pt x="79628" y="50044"/>
                  <a:pt x="72561" y="45746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72" name="Text 70"/>
          <p:cNvSpPr/>
          <p:nvPr/>
        </p:nvSpPr>
        <p:spPr>
          <a:xfrm>
            <a:off x="8648962" y="5818072"/>
            <a:ext cx="607491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E0E2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文档资源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444355" y="6113380"/>
            <a:ext cx="88592" cy="118123"/>
          </a:xfrm>
          <a:custGeom>
            <a:avLst/>
            <a:gdLst/>
            <a:ahLst/>
            <a:cxnLst/>
            <a:rect l="l" t="t" r="r" b="b"/>
            <a:pathLst>
              <a:path w="88592" h="118123">
                <a:moveTo>
                  <a:pt x="0" y="14765"/>
                </a:moveTo>
                <a:cubicBezTo>
                  <a:pt x="0" y="6621"/>
                  <a:pt x="6621" y="0"/>
                  <a:pt x="14765" y="0"/>
                </a:cubicBezTo>
                <a:lnTo>
                  <a:pt x="49256" y="0"/>
                </a:lnTo>
                <a:cubicBezTo>
                  <a:pt x="53179" y="0"/>
                  <a:pt x="56939" y="1546"/>
                  <a:pt x="59708" y="4314"/>
                </a:cubicBezTo>
                <a:lnTo>
                  <a:pt x="84278" y="28908"/>
                </a:lnTo>
                <a:cubicBezTo>
                  <a:pt x="87047" y="31676"/>
                  <a:pt x="88592" y="35437"/>
                  <a:pt x="88592" y="39359"/>
                </a:cubicBezTo>
                <a:lnTo>
                  <a:pt x="88592" y="103358"/>
                </a:lnTo>
                <a:cubicBezTo>
                  <a:pt x="88592" y="111502"/>
                  <a:pt x="81971" y="118123"/>
                  <a:pt x="73827" y="118123"/>
                </a:cubicBezTo>
                <a:lnTo>
                  <a:pt x="14765" y="118123"/>
                </a:lnTo>
                <a:cubicBezTo>
                  <a:pt x="6621" y="118123"/>
                  <a:pt x="0" y="111502"/>
                  <a:pt x="0" y="103358"/>
                </a:cubicBezTo>
                <a:lnTo>
                  <a:pt x="0" y="14765"/>
                </a:lnTo>
                <a:close/>
                <a:moveTo>
                  <a:pt x="47988" y="13496"/>
                </a:moveTo>
                <a:lnTo>
                  <a:pt x="47988" y="35068"/>
                </a:lnTo>
                <a:cubicBezTo>
                  <a:pt x="47988" y="38136"/>
                  <a:pt x="50456" y="40605"/>
                  <a:pt x="53525" y="40605"/>
                </a:cubicBezTo>
                <a:lnTo>
                  <a:pt x="75096" y="40605"/>
                </a:lnTo>
                <a:lnTo>
                  <a:pt x="47988" y="13496"/>
                </a:lnTo>
                <a:close/>
                <a:moveTo>
                  <a:pt x="35575" y="68198"/>
                </a:moveTo>
                <a:cubicBezTo>
                  <a:pt x="37559" y="65868"/>
                  <a:pt x="37306" y="62384"/>
                  <a:pt x="34976" y="60400"/>
                </a:cubicBezTo>
                <a:cubicBezTo>
                  <a:pt x="32645" y="58416"/>
                  <a:pt x="29162" y="58669"/>
                  <a:pt x="27178" y="61000"/>
                </a:cubicBezTo>
                <a:lnTo>
                  <a:pt x="16104" y="73919"/>
                </a:lnTo>
                <a:cubicBezTo>
                  <a:pt x="14327" y="75996"/>
                  <a:pt x="14327" y="79041"/>
                  <a:pt x="16104" y="81117"/>
                </a:cubicBezTo>
                <a:lnTo>
                  <a:pt x="27178" y="94037"/>
                </a:lnTo>
                <a:cubicBezTo>
                  <a:pt x="29162" y="96367"/>
                  <a:pt x="32668" y="96621"/>
                  <a:pt x="34976" y="94637"/>
                </a:cubicBezTo>
                <a:cubicBezTo>
                  <a:pt x="37283" y="92653"/>
                  <a:pt x="37559" y="89146"/>
                  <a:pt x="35575" y="86839"/>
                </a:cubicBezTo>
                <a:lnTo>
                  <a:pt x="27593" y="77518"/>
                </a:lnTo>
                <a:lnTo>
                  <a:pt x="35575" y="68198"/>
                </a:lnTo>
                <a:close/>
                <a:moveTo>
                  <a:pt x="61415" y="61000"/>
                </a:moveTo>
                <a:cubicBezTo>
                  <a:pt x="59431" y="58669"/>
                  <a:pt x="55924" y="58416"/>
                  <a:pt x="53617" y="60400"/>
                </a:cubicBezTo>
                <a:cubicBezTo>
                  <a:pt x="51310" y="62384"/>
                  <a:pt x="51033" y="65891"/>
                  <a:pt x="53017" y="68198"/>
                </a:cubicBezTo>
                <a:lnTo>
                  <a:pt x="61000" y="77518"/>
                </a:lnTo>
                <a:lnTo>
                  <a:pt x="53017" y="86839"/>
                </a:lnTo>
                <a:cubicBezTo>
                  <a:pt x="51033" y="89169"/>
                  <a:pt x="51287" y="92653"/>
                  <a:pt x="53617" y="94637"/>
                </a:cubicBezTo>
                <a:cubicBezTo>
                  <a:pt x="55947" y="96621"/>
                  <a:pt x="59431" y="96367"/>
                  <a:pt x="61415" y="94037"/>
                </a:cubicBezTo>
                <a:lnTo>
                  <a:pt x="72489" y="81117"/>
                </a:lnTo>
                <a:cubicBezTo>
                  <a:pt x="74265" y="79041"/>
                  <a:pt x="74265" y="75996"/>
                  <a:pt x="72489" y="73919"/>
                </a:cubicBezTo>
                <a:lnTo>
                  <a:pt x="61415" y="61000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74" name="Text 72"/>
          <p:cNvSpPr/>
          <p:nvPr/>
        </p:nvSpPr>
        <p:spPr>
          <a:xfrm>
            <a:off x="8594119" y="6088067"/>
            <a:ext cx="767801" cy="1687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数据库表结构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444355" y="6349626"/>
            <a:ext cx="88592" cy="118123"/>
          </a:xfrm>
          <a:custGeom>
            <a:avLst/>
            <a:gdLst/>
            <a:ahLst/>
            <a:cxnLst/>
            <a:rect l="l" t="t" r="r" b="b"/>
            <a:pathLst>
              <a:path w="88592" h="118123">
                <a:moveTo>
                  <a:pt x="0" y="14765"/>
                </a:moveTo>
                <a:cubicBezTo>
                  <a:pt x="0" y="6621"/>
                  <a:pt x="6621" y="0"/>
                  <a:pt x="14765" y="0"/>
                </a:cubicBezTo>
                <a:lnTo>
                  <a:pt x="49256" y="0"/>
                </a:lnTo>
                <a:cubicBezTo>
                  <a:pt x="53179" y="0"/>
                  <a:pt x="56939" y="1546"/>
                  <a:pt x="59708" y="4314"/>
                </a:cubicBezTo>
                <a:lnTo>
                  <a:pt x="84278" y="28908"/>
                </a:lnTo>
                <a:cubicBezTo>
                  <a:pt x="87047" y="31676"/>
                  <a:pt x="88592" y="35437"/>
                  <a:pt x="88592" y="39359"/>
                </a:cubicBezTo>
                <a:lnTo>
                  <a:pt x="88592" y="103358"/>
                </a:lnTo>
                <a:cubicBezTo>
                  <a:pt x="88592" y="111502"/>
                  <a:pt x="81971" y="118123"/>
                  <a:pt x="73827" y="118123"/>
                </a:cubicBezTo>
                <a:lnTo>
                  <a:pt x="14765" y="118123"/>
                </a:lnTo>
                <a:cubicBezTo>
                  <a:pt x="6621" y="118123"/>
                  <a:pt x="0" y="111502"/>
                  <a:pt x="0" y="103358"/>
                </a:cubicBezTo>
                <a:lnTo>
                  <a:pt x="0" y="14765"/>
                </a:lnTo>
                <a:close/>
                <a:moveTo>
                  <a:pt x="47988" y="13496"/>
                </a:moveTo>
                <a:lnTo>
                  <a:pt x="47988" y="35068"/>
                </a:lnTo>
                <a:cubicBezTo>
                  <a:pt x="47988" y="38136"/>
                  <a:pt x="50456" y="40605"/>
                  <a:pt x="53525" y="40605"/>
                </a:cubicBezTo>
                <a:lnTo>
                  <a:pt x="75096" y="40605"/>
                </a:lnTo>
                <a:lnTo>
                  <a:pt x="47988" y="13496"/>
                </a:lnTo>
                <a:close/>
                <a:moveTo>
                  <a:pt x="27685" y="59062"/>
                </a:moveTo>
                <a:cubicBezTo>
                  <a:pt x="24617" y="59062"/>
                  <a:pt x="22148" y="61530"/>
                  <a:pt x="22148" y="64599"/>
                </a:cubicBezTo>
                <a:cubicBezTo>
                  <a:pt x="22148" y="67667"/>
                  <a:pt x="24617" y="70136"/>
                  <a:pt x="27685" y="70136"/>
                </a:cubicBezTo>
                <a:lnTo>
                  <a:pt x="60907" y="70136"/>
                </a:lnTo>
                <a:cubicBezTo>
                  <a:pt x="63976" y="70136"/>
                  <a:pt x="66444" y="67667"/>
                  <a:pt x="66444" y="64599"/>
                </a:cubicBezTo>
                <a:cubicBezTo>
                  <a:pt x="66444" y="61530"/>
                  <a:pt x="63976" y="59062"/>
                  <a:pt x="60907" y="59062"/>
                </a:cubicBezTo>
                <a:lnTo>
                  <a:pt x="27685" y="59062"/>
                </a:lnTo>
                <a:close/>
                <a:moveTo>
                  <a:pt x="27685" y="81210"/>
                </a:moveTo>
                <a:cubicBezTo>
                  <a:pt x="24617" y="81210"/>
                  <a:pt x="22148" y="83678"/>
                  <a:pt x="22148" y="86747"/>
                </a:cubicBezTo>
                <a:cubicBezTo>
                  <a:pt x="22148" y="89815"/>
                  <a:pt x="24617" y="92284"/>
                  <a:pt x="27685" y="92284"/>
                </a:cubicBezTo>
                <a:lnTo>
                  <a:pt x="60907" y="92284"/>
                </a:lnTo>
                <a:cubicBezTo>
                  <a:pt x="63976" y="92284"/>
                  <a:pt x="66444" y="89815"/>
                  <a:pt x="66444" y="86747"/>
                </a:cubicBezTo>
                <a:cubicBezTo>
                  <a:pt x="66444" y="83678"/>
                  <a:pt x="63976" y="81210"/>
                  <a:pt x="60907" y="81210"/>
                </a:cubicBezTo>
                <a:lnTo>
                  <a:pt x="27685" y="81210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76" name="Text 74"/>
          <p:cNvSpPr/>
          <p:nvPr/>
        </p:nvSpPr>
        <p:spPr>
          <a:xfrm>
            <a:off x="8594119" y="6324314"/>
            <a:ext cx="708739" cy="1687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API接口文档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422207" y="6585872"/>
            <a:ext cx="132889" cy="118123"/>
          </a:xfrm>
          <a:custGeom>
            <a:avLst/>
            <a:gdLst/>
            <a:ahLst/>
            <a:cxnLst/>
            <a:rect l="l" t="t" r="r" b="b"/>
            <a:pathLst>
              <a:path w="132889" h="118123">
                <a:moveTo>
                  <a:pt x="22148" y="0"/>
                </a:moveTo>
                <a:cubicBezTo>
                  <a:pt x="14004" y="0"/>
                  <a:pt x="7383" y="6621"/>
                  <a:pt x="7383" y="14765"/>
                </a:cubicBezTo>
                <a:lnTo>
                  <a:pt x="7383" y="103358"/>
                </a:lnTo>
                <a:cubicBezTo>
                  <a:pt x="7383" y="111502"/>
                  <a:pt x="14004" y="118123"/>
                  <a:pt x="22148" y="118123"/>
                </a:cubicBezTo>
                <a:lnTo>
                  <a:pt x="40605" y="118123"/>
                </a:lnTo>
                <a:lnTo>
                  <a:pt x="40605" y="92284"/>
                </a:lnTo>
                <a:cubicBezTo>
                  <a:pt x="40605" y="84140"/>
                  <a:pt x="47226" y="77518"/>
                  <a:pt x="55370" y="77518"/>
                </a:cubicBezTo>
                <a:lnTo>
                  <a:pt x="95975" y="77518"/>
                </a:lnTo>
                <a:lnTo>
                  <a:pt x="95975" y="39336"/>
                </a:lnTo>
                <a:cubicBezTo>
                  <a:pt x="95975" y="35414"/>
                  <a:pt x="94429" y="31653"/>
                  <a:pt x="91661" y="28885"/>
                </a:cubicBezTo>
                <a:lnTo>
                  <a:pt x="67067" y="4314"/>
                </a:lnTo>
                <a:cubicBezTo>
                  <a:pt x="64299" y="1546"/>
                  <a:pt x="60561" y="0"/>
                  <a:pt x="56639" y="0"/>
                </a:cubicBezTo>
                <a:lnTo>
                  <a:pt x="22148" y="0"/>
                </a:lnTo>
                <a:close/>
                <a:moveTo>
                  <a:pt x="82479" y="40605"/>
                </a:moveTo>
                <a:lnTo>
                  <a:pt x="60907" y="40605"/>
                </a:lnTo>
                <a:cubicBezTo>
                  <a:pt x="57839" y="40605"/>
                  <a:pt x="55370" y="38136"/>
                  <a:pt x="55370" y="35068"/>
                </a:cubicBezTo>
                <a:lnTo>
                  <a:pt x="55370" y="13496"/>
                </a:lnTo>
                <a:lnTo>
                  <a:pt x="82479" y="40605"/>
                </a:lnTo>
                <a:close/>
                <a:moveTo>
                  <a:pt x="55370" y="87670"/>
                </a:moveTo>
                <a:cubicBezTo>
                  <a:pt x="52832" y="87670"/>
                  <a:pt x="50756" y="89746"/>
                  <a:pt x="50756" y="92284"/>
                </a:cubicBezTo>
                <a:lnTo>
                  <a:pt x="50756" y="121815"/>
                </a:lnTo>
                <a:cubicBezTo>
                  <a:pt x="50756" y="124352"/>
                  <a:pt x="52832" y="126429"/>
                  <a:pt x="55370" y="126429"/>
                </a:cubicBezTo>
                <a:cubicBezTo>
                  <a:pt x="57908" y="126429"/>
                  <a:pt x="59984" y="124352"/>
                  <a:pt x="59984" y="121815"/>
                </a:cubicBezTo>
                <a:lnTo>
                  <a:pt x="59984" y="115355"/>
                </a:lnTo>
                <a:lnTo>
                  <a:pt x="62753" y="115355"/>
                </a:lnTo>
                <a:cubicBezTo>
                  <a:pt x="70389" y="115355"/>
                  <a:pt x="76596" y="109149"/>
                  <a:pt x="76596" y="101512"/>
                </a:cubicBezTo>
                <a:cubicBezTo>
                  <a:pt x="76596" y="93876"/>
                  <a:pt x="70389" y="87670"/>
                  <a:pt x="62753" y="87670"/>
                </a:cubicBezTo>
                <a:lnTo>
                  <a:pt x="55370" y="87670"/>
                </a:lnTo>
                <a:close/>
                <a:moveTo>
                  <a:pt x="62753" y="106126"/>
                </a:moveTo>
                <a:lnTo>
                  <a:pt x="59984" y="106126"/>
                </a:lnTo>
                <a:lnTo>
                  <a:pt x="59984" y="96898"/>
                </a:lnTo>
                <a:lnTo>
                  <a:pt x="62753" y="96898"/>
                </a:lnTo>
                <a:cubicBezTo>
                  <a:pt x="65291" y="96898"/>
                  <a:pt x="67367" y="98974"/>
                  <a:pt x="67367" y="101512"/>
                </a:cubicBezTo>
                <a:cubicBezTo>
                  <a:pt x="67367" y="104050"/>
                  <a:pt x="65291" y="106126"/>
                  <a:pt x="62753" y="106126"/>
                </a:cubicBezTo>
                <a:close/>
                <a:moveTo>
                  <a:pt x="84901" y="87670"/>
                </a:moveTo>
                <a:cubicBezTo>
                  <a:pt x="82363" y="87670"/>
                  <a:pt x="80287" y="89746"/>
                  <a:pt x="80287" y="92284"/>
                </a:cubicBezTo>
                <a:lnTo>
                  <a:pt x="80287" y="121815"/>
                </a:lnTo>
                <a:cubicBezTo>
                  <a:pt x="80287" y="124352"/>
                  <a:pt x="82363" y="126429"/>
                  <a:pt x="84901" y="126429"/>
                </a:cubicBezTo>
                <a:lnTo>
                  <a:pt x="92284" y="126429"/>
                </a:lnTo>
                <a:cubicBezTo>
                  <a:pt x="98905" y="126429"/>
                  <a:pt x="104281" y="121053"/>
                  <a:pt x="104281" y="114432"/>
                </a:cubicBezTo>
                <a:lnTo>
                  <a:pt x="104281" y="99666"/>
                </a:lnTo>
                <a:cubicBezTo>
                  <a:pt x="104281" y="93045"/>
                  <a:pt x="98905" y="87670"/>
                  <a:pt x="92284" y="87670"/>
                </a:cubicBezTo>
                <a:lnTo>
                  <a:pt x="84901" y="87670"/>
                </a:lnTo>
                <a:close/>
                <a:moveTo>
                  <a:pt x="89515" y="117200"/>
                </a:moveTo>
                <a:lnTo>
                  <a:pt x="89515" y="96898"/>
                </a:lnTo>
                <a:lnTo>
                  <a:pt x="92284" y="96898"/>
                </a:lnTo>
                <a:cubicBezTo>
                  <a:pt x="93806" y="96898"/>
                  <a:pt x="95052" y="98144"/>
                  <a:pt x="95052" y="99666"/>
                </a:cubicBezTo>
                <a:lnTo>
                  <a:pt x="95052" y="114432"/>
                </a:lnTo>
                <a:cubicBezTo>
                  <a:pt x="95052" y="115955"/>
                  <a:pt x="93806" y="117200"/>
                  <a:pt x="92284" y="117200"/>
                </a:cubicBezTo>
                <a:lnTo>
                  <a:pt x="89515" y="117200"/>
                </a:lnTo>
                <a:close/>
                <a:moveTo>
                  <a:pt x="109818" y="92284"/>
                </a:moveTo>
                <a:lnTo>
                  <a:pt x="109818" y="121815"/>
                </a:lnTo>
                <a:cubicBezTo>
                  <a:pt x="109818" y="124352"/>
                  <a:pt x="111894" y="126429"/>
                  <a:pt x="114432" y="126429"/>
                </a:cubicBezTo>
                <a:cubicBezTo>
                  <a:pt x="116970" y="126429"/>
                  <a:pt x="119046" y="124352"/>
                  <a:pt x="119046" y="121815"/>
                </a:cubicBezTo>
                <a:lnTo>
                  <a:pt x="119046" y="111663"/>
                </a:lnTo>
                <a:lnTo>
                  <a:pt x="125506" y="111663"/>
                </a:lnTo>
                <a:cubicBezTo>
                  <a:pt x="128044" y="111663"/>
                  <a:pt x="130120" y="109587"/>
                  <a:pt x="130120" y="107049"/>
                </a:cubicBezTo>
                <a:cubicBezTo>
                  <a:pt x="130120" y="104511"/>
                  <a:pt x="128044" y="102435"/>
                  <a:pt x="125506" y="102435"/>
                </a:cubicBezTo>
                <a:lnTo>
                  <a:pt x="119046" y="102435"/>
                </a:lnTo>
                <a:lnTo>
                  <a:pt x="119046" y="96898"/>
                </a:lnTo>
                <a:lnTo>
                  <a:pt x="125506" y="96898"/>
                </a:lnTo>
                <a:cubicBezTo>
                  <a:pt x="128044" y="96898"/>
                  <a:pt x="130120" y="94822"/>
                  <a:pt x="130120" y="92284"/>
                </a:cubicBezTo>
                <a:cubicBezTo>
                  <a:pt x="130120" y="89746"/>
                  <a:pt x="128044" y="87670"/>
                  <a:pt x="125506" y="87670"/>
                </a:cubicBezTo>
                <a:lnTo>
                  <a:pt x="114432" y="87670"/>
                </a:lnTo>
                <a:cubicBezTo>
                  <a:pt x="111894" y="87670"/>
                  <a:pt x="109818" y="89746"/>
                  <a:pt x="109818" y="92284"/>
                </a:cubicBezTo>
                <a:close/>
              </a:path>
            </a:pathLst>
          </a:custGeom>
          <a:solidFill>
            <a:srgbClr val="3C8082"/>
          </a:solidFill>
        </p:spPr>
      </p:sp>
      <p:sp>
        <p:nvSpPr>
          <p:cNvPr id="78" name="Text 76"/>
          <p:cNvSpPr/>
          <p:nvPr/>
        </p:nvSpPr>
        <p:spPr>
          <a:xfrm>
            <a:off x="8594119" y="6560560"/>
            <a:ext cx="531554" cy="1687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E0E2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部署指南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9237f3b505563248920a84848de75b4d1d213ca5.jpeg"/>
          <p:cNvPicPr>
            <a:picLocks noChangeAspect="1"/>
          </p:cNvPicPr>
          <p:nvPr/>
        </p:nvPicPr>
        <p:blipFill>
          <a:blip r:embed="rId1">
            <a:alphaModFix amt="40000"/>
          </a:blip>
          <a:srcRect l="194" r="19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C8082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638800" y="847334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8082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38825" y="1075934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74600" y="85725"/>
                </a:moveTo>
                <a:cubicBezTo>
                  <a:pt x="359777" y="85725"/>
                  <a:pt x="345400" y="89743"/>
                  <a:pt x="332809" y="97066"/>
                </a:cubicBezTo>
                <a:cubicBezTo>
                  <a:pt x="318701" y="82778"/>
                  <a:pt x="302270" y="70812"/>
                  <a:pt x="284143" y="61793"/>
                </a:cubicBezTo>
                <a:cubicBezTo>
                  <a:pt x="309324" y="40362"/>
                  <a:pt x="341382" y="28575"/>
                  <a:pt x="374600" y="28575"/>
                </a:cubicBezTo>
                <a:cubicBezTo>
                  <a:pt x="451753" y="28575"/>
                  <a:pt x="514350" y="91083"/>
                  <a:pt x="514350" y="168325"/>
                </a:cubicBezTo>
                <a:cubicBezTo>
                  <a:pt x="514350" y="205383"/>
                  <a:pt x="499616" y="240923"/>
                  <a:pt x="473452" y="267087"/>
                </a:cubicBezTo>
                <a:lnTo>
                  <a:pt x="409962" y="330577"/>
                </a:lnTo>
                <a:cubicBezTo>
                  <a:pt x="383798" y="356741"/>
                  <a:pt x="348258" y="371475"/>
                  <a:pt x="311200" y="371475"/>
                </a:cubicBezTo>
                <a:cubicBezTo>
                  <a:pt x="234047" y="371475"/>
                  <a:pt x="171450" y="308967"/>
                  <a:pt x="171450" y="231725"/>
                </a:cubicBezTo>
                <a:cubicBezTo>
                  <a:pt x="171450" y="230386"/>
                  <a:pt x="171450" y="229046"/>
                  <a:pt x="171539" y="227707"/>
                </a:cubicBezTo>
                <a:cubicBezTo>
                  <a:pt x="171986" y="211901"/>
                  <a:pt x="185112" y="199489"/>
                  <a:pt x="200918" y="199936"/>
                </a:cubicBezTo>
                <a:cubicBezTo>
                  <a:pt x="216724" y="200382"/>
                  <a:pt x="229136" y="213509"/>
                  <a:pt x="228689" y="229314"/>
                </a:cubicBezTo>
                <a:cubicBezTo>
                  <a:pt x="228689" y="230118"/>
                  <a:pt x="228689" y="230922"/>
                  <a:pt x="228689" y="231636"/>
                </a:cubicBezTo>
                <a:cubicBezTo>
                  <a:pt x="228689" y="277267"/>
                  <a:pt x="265658" y="314236"/>
                  <a:pt x="311289" y="314236"/>
                </a:cubicBezTo>
                <a:cubicBezTo>
                  <a:pt x="333167" y="314236"/>
                  <a:pt x="354151" y="305574"/>
                  <a:pt x="369689" y="290036"/>
                </a:cubicBezTo>
                <a:lnTo>
                  <a:pt x="433179" y="226546"/>
                </a:lnTo>
                <a:cubicBezTo>
                  <a:pt x="448628" y="211098"/>
                  <a:pt x="457379" y="190024"/>
                  <a:pt x="457379" y="168146"/>
                </a:cubicBezTo>
                <a:cubicBezTo>
                  <a:pt x="457379" y="122515"/>
                  <a:pt x="420410" y="85546"/>
                  <a:pt x="374779" y="85546"/>
                </a:cubicBezTo>
                <a:close/>
                <a:moveTo>
                  <a:pt x="245745" y="154751"/>
                </a:moveTo>
                <a:cubicBezTo>
                  <a:pt x="244048" y="154037"/>
                  <a:pt x="242352" y="153055"/>
                  <a:pt x="240834" y="151983"/>
                </a:cubicBezTo>
                <a:cubicBezTo>
                  <a:pt x="229582" y="146179"/>
                  <a:pt x="216724" y="142875"/>
                  <a:pt x="203240" y="142875"/>
                </a:cubicBezTo>
                <a:cubicBezTo>
                  <a:pt x="181362" y="142875"/>
                  <a:pt x="160377" y="151537"/>
                  <a:pt x="144840" y="167074"/>
                </a:cubicBezTo>
                <a:lnTo>
                  <a:pt x="81349" y="230565"/>
                </a:lnTo>
                <a:cubicBezTo>
                  <a:pt x="65901" y="246013"/>
                  <a:pt x="57150" y="267087"/>
                  <a:pt x="57150" y="288965"/>
                </a:cubicBezTo>
                <a:cubicBezTo>
                  <a:pt x="57150" y="334595"/>
                  <a:pt x="94119" y="371564"/>
                  <a:pt x="139750" y="371564"/>
                </a:cubicBezTo>
                <a:cubicBezTo>
                  <a:pt x="154484" y="371564"/>
                  <a:pt x="168860" y="367635"/>
                  <a:pt x="181451" y="360313"/>
                </a:cubicBezTo>
                <a:cubicBezTo>
                  <a:pt x="195560" y="374600"/>
                  <a:pt x="211991" y="386566"/>
                  <a:pt x="230207" y="395585"/>
                </a:cubicBezTo>
                <a:cubicBezTo>
                  <a:pt x="205026" y="416927"/>
                  <a:pt x="173057" y="428804"/>
                  <a:pt x="139750" y="428804"/>
                </a:cubicBezTo>
                <a:cubicBezTo>
                  <a:pt x="62597" y="428804"/>
                  <a:pt x="0" y="366296"/>
                  <a:pt x="0" y="289054"/>
                </a:cubicBezTo>
                <a:cubicBezTo>
                  <a:pt x="0" y="251996"/>
                  <a:pt x="14734" y="216456"/>
                  <a:pt x="40898" y="190292"/>
                </a:cubicBezTo>
                <a:lnTo>
                  <a:pt x="104388" y="126802"/>
                </a:lnTo>
                <a:cubicBezTo>
                  <a:pt x="130552" y="100638"/>
                  <a:pt x="166092" y="85904"/>
                  <a:pt x="203150" y="85904"/>
                </a:cubicBezTo>
                <a:cubicBezTo>
                  <a:pt x="280481" y="85904"/>
                  <a:pt x="342900" y="148947"/>
                  <a:pt x="342900" y="226010"/>
                </a:cubicBezTo>
                <a:cubicBezTo>
                  <a:pt x="342900" y="227171"/>
                  <a:pt x="342900" y="228332"/>
                  <a:pt x="342900" y="229493"/>
                </a:cubicBezTo>
                <a:cubicBezTo>
                  <a:pt x="342543" y="245299"/>
                  <a:pt x="329416" y="257711"/>
                  <a:pt x="313611" y="257354"/>
                </a:cubicBezTo>
                <a:cubicBezTo>
                  <a:pt x="297805" y="256996"/>
                  <a:pt x="285393" y="243870"/>
                  <a:pt x="285750" y="228064"/>
                </a:cubicBezTo>
                <a:cubicBezTo>
                  <a:pt x="285750" y="227350"/>
                  <a:pt x="285750" y="226725"/>
                  <a:pt x="285750" y="226010"/>
                </a:cubicBezTo>
                <a:cubicBezTo>
                  <a:pt x="285750" y="195917"/>
                  <a:pt x="269677" y="169485"/>
                  <a:pt x="245745" y="154930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6" name="Text 3"/>
          <p:cNvSpPr/>
          <p:nvPr/>
        </p:nvSpPr>
        <p:spPr>
          <a:xfrm>
            <a:off x="2376091" y="1990334"/>
            <a:ext cx="74390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连接未来，即刻开始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90473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8" name="Text 5"/>
          <p:cNvSpPr/>
          <p:nvPr/>
        </p:nvSpPr>
        <p:spPr>
          <a:xfrm>
            <a:off x="2476103" y="3171434"/>
            <a:ext cx="7239000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E0E2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Connector - 让微服务集成变得更简单、更安全、更智能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660525" y="3943753"/>
            <a:ext cx="2749550" cy="1492250"/>
          </a:xfrm>
          <a:custGeom>
            <a:avLst/>
            <a:gdLst/>
            <a:ahLst/>
            <a:cxnLst/>
            <a:rect l="l" t="t" r="r" b="b"/>
            <a:pathLst>
              <a:path w="2749550" h="1492250">
                <a:moveTo>
                  <a:pt x="114306" y="0"/>
                </a:moveTo>
                <a:lnTo>
                  <a:pt x="2635244" y="0"/>
                </a:lnTo>
                <a:cubicBezTo>
                  <a:pt x="2698373" y="0"/>
                  <a:pt x="2749550" y="51177"/>
                  <a:pt x="2749550" y="114306"/>
                </a:cubicBezTo>
                <a:lnTo>
                  <a:pt x="2749550" y="1377944"/>
                </a:lnTo>
                <a:cubicBezTo>
                  <a:pt x="2749550" y="1441073"/>
                  <a:pt x="2698373" y="1492250"/>
                  <a:pt x="2635244" y="1492250"/>
                </a:cubicBezTo>
                <a:lnTo>
                  <a:pt x="114306" y="1492250"/>
                </a:lnTo>
                <a:cubicBezTo>
                  <a:pt x="51177" y="1492250"/>
                  <a:pt x="0" y="1441073"/>
                  <a:pt x="0" y="137794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8467">
            <a:solidFill>
              <a:srgbClr val="4A5462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63850" y="417552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11" name="Text 8"/>
          <p:cNvSpPr/>
          <p:nvPr/>
        </p:nvSpPr>
        <p:spPr>
          <a:xfrm>
            <a:off x="1844675" y="4632722"/>
            <a:ext cx="2381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快速启动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54200" y="4975622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10分钟内完成部署，即刻体验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21225" y="3943753"/>
            <a:ext cx="2749550" cy="1492250"/>
          </a:xfrm>
          <a:custGeom>
            <a:avLst/>
            <a:gdLst/>
            <a:ahLst/>
            <a:cxnLst/>
            <a:rect l="l" t="t" r="r" b="b"/>
            <a:pathLst>
              <a:path w="2749550" h="1492250">
                <a:moveTo>
                  <a:pt x="114306" y="0"/>
                </a:moveTo>
                <a:lnTo>
                  <a:pt x="2635244" y="0"/>
                </a:lnTo>
                <a:cubicBezTo>
                  <a:pt x="2698373" y="0"/>
                  <a:pt x="2749550" y="51177"/>
                  <a:pt x="2749550" y="114306"/>
                </a:cubicBezTo>
                <a:lnTo>
                  <a:pt x="2749550" y="1377944"/>
                </a:lnTo>
                <a:cubicBezTo>
                  <a:pt x="2749550" y="1441073"/>
                  <a:pt x="2698373" y="1492250"/>
                  <a:pt x="2635244" y="1492250"/>
                </a:cubicBezTo>
                <a:lnTo>
                  <a:pt x="114306" y="1492250"/>
                </a:lnTo>
                <a:cubicBezTo>
                  <a:pt x="51177" y="1492250"/>
                  <a:pt x="0" y="1441073"/>
                  <a:pt x="0" y="137794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8467">
            <a:solidFill>
              <a:srgbClr val="4A5462">
                <a:alpha val="5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24550" y="417552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74531" y="0"/>
                  <a:pt x="177611" y="670"/>
                  <a:pt x="180424" y="1942"/>
                </a:cubicBezTo>
                <a:lnTo>
                  <a:pt x="306601" y="55453"/>
                </a:lnTo>
                <a:cubicBezTo>
                  <a:pt x="321335" y="61682"/>
                  <a:pt x="332318" y="76215"/>
                  <a:pt x="332251" y="93762"/>
                </a:cubicBezTo>
                <a:cubicBezTo>
                  <a:pt x="331916" y="160199"/>
                  <a:pt x="304592" y="281754"/>
                  <a:pt x="189198" y="337006"/>
                </a:cubicBezTo>
                <a:cubicBezTo>
                  <a:pt x="178013" y="342364"/>
                  <a:pt x="165021" y="342364"/>
                  <a:pt x="153836" y="337006"/>
                </a:cubicBezTo>
                <a:cubicBezTo>
                  <a:pt x="38375" y="281754"/>
                  <a:pt x="11117" y="160199"/>
                  <a:pt x="10783" y="93762"/>
                </a:cubicBezTo>
                <a:cubicBezTo>
                  <a:pt x="10716" y="76215"/>
                  <a:pt x="21699" y="61682"/>
                  <a:pt x="36433" y="55453"/>
                </a:cubicBezTo>
                <a:lnTo>
                  <a:pt x="162543" y="1942"/>
                </a:lnTo>
                <a:cubicBezTo>
                  <a:pt x="165355" y="670"/>
                  <a:pt x="168369" y="0"/>
                  <a:pt x="171450" y="0"/>
                </a:cubicBezTo>
                <a:close/>
                <a:moveTo>
                  <a:pt x="171450" y="44738"/>
                </a:moveTo>
                <a:lnTo>
                  <a:pt x="171450" y="297961"/>
                </a:lnTo>
                <a:cubicBezTo>
                  <a:pt x="263872" y="253224"/>
                  <a:pt x="288719" y="154104"/>
                  <a:pt x="289322" y="94766"/>
                </a:cubicBezTo>
                <a:lnTo>
                  <a:pt x="171450" y="44805"/>
                </a:lnTo>
                <a:lnTo>
                  <a:pt x="171450" y="44805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15" name="Text 12"/>
          <p:cNvSpPr/>
          <p:nvPr/>
        </p:nvSpPr>
        <p:spPr>
          <a:xfrm>
            <a:off x="4905375" y="4632722"/>
            <a:ext cx="2381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企业级安全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14900" y="4975622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内置加密传输与权限控制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81925" y="3943753"/>
            <a:ext cx="2749550" cy="1492250"/>
          </a:xfrm>
          <a:custGeom>
            <a:avLst/>
            <a:gdLst/>
            <a:ahLst/>
            <a:cxnLst/>
            <a:rect l="l" t="t" r="r" b="b"/>
            <a:pathLst>
              <a:path w="2749550" h="1492250">
                <a:moveTo>
                  <a:pt x="114306" y="0"/>
                </a:moveTo>
                <a:lnTo>
                  <a:pt x="2635244" y="0"/>
                </a:lnTo>
                <a:cubicBezTo>
                  <a:pt x="2698373" y="0"/>
                  <a:pt x="2749550" y="51177"/>
                  <a:pt x="2749550" y="114306"/>
                </a:cubicBezTo>
                <a:lnTo>
                  <a:pt x="2749550" y="1377944"/>
                </a:lnTo>
                <a:cubicBezTo>
                  <a:pt x="2749550" y="1441073"/>
                  <a:pt x="2698373" y="1492250"/>
                  <a:pt x="2635244" y="1492250"/>
                </a:cubicBezTo>
                <a:lnTo>
                  <a:pt x="114306" y="1492250"/>
                </a:lnTo>
                <a:cubicBezTo>
                  <a:pt x="51177" y="1492250"/>
                  <a:pt x="0" y="1441073"/>
                  <a:pt x="0" y="137794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4A5462">
              <a:alpha val="30196"/>
            </a:srgbClr>
          </a:solidFill>
          <a:ln w="8467">
            <a:solidFill>
              <a:srgbClr val="4A5462">
                <a:alpha val="5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85250" y="417552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E5A04C"/>
          </a:solidFill>
        </p:spPr>
      </p:sp>
      <p:sp>
        <p:nvSpPr>
          <p:cNvPr id="19" name="Text 16"/>
          <p:cNvSpPr/>
          <p:nvPr/>
        </p:nvSpPr>
        <p:spPr>
          <a:xfrm>
            <a:off x="7966075" y="4632722"/>
            <a:ext cx="2381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全链路监控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975600" y="4975622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拒绝黑盒，每一次请求都清晰可见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057650" y="5763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2" name="Text 19"/>
          <p:cNvSpPr/>
          <p:nvPr/>
        </p:nvSpPr>
        <p:spPr>
          <a:xfrm>
            <a:off x="4348163" y="57439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开源项目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05425" y="5763025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09550"/>
                </a:lnTo>
                <a:cubicBezTo>
                  <a:pt x="38100" y="220064"/>
                  <a:pt x="29564" y="228600"/>
                  <a:pt x="19050" y="228600"/>
                </a:cubicBezTo>
                <a:lnTo>
                  <a:pt x="19050" y="228600"/>
                </a:lnTo>
                <a:cubicBezTo>
                  <a:pt x="8536" y="228600"/>
                  <a:pt x="0" y="220064"/>
                  <a:pt x="0" y="2095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5462"/>
          </a:solidFill>
        </p:spPr>
      </p:sp>
      <p:sp>
        <p:nvSpPr>
          <p:cNvPr id="24" name="Shape 21"/>
          <p:cNvSpPr/>
          <p:nvPr/>
        </p:nvSpPr>
        <p:spPr>
          <a:xfrm>
            <a:off x="5572125" y="57630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3C8082"/>
          </a:solidFill>
        </p:spPr>
      </p:sp>
      <p:sp>
        <p:nvSpPr>
          <p:cNvPr id="25" name="Text 22"/>
          <p:cNvSpPr/>
          <p:nvPr/>
        </p:nvSpPr>
        <p:spPr>
          <a:xfrm>
            <a:off x="5891213" y="57439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社区支持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48475" y="5763025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09550"/>
                </a:lnTo>
                <a:cubicBezTo>
                  <a:pt x="38100" y="220064"/>
                  <a:pt x="29564" y="228600"/>
                  <a:pt x="19050" y="228600"/>
                </a:cubicBezTo>
                <a:lnTo>
                  <a:pt x="19050" y="228600"/>
                </a:lnTo>
                <a:cubicBezTo>
                  <a:pt x="8536" y="228600"/>
                  <a:pt x="0" y="220064"/>
                  <a:pt x="0" y="2095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5462"/>
          </a:solidFill>
        </p:spPr>
      </p:sp>
      <p:sp>
        <p:nvSpPr>
          <p:cNvPr id="27" name="Shape 24"/>
          <p:cNvSpPr/>
          <p:nvPr/>
        </p:nvSpPr>
        <p:spPr>
          <a:xfrm>
            <a:off x="7143750" y="5763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E5A04C"/>
          </a:solidFill>
        </p:spPr>
      </p:sp>
      <p:sp>
        <p:nvSpPr>
          <p:cNvPr id="28" name="Text 25"/>
          <p:cNvSpPr/>
          <p:nvPr/>
        </p:nvSpPr>
        <p:spPr>
          <a:xfrm>
            <a:off x="7434263" y="57439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持续迭代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5739</Words>
  <Application>WPS 演示</Application>
  <PresentationFormat>On-screen Show (16:9)</PresentationFormat>
  <Paragraphs>750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Liter</vt:lpstr>
      <vt:lpstr>Liter</vt:lpstr>
      <vt:lpstr>Liter</vt:lpstr>
      <vt:lpstr>Noto Sans SC</vt:lpstr>
      <vt:lpstr>Noto Sans SC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Connector - 下一代企业级路由转发与数据映射平台</dc:title>
  <dc:creator>Kimi</dc:creator>
  <dc:subject>Connector - 下一代企业级路由转发与数据映射平台</dc:subject>
  <cp:lastModifiedBy>lcb</cp:lastModifiedBy>
  <cp:revision>3</cp:revision>
  <dcterms:created xsi:type="dcterms:W3CDTF">2026-01-22T11:53:00Z</dcterms:created>
  <dcterms:modified xsi:type="dcterms:W3CDTF">2026-01-22T12:00:53Z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{"Label":"Connector - 下一代企业级路由转发与数据映射平台","ContentProducer":"001191110108MACG2KBH8F10000","ProduceID":"19be56e7-4662-8d15-8000-000032a489f3","ReservedCode1":"","ContentPropagator":"001191110108MACG2KBH8F20000","PropagateID":"19be56e7-4662-8d15-8000-000032a489f3","ReservedCode2":""}</vt:lpwstr>
  </property>
  <property fmtid="{D5CDD505-2E9C-101B-9397-08002B2CF9AE}" pid="3" name="KSOProductBuildVer">
    <vt:lpwstr>2052-12.1.0.24657</vt:lpwstr>
  </property>
  <property fmtid="{D5CDD505-2E9C-101B-9397-08002B2CF9AE}" pid="4" name="ICV">
    <vt:lpwstr>539FC21806CA4C219C63B85E080A4879_12</vt:lpwstr>
  </property>
</Properties>
</file>